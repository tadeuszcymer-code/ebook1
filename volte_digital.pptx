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317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70" r:id="rId29"/>
    <p:sldId id="267" r:id="rId30"/>
    <p:sldId id="268" r:id="rId31"/>
    <p:sldId id="269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283" r:id="rId45"/>
    <p:sldId id="284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17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91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DD23-76CA-383C-618C-4834A6CC1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E2DEC-5C49-4EE1-06DD-4423C3BFA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8451D-0D73-AA0C-D7C8-44C6EF1B0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6D04-98BC-3016-D2C5-06CC89115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8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BCA75-4FBD-E998-A17B-F6CFE205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5EFB9-C32C-DAF2-7A51-2134BB45F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56C372-A9A5-987B-6DD6-3047F0DF7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D2124-2AAC-F5A7-EF74-24F8409C87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509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B2B8E-DAE0-8B2F-75BE-67634FFD8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80936-CC7E-A46D-1CA2-2C005F616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518CB-50ED-2D71-7375-9DC91E145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EACEE-A91B-6CE6-F84E-DE96E303A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77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FCA0C-3F7A-C6E7-6F76-0D2EE756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82F34-1F99-68CC-0A38-023634B5A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EFEFD4-BA66-7EEA-989A-E11F73508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A39E1-CC15-E649-EB01-4F41194361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68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981E-532E-2787-27AD-921114E7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E6ACD-5DDB-C72F-CA04-630C05C29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D1053-FAAC-0694-1FC2-D64AF79A8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61B4C-39CA-F4C9-6445-FA573076E6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0401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280F-FEDF-AF1D-5F76-98887CA0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8235F-0F5D-39CE-FE7B-0E1B067FB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7A724-3591-2742-8D4C-C8D7617A1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0096D-F7D7-CE42-60EB-A733981FF9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2240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3CDC-014F-4630-6562-84EE486F1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C17A7C-3911-2CE0-51D6-DB56C00AB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0D3CA8-A4B9-FCB0-73CB-738A345B6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11397-BD2E-CE1E-7349-E423A7308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4933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D5188-6C69-C252-88AB-1E1FAD2F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EBE83-A8E3-BEA0-7AB4-CA35A912B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4021A8-4545-C662-9A98-ADF4BB0F6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EAA9-EB08-0DC1-C507-4DFE603B5C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9575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A8649-8A58-4AF1-3850-926CCB63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A0949-593E-D92B-D00C-6987F2222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EECB7-C40E-3C27-D017-0804E6995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5A88D-84EB-213C-D2C1-645A439AB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5562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EFAF6-286A-BF79-9E2E-08F0CBCF7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EE1C5D-ECC7-8DF5-FD42-BF2D5D323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575FA5-CAC9-43D8-A324-8499A4707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39677-58E3-4803-D904-E3E77CF0C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93130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48256"/>
            <a:ext cx="4754880" cy="36576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DO SIECI FITNESS – ZDROFIT I INNE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Lodowki | Sampling | POS | Partnerstwo | B2B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ZDROFIT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klubow PL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PLATINIUM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 klubow PL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CALYPSO + INNE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Lokalne sieci regionalne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DLACZEGO SIECI FITNESS?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Idealny kanal dotarcia do TG1 i TG2. Tu jest </a:t>
            </a: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nasz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klient.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Idealna TG1 i TG2 w jednym miejscu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92224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Czlonkowie silowni to dokładnie TG1 (fitness lifestyle, kobiety 25-40) i TG2 (urban achievers, trening po pracy). Koncentracja grupy docelowej – nie musisz ich szukac.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261872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328416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137160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 konsumpcji – natychmiast po treningu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28416" y="1792224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Okno anaboliczne po treningu = najlepszy moment na napoj bialkowy. Klient jest spragnimy, zregenerowany mentalnie i otwarty na napoj funkcjonalny. Timing idealny.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1292459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144768" y="1292459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72784" y="140218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11696" y="1402187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= staly punkt sprzedazy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72784" y="1822811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przy recepcji lub w strefie cardio to 7 dni/tydz., 12h/dzien dostepnosc bez kosztow Allegro ani logistyki D2C. Sprzedaz pasywna dzialajaca 24/7.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63824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256032" y="3163824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84048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27355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Spolecznosc i social proof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694176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Czlonek silowni widzi, ze inni pija Volte. Efekt spoleczny: 'Skoro oni pija – musi byc dobre.' Czlonkowie sieci fitness ufaja produktom widzianym w swoim klubie.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3194411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3200400" y="3194411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328416" y="330413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7328" y="3304139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Influencerzy trenuja tu – content naturalny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3724763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@codziennie_fit, @pilates.z.magda, @silownia_lifestyle trenuja w tych miejscach. Content w sieci fitness = autentyczny. Trainer endorsement bez platnej wspolpracy.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44768" y="3194411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6144768" y="3194411"/>
            <a:ext cx="2816352" cy="5486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6272784" y="330413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11696" y="3304139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sprzedazowe i feedback w realnym czasie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72784" y="3724763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Recepcja podaje ile puszek sprzedano w tygodniu. Bezposredni feedback klientow. A/B test smakow w roznych lokalizacjach. Dane do deck'u dla Zabki.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MAPA SIECI FITNESS – PRIORYTETY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Ktore sieci. Ktore miasta. Jaka kolejnosc.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892937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892937"/>
            <a:ext cx="4242816" cy="32918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947801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956945"/>
            <a:ext cx="122529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00400" y="1956945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2295273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60704" y="2295273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 klubow (Warszawa dominuje – 40+ lokalizacji)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551305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Miasta: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60704" y="2551305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(40+), Krakow (8), Wroclaw (7), Trojmiasto (6), Poznan (5)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807337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60704" y="2807337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Pracownicy korporacyjni, aktywni 25-40. Idealna TG2.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3063369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60704" y="3063369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przy recepcji + sampling card na wejsciu + POS wobbler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3319401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60704" y="3319401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1-2 (M1-M4): negocjacje | Faza 2-3 (M3-M5): pilotaz Warszawa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3575433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Opłata: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060704" y="3575433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 za lodowke: szacowana 200-500 zl/mies./klub | Rev-share lub fixed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7472" y="3557145"/>
            <a:ext cx="4059936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84048" y="3593721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Sprzedaz min. 2-3 szt/dzien/klub | Rotacja stanu &lt; 3 dni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81728" y="1892937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681728" y="1892937"/>
            <a:ext cx="4242816" cy="32918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791456" y="1947801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PLATINIUM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26096" y="1956945"/>
            <a:ext cx="122529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7626096" y="1956945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#2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791456" y="2295273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86400" y="2295273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 klubow ogolnopolskich – największa siec w PL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91456" y="2551305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Miasta: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86400" y="2551305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miast PL, w tym Warszawa, Katowice, Lodz, Bydgoszcz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456" y="2807337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86400" y="2807337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Szeroka TG – TG1 kobiety + TG2 mezczyzni. Srednia polka cenowa.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91456" y="3063369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486400" y="3063369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Vending machine lub polka suplementow + sampling weekend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91456" y="3319401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486400" y="3319401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 (M5-M6): po sukcesie pilotazu Zdrofit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91456" y="3575433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Opłata: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486400" y="3575433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Prowizja 15-20% od sprzedazy lub fixed monthly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73168" y="3557145"/>
            <a:ext cx="4059936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4809744" y="3593721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Sprzedaz min. 1,5 szt/dzien/klub | Testy 2 smakow rownolegle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690B6-9BA1-B9BD-F3F4-170C898C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4EEB501-8BCA-DAE9-9D8F-CEA1B4CE7C42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MAPA SIECI FITNESS – PRIORYTETY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6FD0817-3E38-DA3B-A598-968FF567A39D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Ktore sieci. Ktore miasta. Jaka kolejnosc.</a:t>
            </a:r>
            <a:endParaRPr lang="en-US" sz="25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C9396CFE-B7DB-E0C9-50C5-ED8368A04B83}"/>
              </a:ext>
            </a:extLst>
          </p:cNvPr>
          <p:cNvSpPr/>
          <p:nvPr/>
        </p:nvSpPr>
        <p:spPr>
          <a:xfrm>
            <a:off x="256032" y="2242566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5A791023-CF30-8D9A-DBDE-3E1AF1FF44F4}"/>
              </a:ext>
            </a:extLst>
          </p:cNvPr>
          <p:cNvSpPr/>
          <p:nvPr/>
        </p:nvSpPr>
        <p:spPr>
          <a:xfrm>
            <a:off x="256032" y="2242566"/>
            <a:ext cx="4242816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F67D258-0466-E9C8-5BEA-A603FAB15003}"/>
              </a:ext>
            </a:extLst>
          </p:cNvPr>
          <p:cNvSpPr/>
          <p:nvPr/>
        </p:nvSpPr>
        <p:spPr>
          <a:xfrm>
            <a:off x="365760" y="229743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CALYPSO FITNESS</a:t>
            </a:r>
            <a:endParaRPr lang="en-US" sz="11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7C6517C-F0B9-ACEF-B7E0-CCF45104AD6C}"/>
              </a:ext>
            </a:extLst>
          </p:cNvPr>
          <p:cNvSpPr/>
          <p:nvPr/>
        </p:nvSpPr>
        <p:spPr>
          <a:xfrm>
            <a:off x="3200400" y="2306574"/>
            <a:ext cx="122529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6B86CCC-330A-D100-421A-C0A2E64FB65E}"/>
              </a:ext>
            </a:extLst>
          </p:cNvPr>
          <p:cNvSpPr/>
          <p:nvPr/>
        </p:nvSpPr>
        <p:spPr>
          <a:xfrm>
            <a:off x="3200400" y="2306574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#3</a:t>
            </a:r>
            <a:endParaRPr lang="en-US" sz="7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8155C1CA-4210-7834-7C0B-E18608B23406}"/>
              </a:ext>
            </a:extLst>
          </p:cNvPr>
          <p:cNvSpPr/>
          <p:nvPr/>
        </p:nvSpPr>
        <p:spPr>
          <a:xfrm>
            <a:off x="365760" y="2644902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Kluby:</a:t>
            </a:r>
            <a:endParaRPr lang="en-US" sz="7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5B02E41F-2247-8DDF-1896-9483D0E53B89}"/>
              </a:ext>
            </a:extLst>
          </p:cNvPr>
          <p:cNvSpPr/>
          <p:nvPr/>
        </p:nvSpPr>
        <p:spPr>
          <a:xfrm>
            <a:off x="1060704" y="264490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klubow, glownie Warszawa i aglomeracje</a:t>
            </a:r>
            <a:endParaRPr lang="en-US" sz="7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C7F37E5-8533-A99B-EB50-8D085CB43C96}"/>
              </a:ext>
            </a:extLst>
          </p:cNvPr>
          <p:cNvSpPr/>
          <p:nvPr/>
        </p:nvSpPr>
        <p:spPr>
          <a:xfrm>
            <a:off x="365760" y="2900934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Miasta:</a:t>
            </a:r>
            <a:endParaRPr lang="en-US" sz="7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2E907BF2-E7DA-EF62-1746-3DD22324788E}"/>
              </a:ext>
            </a:extLst>
          </p:cNvPr>
          <p:cNvSpPr/>
          <p:nvPr/>
        </p:nvSpPr>
        <p:spPr>
          <a:xfrm>
            <a:off x="1060704" y="2900934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(~25 lokalizacji), Krakow, Wroclaw</a:t>
            </a:r>
            <a:endParaRPr lang="en-US" sz="7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90A5D47-6764-3674-F5B4-C79C51F1731F}"/>
              </a:ext>
            </a:extLst>
          </p:cNvPr>
          <p:cNvSpPr/>
          <p:nvPr/>
        </p:nvSpPr>
        <p:spPr>
          <a:xfrm>
            <a:off x="365760" y="3156966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TG:</a:t>
            </a:r>
            <a:endParaRPr lang="en-US" sz="70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C51C799-993F-DD9D-D5CB-42934B7149E7}"/>
              </a:ext>
            </a:extLst>
          </p:cNvPr>
          <p:cNvSpPr/>
          <p:nvPr/>
        </p:nvSpPr>
        <p:spPr>
          <a:xfrm>
            <a:off x="1060704" y="3156966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Kobiety 25-45, fitness lifestyle. TG1 priorytetowa.</a:t>
            </a:r>
            <a:endParaRPr lang="en-US" sz="7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793AEC5-9083-212C-2A31-8D504DD9DE18}"/>
              </a:ext>
            </a:extLst>
          </p:cNvPr>
          <p:cNvSpPr/>
          <p:nvPr/>
        </p:nvSpPr>
        <p:spPr>
          <a:xfrm>
            <a:off x="365760" y="3412998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58B352DA-29D4-594F-5416-3CC0E6ECA824}"/>
              </a:ext>
            </a:extLst>
          </p:cNvPr>
          <p:cNvSpPr/>
          <p:nvPr/>
        </p:nvSpPr>
        <p:spPr>
          <a:xfrm>
            <a:off x="1060704" y="3412998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/ polka w strefie ladowkowej + dedykowany kolaner Volte</a:t>
            </a:r>
            <a:endParaRPr lang="en-US" sz="750" dirty="0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B66630E-4F18-F437-C4DC-4EFBC6F107F8}"/>
              </a:ext>
            </a:extLst>
          </p:cNvPr>
          <p:cNvSpPr/>
          <p:nvPr/>
        </p:nvSpPr>
        <p:spPr>
          <a:xfrm>
            <a:off x="365760" y="3669030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</a:t>
            </a:r>
            <a:endParaRPr lang="en-US" sz="7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5275EC9E-D3C2-CE86-585E-3E7621D94109}"/>
              </a:ext>
            </a:extLst>
          </p:cNvPr>
          <p:cNvSpPr/>
          <p:nvPr/>
        </p:nvSpPr>
        <p:spPr>
          <a:xfrm>
            <a:off x="1060704" y="366903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3-4 (M6-M8)</a:t>
            </a:r>
            <a:endParaRPr lang="en-US" sz="75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0FF4E02B-2122-D340-6A39-4BBCE4A87104}"/>
              </a:ext>
            </a:extLst>
          </p:cNvPr>
          <p:cNvSpPr/>
          <p:nvPr/>
        </p:nvSpPr>
        <p:spPr>
          <a:xfrm>
            <a:off x="365760" y="3925062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Opłata:</a:t>
            </a:r>
            <a:endParaRPr lang="en-US" sz="7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84E8714-AEF1-2EFE-3FE4-558AEE5659EC}"/>
              </a:ext>
            </a:extLst>
          </p:cNvPr>
          <p:cNvSpPr/>
          <p:nvPr/>
        </p:nvSpPr>
        <p:spPr>
          <a:xfrm>
            <a:off x="1060704" y="392506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fee lub Rev-share</a:t>
            </a:r>
            <a:endParaRPr lang="en-US" sz="750" dirty="0"/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7235B231-68B8-AB91-D371-3E0A673144C4}"/>
              </a:ext>
            </a:extLst>
          </p:cNvPr>
          <p:cNvSpPr/>
          <p:nvPr/>
        </p:nvSpPr>
        <p:spPr>
          <a:xfrm>
            <a:off x="347472" y="3906774"/>
            <a:ext cx="4059936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716083C9-5EE5-4D2D-AB5B-8FB2F0BAFD7A}"/>
              </a:ext>
            </a:extLst>
          </p:cNvPr>
          <p:cNvSpPr/>
          <p:nvPr/>
        </p:nvSpPr>
        <p:spPr>
          <a:xfrm>
            <a:off x="384048" y="394335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ER zakupow wsrod czlonkow &gt;5%</a:t>
            </a:r>
            <a:endParaRPr lang="en-US" sz="75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CE67657F-E0A1-F297-14C9-89D932BAB6A0}"/>
              </a:ext>
            </a:extLst>
          </p:cNvPr>
          <p:cNvSpPr/>
          <p:nvPr/>
        </p:nvSpPr>
        <p:spPr>
          <a:xfrm>
            <a:off x="4681728" y="2242566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0B1F66BD-1602-59F3-E696-FC03F4E00A80}"/>
              </a:ext>
            </a:extLst>
          </p:cNvPr>
          <p:cNvSpPr/>
          <p:nvPr/>
        </p:nvSpPr>
        <p:spPr>
          <a:xfrm>
            <a:off x="4681728" y="2242566"/>
            <a:ext cx="4242816" cy="329184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ECBD2269-1221-4241-0BFE-1CDEF18C800B}"/>
              </a:ext>
            </a:extLst>
          </p:cNvPr>
          <p:cNvSpPr/>
          <p:nvPr/>
        </p:nvSpPr>
        <p:spPr>
          <a:xfrm>
            <a:off x="4791456" y="229743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LOKALNE SIECI</a:t>
            </a:r>
            <a:endParaRPr lang="en-US" sz="11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(WRO, KRK, GDA, POZ)</a:t>
            </a:r>
            <a:endParaRPr lang="en-US" sz="11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3C5B5AFF-9E86-5D99-A343-AEEA6E2EAB13}"/>
              </a:ext>
            </a:extLst>
          </p:cNvPr>
          <p:cNvSpPr/>
          <p:nvPr/>
        </p:nvSpPr>
        <p:spPr>
          <a:xfrm>
            <a:off x="7626096" y="2306574"/>
            <a:ext cx="122529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7850C3F-B58B-62C0-85F4-899BD9344A9C}"/>
              </a:ext>
            </a:extLst>
          </p:cNvPr>
          <p:cNvSpPr/>
          <p:nvPr/>
        </p:nvSpPr>
        <p:spPr>
          <a:xfrm>
            <a:off x="7626096" y="2306574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#4</a:t>
            </a:r>
            <a:endParaRPr lang="en-US" sz="700" dirty="0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B0F61A8A-EF8E-32A3-8FFA-C18F20C4ABF8}"/>
              </a:ext>
            </a:extLst>
          </p:cNvPr>
          <p:cNvSpPr/>
          <p:nvPr/>
        </p:nvSpPr>
        <p:spPr>
          <a:xfrm>
            <a:off x="4791456" y="2644902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Kluby:</a:t>
            </a:r>
            <a:endParaRPr lang="en-US" sz="7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12907443-EC6C-E1B1-6879-FC2089ACE298}"/>
              </a:ext>
            </a:extLst>
          </p:cNvPr>
          <p:cNvSpPr/>
          <p:nvPr/>
        </p:nvSpPr>
        <p:spPr>
          <a:xfrm>
            <a:off x="5486400" y="264490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Lokalne sieci 3-15 klubow: Fabryka Formy (WRO), Aqua (GDA), MCfit</a:t>
            </a:r>
            <a:endParaRPr lang="en-US" sz="7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DB1959FB-6E63-8102-0508-44A2CD8D3872}"/>
              </a:ext>
            </a:extLst>
          </p:cNvPr>
          <p:cNvSpPr/>
          <p:nvPr/>
        </p:nvSpPr>
        <p:spPr>
          <a:xfrm>
            <a:off x="4791456" y="2900934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Miasta:</a:t>
            </a:r>
            <a:endParaRPr lang="en-US" sz="7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858634A2-6FEB-5703-C295-69F444859124}"/>
              </a:ext>
            </a:extLst>
          </p:cNvPr>
          <p:cNvSpPr/>
          <p:nvPr/>
        </p:nvSpPr>
        <p:spPr>
          <a:xfrm>
            <a:off x="5486400" y="2900934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Wroclaw, Krakow, Trojmiasto, Poznan – po pilotazu ogolnopolskim</a:t>
            </a:r>
            <a:endParaRPr lang="en-US" sz="75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3C6034C6-365D-09EF-10BD-F9E327579087}"/>
              </a:ext>
            </a:extLst>
          </p:cNvPr>
          <p:cNvSpPr/>
          <p:nvPr/>
        </p:nvSpPr>
        <p:spPr>
          <a:xfrm>
            <a:off x="4791456" y="3156966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TG:</a:t>
            </a:r>
            <a:endParaRPr lang="en-US" sz="7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80FDDC6A-9197-66CF-CCBC-73823B7A234B}"/>
              </a:ext>
            </a:extLst>
          </p:cNvPr>
          <p:cNvSpPr/>
          <p:nvPr/>
        </p:nvSpPr>
        <p:spPr>
          <a:xfrm>
            <a:off x="5486400" y="3156966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TG1+TG2. Wieksza lokalnosc = latwiejsze negocjacje.</a:t>
            </a:r>
            <a:endParaRPr lang="en-US" sz="75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3DA0FC6B-9AD7-C619-BF2B-3108FD88548A}"/>
              </a:ext>
            </a:extLst>
          </p:cNvPr>
          <p:cNvSpPr/>
          <p:nvPr/>
        </p:nvSpPr>
        <p:spPr>
          <a:xfrm>
            <a:off x="4791456" y="3412998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63DE2CCC-5AAA-233C-3867-1213D5C02627}"/>
              </a:ext>
            </a:extLst>
          </p:cNvPr>
          <p:cNvSpPr/>
          <p:nvPr/>
        </p:nvSpPr>
        <p:spPr>
          <a:xfrm>
            <a:off x="5486400" y="3412998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Bezposrednia sprzedaz przez managera klubu + barter z trenerem</a:t>
            </a:r>
            <a:endParaRPr lang="en-US" sz="75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8332872D-C07D-FF48-F4A8-2004454ED865}"/>
              </a:ext>
            </a:extLst>
          </p:cNvPr>
          <p:cNvSpPr/>
          <p:nvPr/>
        </p:nvSpPr>
        <p:spPr>
          <a:xfrm>
            <a:off x="4791456" y="3669030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</a:t>
            </a:r>
            <a:endParaRPr lang="en-US" sz="7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D4B00632-BACE-A5DE-D49A-F20016E407F2}"/>
              </a:ext>
            </a:extLst>
          </p:cNvPr>
          <p:cNvSpPr/>
          <p:nvPr/>
        </p:nvSpPr>
        <p:spPr>
          <a:xfrm>
            <a:off x="5486400" y="3669030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(M7-M9)</a:t>
            </a:r>
            <a:endParaRPr lang="en-US" sz="750" dirty="0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FC29E8B8-327F-9D59-2AF7-7E0B3965177F}"/>
              </a:ext>
            </a:extLst>
          </p:cNvPr>
          <p:cNvSpPr/>
          <p:nvPr/>
        </p:nvSpPr>
        <p:spPr>
          <a:xfrm>
            <a:off x="4791456" y="3925062"/>
            <a:ext cx="65836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Opłata:</a:t>
            </a:r>
            <a:endParaRPr lang="en-US" sz="700" dirty="0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086FD059-ADD2-7D52-D46A-F0A2180A780E}"/>
              </a:ext>
            </a:extLst>
          </p:cNvPr>
          <p:cNvSpPr/>
          <p:nvPr/>
        </p:nvSpPr>
        <p:spPr>
          <a:xfrm>
            <a:off x="5486400" y="3925062"/>
            <a:ext cx="334670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Rownopodzial: 50% marka / 50% klub od ceny sprzedazy</a:t>
            </a:r>
            <a:endParaRPr lang="en-US" sz="75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0AE4D45F-A750-C34D-2F82-83AAC077BF60}"/>
              </a:ext>
            </a:extLst>
          </p:cNvPr>
          <p:cNvSpPr/>
          <p:nvPr/>
        </p:nvSpPr>
        <p:spPr>
          <a:xfrm>
            <a:off x="4773168" y="3906774"/>
            <a:ext cx="4059936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768D8668-D324-344B-3468-F31AC74FB10A}"/>
              </a:ext>
            </a:extLst>
          </p:cNvPr>
          <p:cNvSpPr/>
          <p:nvPr/>
        </p:nvSpPr>
        <p:spPr>
          <a:xfrm>
            <a:off x="4809744" y="3943350"/>
            <a:ext cx="3931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Budowanie bazy danych lokal. – dane do pitch'u krajowego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39534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OFERTA HANDLOWA – CO PROPONUJEMY SIECI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Trzy modele wejscia. </a:t>
            </a: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Kazdy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dopasowany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wielkosci sieci.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133698"/>
            <a:ext cx="2834640" cy="351129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133698"/>
            <a:ext cx="2834640" cy="347472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17027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VOLTE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54322"/>
            <a:ext cx="2633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Dla: Zdrofit, Calypso, lokalne sieci premium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73720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Dedykowana lodowka Volte ustawiona przy recepcji lub strefie cardio. Pelne brandowanie, staly stan.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2029810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ZAPEWNIA: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2194087"/>
            <a:ext cx="2633472" cy="10009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(wynajem lub sprzedaz Volte)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Pelen stan: 48-72 puszek na start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POS: naklejki na lodowce, wobbler, shelf talker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Uzupelnianie stanu 1-2× w tygodniu przez Volte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3241705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 ZAPEWNIA: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3501994"/>
            <a:ext cx="2633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Powierzchnia ~0,5m2 przy recepcji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Prad dla lodowki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Polecanie przez recepcje (skrypt 1 zdanie)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sprzedazowe co tydzien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9184" y="4393692"/>
            <a:ext cx="2670048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65760" y="443026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Cena sprzedazy: 12,99 zl/szt. | Marza klub: 25% = 3,25 zl/szt.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9184" y="4668012"/>
            <a:ext cx="2670048" cy="237744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65760" y="4704588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Min. 2 szt/dzien/klub | Rotacja &lt;3 dni | NPS recepji &gt;4/5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0" y="1133698"/>
            <a:ext cx="2834640" cy="3749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200400" y="1133698"/>
            <a:ext cx="2834640" cy="34747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310128" y="117027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POLKA / DISPLAY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0128" y="1472026"/>
            <a:ext cx="26334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Dla: Fitness Platinium, wieksze sieci z wlasnym sklepem suplementow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10128" y="1737202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Wyeksponowana polka lub display stand Volte w strefie sprzedazy suplementow lub szatni.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2029810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ZAPEWNIA: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10128" y="2185258"/>
            <a:ext cx="263347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stand kartonowy (projekt + druk Volte)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Poczatkowy stan: 24-36 puszek + refresh co tydzien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Materialy POS: kolaner + naklejka podlogowa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Szkolenie recepcji: 30 min (skrypt + degustacja)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10128" y="3476927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 ZAPEWNIA: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10128" y="3559065"/>
            <a:ext cx="263347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Przestrzen 0,3m2 przy polce suplementow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Wlaczenie do systemu kasowego (EAN)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Mozliwosc cross-sell przez trenerow personalnych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4370674"/>
            <a:ext cx="2670048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346704" y="4407250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Cena hurtowa dla klubu: 9,50 zl/szt. | Sprzedaz: 12,99 zl | Marza: 27%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10128" y="4644994"/>
            <a:ext cx="2670048" cy="23774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346704" y="4681570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Sprzedaz min. 1,5 szt/dzien | Reorder w ciagu 5 dni od wyczerpania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144768" y="1133698"/>
            <a:ext cx="2834640" cy="37490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6144768" y="1133698"/>
            <a:ext cx="2834640" cy="34747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254496" y="117027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REV-SHARE PARTNERSTWO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1554322"/>
            <a:ext cx="26334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Dla: Lokalne sieci i pojedyncze kluby bez własnego systemu B2B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54496" y="1941838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Uproszczone partnerstwo: Volte zostawia puszki w komisie (konsygnacja). Klub dostaje prowizje od kazdej sprzedanej sztuki.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54496" y="2346380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ZAPEWNIA: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236208" y="2636782"/>
            <a:ext cx="263347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Dostawa puszek na konsygnacje (20-30 szt. start)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Materialy POS w zestawie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 zborcza miesiecznie za sprzedane sztuki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45352" y="3392266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 ZAPEWNIA: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54496" y="3518706"/>
            <a:ext cx="2633472" cy="8708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ryzyka finansowego – placi tylko za sprzedane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Prowizja: 3 zl/sprzedana puszka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Flexbilny model – latwy start bez przetargu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17920" y="4370674"/>
            <a:ext cx="2670048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6254496" y="4407250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Rev: Prowizja klub: 3 zl/szt. (23%) | Rotacja mierzona przez Volte co tydzien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17920" y="4644994"/>
            <a:ext cx="2670048" cy="23774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6254496" y="4681570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Min. 10 szt/tydzien na klub | Test 4 tygodnie – decyzja o scaling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PITCH ZDROFIT – AGENDA SPOTKANIA B2B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90068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wyglada spotkanie z managerem sieci. 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Slajd</a:t>
            </a: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 slajdzie.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9979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997964"/>
            <a:ext cx="4242816" cy="310896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3657600" y="20436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657600" y="20436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0:00–2:00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20528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BREAKER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3820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'Wiemy, ze Zdrofit stawia na nowoczesny styl zycia czlonkow. Mamy produkt, ktory tego szuka.' Pokazujesz puszke Volte. Dajesz do reki. Milczysz 10 sekund.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81728" y="19979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4681728" y="1997964"/>
            <a:ext cx="4242816" cy="31089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8083296" y="20436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8083296" y="20436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2:00–5:00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791456" y="20528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RYNKOWY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91456" y="23820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'Czlonkowie Zdrofit chca bialka – ale nie chca gestego shake'a. Freeway z Lidla to za slabo premium. MyProtein = internet. Brakuje premium natural w lodowce po treningu.'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9979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56032" y="1997964"/>
            <a:ext cx="4242816" cy="31089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657600" y="20436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657600" y="20436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5:00–10:00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20528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 VOLTE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3820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 bialka, 0 cukru, naturalne slodziki, lekki gaz. Izolat z UE. Status suplementu. Puszka 330ml. Smaki: Lemon-Lime i Grapefruit. Dajesz druga puszke. Wspomniasz Zabke.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33695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4681728" y="3369564"/>
            <a:ext cx="4242816" cy="310896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8083296" y="34152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8083296" y="34152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10:00–18:00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791456" y="34244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PROPOZYCJA HANDLOWA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91456" y="37536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Pokazujesz deck (slajd 3 tej prez.). Proponujesz Model A lub B. Mowisz o lodowce, o stanie, o uzupelnieniu. Liczby: 3 szt/dzien × 12,99 zl × 30 dni = 1 169 zl/mies. przychodu dla klubu.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" y="33695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256032" y="3369564"/>
            <a:ext cx="4242816" cy="310896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3657600" y="34152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657600" y="34152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18:00–22:00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65760" y="34244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 – PROPOZYCJA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37536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'Proponujemy 4-tygodniowy pilotaz w 3 Waszych klubach w Warszawie. Zero opłaty wstepnej. Lodowka od nas. Jezeli sell-out &gt;2 szt/dzien – rozszerzamy na cala siec.'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81728" y="3369564"/>
            <a:ext cx="4242816" cy="1261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4681728" y="3369564"/>
            <a:ext cx="4242816" cy="31089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8083296" y="3415284"/>
            <a:ext cx="768096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8083296" y="3415284"/>
            <a:ext cx="7680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22:00–25:00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791456" y="3424428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+ NEXT STEP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91456" y="3753612"/>
            <a:ext cx="4005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Pytania managera. Twoj next step: 'Przesle umowe pilotazowa do konca tygodnia. Mozemy zaczac za 3 tygodnie. Potrzebuje tylko email do managera 3 wybranych klubow.'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 BUDZET – SIECI FITNESS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od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pierwszego</a:t>
            </a: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maila do pelnego rollout'u.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403411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03411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08083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208083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12755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012755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17427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817427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2099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622099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26771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426771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1443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231443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36115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036115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40787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840787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554480"/>
            <a:ext cx="1083371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20040" y="19019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ZDROFIT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403411" y="157276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1403411" y="1591055"/>
            <a:ext cx="1425247" cy="201169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439986" y="1591056"/>
            <a:ext cx="1790323" cy="219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+ kontakt LinkedIn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403411" y="186537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2208083" y="1883663"/>
            <a:ext cx="1381152" cy="164591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2244658" y="1883664"/>
            <a:ext cx="2079513" cy="173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Spotkanie B2B – propozycja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403411" y="215798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3012755" y="2176271"/>
            <a:ext cx="1311417" cy="191939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2994467" y="2185331"/>
            <a:ext cx="236718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Podpisanie umowy pilotazowej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256032" y="2505456"/>
            <a:ext cx="1083371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20040" y="28529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ZDROFIT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403411" y="252374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3012755" y="2542032"/>
            <a:ext cx="1554480" cy="20116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3049331" y="2542032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 3 kluby Warszawa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403411" y="281635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/>
          <p:cNvSpPr/>
          <p:nvPr/>
        </p:nvSpPr>
        <p:spPr>
          <a:xfrm>
            <a:off x="4622099" y="2834640"/>
            <a:ext cx="749808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4658675" y="283464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sell-out + decyzja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403411" y="310896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Shape 40"/>
          <p:cNvSpPr/>
          <p:nvPr/>
        </p:nvSpPr>
        <p:spPr>
          <a:xfrm>
            <a:off x="5426771" y="3127248"/>
            <a:ext cx="3163824" cy="20116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5463347" y="3127248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20+ klubow WAW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56032" y="3456432"/>
            <a:ext cx="1083371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320040" y="38039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PLATINIUM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403411" y="347472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/>
          <p:cNvSpPr/>
          <p:nvPr/>
        </p:nvSpPr>
        <p:spPr>
          <a:xfrm>
            <a:off x="3817427" y="3493008"/>
            <a:ext cx="1554480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854003" y="349300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+ negocjacje FP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403411" y="376732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/>
          <p:cNvSpPr/>
          <p:nvPr/>
        </p:nvSpPr>
        <p:spPr>
          <a:xfrm>
            <a:off x="5426771" y="3785616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5463347" y="3785616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 FP 5 klubow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403411" y="405993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Shape 51"/>
          <p:cNvSpPr/>
          <p:nvPr/>
        </p:nvSpPr>
        <p:spPr>
          <a:xfrm>
            <a:off x="7036115" y="4078224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7072691" y="407822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FP ogolnopolski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0E0B4-673F-53D7-8B73-B5039727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A9BE5B-18DE-7D82-6E25-6068E1004EA2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 BUDZET – SIECI FITNESS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6F86EAF-F0F8-CD8E-5873-208E8EBAC1AA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od </a:t>
            </a: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pierwszego</a:t>
            </a: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maila do pelnego rollout'u.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9E23D1A-3121-7BC7-1011-D9C4005FC585}"/>
              </a:ext>
            </a:extLst>
          </p:cNvPr>
          <p:cNvSpPr/>
          <p:nvPr/>
        </p:nvSpPr>
        <p:spPr>
          <a:xfrm>
            <a:off x="1403411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83022A-B0D0-6A4A-1C50-55622F9584A6}"/>
              </a:ext>
            </a:extLst>
          </p:cNvPr>
          <p:cNvSpPr/>
          <p:nvPr/>
        </p:nvSpPr>
        <p:spPr>
          <a:xfrm>
            <a:off x="1403411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F60110E-4F52-9110-1A75-D9DA83EB2066}"/>
              </a:ext>
            </a:extLst>
          </p:cNvPr>
          <p:cNvSpPr/>
          <p:nvPr/>
        </p:nvSpPr>
        <p:spPr>
          <a:xfrm>
            <a:off x="2208083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98694C-38AE-FB97-6B90-9B136BA145BC}"/>
              </a:ext>
            </a:extLst>
          </p:cNvPr>
          <p:cNvSpPr/>
          <p:nvPr/>
        </p:nvSpPr>
        <p:spPr>
          <a:xfrm>
            <a:off x="2208083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176A1B-BB4E-A339-9C42-EE8F15D6778F}"/>
              </a:ext>
            </a:extLst>
          </p:cNvPr>
          <p:cNvSpPr/>
          <p:nvPr/>
        </p:nvSpPr>
        <p:spPr>
          <a:xfrm>
            <a:off x="3012755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118F805-73E7-D7D5-6AE5-47EF7EB45977}"/>
              </a:ext>
            </a:extLst>
          </p:cNvPr>
          <p:cNvSpPr/>
          <p:nvPr/>
        </p:nvSpPr>
        <p:spPr>
          <a:xfrm>
            <a:off x="3012755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062B3A8-A384-5CF3-3FB7-C036689BEAAB}"/>
              </a:ext>
            </a:extLst>
          </p:cNvPr>
          <p:cNvSpPr/>
          <p:nvPr/>
        </p:nvSpPr>
        <p:spPr>
          <a:xfrm>
            <a:off x="3817427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06CE37-22E0-FC67-333D-AFCEDB5B0A87}"/>
              </a:ext>
            </a:extLst>
          </p:cNvPr>
          <p:cNvSpPr/>
          <p:nvPr/>
        </p:nvSpPr>
        <p:spPr>
          <a:xfrm>
            <a:off x="3817427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4CA17E6-1484-5FE4-F480-074223561559}"/>
              </a:ext>
            </a:extLst>
          </p:cNvPr>
          <p:cNvSpPr/>
          <p:nvPr/>
        </p:nvSpPr>
        <p:spPr>
          <a:xfrm>
            <a:off x="4622099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8E0665F-40EB-70F9-B258-28D335AF5F38}"/>
              </a:ext>
            </a:extLst>
          </p:cNvPr>
          <p:cNvSpPr/>
          <p:nvPr/>
        </p:nvSpPr>
        <p:spPr>
          <a:xfrm>
            <a:off x="4622099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54D81DA-08BF-32CA-DFBA-96285A6EE5BE}"/>
              </a:ext>
            </a:extLst>
          </p:cNvPr>
          <p:cNvSpPr/>
          <p:nvPr/>
        </p:nvSpPr>
        <p:spPr>
          <a:xfrm>
            <a:off x="5426771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CF95C95-A9DF-0D5D-FB49-2D757EB5F8E1}"/>
              </a:ext>
            </a:extLst>
          </p:cNvPr>
          <p:cNvSpPr/>
          <p:nvPr/>
        </p:nvSpPr>
        <p:spPr>
          <a:xfrm>
            <a:off x="5426771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796BBC6-9E4E-863B-E08E-1B4313706B11}"/>
              </a:ext>
            </a:extLst>
          </p:cNvPr>
          <p:cNvSpPr/>
          <p:nvPr/>
        </p:nvSpPr>
        <p:spPr>
          <a:xfrm>
            <a:off x="6231443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8B411E-BD53-1D4E-4C75-DEA5AA7B0FDE}"/>
              </a:ext>
            </a:extLst>
          </p:cNvPr>
          <p:cNvSpPr/>
          <p:nvPr/>
        </p:nvSpPr>
        <p:spPr>
          <a:xfrm>
            <a:off x="6231443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5409735-FCCB-F99F-9A1C-E73C46CAECA9}"/>
              </a:ext>
            </a:extLst>
          </p:cNvPr>
          <p:cNvSpPr/>
          <p:nvPr/>
        </p:nvSpPr>
        <p:spPr>
          <a:xfrm>
            <a:off x="7036115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1BED1CE-27E6-0F09-FB73-20A7A1E9018D}"/>
              </a:ext>
            </a:extLst>
          </p:cNvPr>
          <p:cNvSpPr/>
          <p:nvPr/>
        </p:nvSpPr>
        <p:spPr>
          <a:xfrm>
            <a:off x="7036115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1AFB35E-C026-2D5B-1592-075D00D44117}"/>
              </a:ext>
            </a:extLst>
          </p:cNvPr>
          <p:cNvSpPr/>
          <p:nvPr/>
        </p:nvSpPr>
        <p:spPr>
          <a:xfrm>
            <a:off x="7840787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C1B91B8-F5BF-EE8B-5D99-50470155DC4A}"/>
              </a:ext>
            </a:extLst>
          </p:cNvPr>
          <p:cNvSpPr/>
          <p:nvPr/>
        </p:nvSpPr>
        <p:spPr>
          <a:xfrm>
            <a:off x="7840787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B75F2632-FF47-6376-F16A-4B173AEE59FA}"/>
              </a:ext>
            </a:extLst>
          </p:cNvPr>
          <p:cNvSpPr/>
          <p:nvPr/>
        </p:nvSpPr>
        <p:spPr>
          <a:xfrm>
            <a:off x="256032" y="1595628"/>
            <a:ext cx="1083371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C0EDF0A-DEB2-790D-9D1B-80FB3A0533E8}"/>
              </a:ext>
            </a:extLst>
          </p:cNvPr>
          <p:cNvSpPr/>
          <p:nvPr/>
        </p:nvSpPr>
        <p:spPr>
          <a:xfrm>
            <a:off x="320040" y="19431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CALYPSO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INNE</a:t>
            </a:r>
            <a:endParaRPr lang="en-US" sz="7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8654DDCC-2211-BC98-580F-D23ADE4A7753}"/>
              </a:ext>
            </a:extLst>
          </p:cNvPr>
          <p:cNvSpPr/>
          <p:nvPr/>
        </p:nvSpPr>
        <p:spPr>
          <a:xfrm>
            <a:off x="1403411" y="161391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9F231C1-0307-8F7B-A3E8-D44916B04197}"/>
              </a:ext>
            </a:extLst>
          </p:cNvPr>
          <p:cNvSpPr/>
          <p:nvPr/>
        </p:nvSpPr>
        <p:spPr>
          <a:xfrm>
            <a:off x="4622099" y="1632204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13E855B4-0B5B-6F83-CFCF-A48277547480}"/>
              </a:ext>
            </a:extLst>
          </p:cNvPr>
          <p:cNvSpPr/>
          <p:nvPr/>
        </p:nvSpPr>
        <p:spPr>
          <a:xfrm>
            <a:off x="4658675" y="163220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Calypso + lokalne</a:t>
            </a:r>
            <a:endParaRPr lang="en-US" sz="6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026D3CC-7B31-8424-7BB1-4DBF8BD63D80}"/>
              </a:ext>
            </a:extLst>
          </p:cNvPr>
          <p:cNvSpPr/>
          <p:nvPr/>
        </p:nvSpPr>
        <p:spPr>
          <a:xfrm>
            <a:off x="1403411" y="190652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40BEA90A-4915-0159-9ECC-5992A55BB550}"/>
              </a:ext>
            </a:extLst>
          </p:cNvPr>
          <p:cNvSpPr/>
          <p:nvPr/>
        </p:nvSpPr>
        <p:spPr>
          <a:xfrm>
            <a:off x="6231443" y="1924812"/>
            <a:ext cx="1554480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3FC5B97-9516-4ECB-043A-2C2743BE81B0}"/>
              </a:ext>
            </a:extLst>
          </p:cNvPr>
          <p:cNvSpPr/>
          <p:nvPr/>
        </p:nvSpPr>
        <p:spPr>
          <a:xfrm>
            <a:off x="6268019" y="1924812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 5 klubow</a:t>
            </a:r>
            <a:endParaRPr lang="en-US" sz="6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190E60E-2ED5-D7E6-FAA1-AE7D71DBD31B}"/>
              </a:ext>
            </a:extLst>
          </p:cNvPr>
          <p:cNvSpPr/>
          <p:nvPr/>
        </p:nvSpPr>
        <p:spPr>
          <a:xfrm>
            <a:off x="1403411" y="219913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51A47DB-B6D0-3FB4-A78D-2513264AE2E2}"/>
              </a:ext>
            </a:extLst>
          </p:cNvPr>
          <p:cNvSpPr/>
          <p:nvPr/>
        </p:nvSpPr>
        <p:spPr>
          <a:xfrm>
            <a:off x="7840787" y="2217420"/>
            <a:ext cx="749808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46EA32AA-A8FC-2672-32E2-F007641D7F1F}"/>
              </a:ext>
            </a:extLst>
          </p:cNvPr>
          <p:cNvSpPr/>
          <p:nvPr/>
        </p:nvSpPr>
        <p:spPr>
          <a:xfrm>
            <a:off x="7877363" y="221742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regionalny</a:t>
            </a:r>
            <a:endParaRPr lang="en-US" sz="6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4ADDA9D4-AF35-433E-3823-C8837BC4861F}"/>
              </a:ext>
            </a:extLst>
          </p:cNvPr>
          <p:cNvSpPr/>
          <p:nvPr/>
        </p:nvSpPr>
        <p:spPr>
          <a:xfrm>
            <a:off x="256032" y="2546604"/>
            <a:ext cx="1083371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116BB3F3-9D16-3A29-7DCD-C6C45D2CEA1F}"/>
              </a:ext>
            </a:extLst>
          </p:cNvPr>
          <p:cNvSpPr/>
          <p:nvPr/>
        </p:nvSpPr>
        <p:spPr>
          <a:xfrm>
            <a:off x="320040" y="289407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OPERACJE</a:t>
            </a:r>
            <a:endParaRPr lang="en-US" sz="7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5E5B8DC4-F357-6B07-E75C-11597A19101B}"/>
              </a:ext>
            </a:extLst>
          </p:cNvPr>
          <p:cNvSpPr/>
          <p:nvPr/>
        </p:nvSpPr>
        <p:spPr>
          <a:xfrm>
            <a:off x="1403411" y="256489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C08618F7-846D-B2BE-A550-661BE55F49CF}"/>
              </a:ext>
            </a:extLst>
          </p:cNvPr>
          <p:cNvSpPr/>
          <p:nvPr/>
        </p:nvSpPr>
        <p:spPr>
          <a:xfrm>
            <a:off x="3012755" y="2583180"/>
            <a:ext cx="5577840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0563EF5B-AC4F-DF7F-2322-43448A0541F0}"/>
              </a:ext>
            </a:extLst>
          </p:cNvPr>
          <p:cNvSpPr/>
          <p:nvPr/>
        </p:nvSpPr>
        <p:spPr>
          <a:xfrm>
            <a:off x="3049331" y="2583180"/>
            <a:ext cx="5541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Logistyka: dostawa i stan</a:t>
            </a:r>
            <a:endParaRPr lang="en-US" sz="65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3A77CE30-8859-D381-4C5B-07F3337F3BF9}"/>
              </a:ext>
            </a:extLst>
          </p:cNvPr>
          <p:cNvSpPr/>
          <p:nvPr/>
        </p:nvSpPr>
        <p:spPr>
          <a:xfrm>
            <a:off x="1403411" y="285750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CA6AE47E-86B3-1818-B5F9-4196DADF282F}"/>
              </a:ext>
            </a:extLst>
          </p:cNvPr>
          <p:cNvSpPr/>
          <p:nvPr/>
        </p:nvSpPr>
        <p:spPr>
          <a:xfrm>
            <a:off x="2208083" y="2875788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525DC19B-D39F-CDDE-D1C5-99624B631EB4}"/>
              </a:ext>
            </a:extLst>
          </p:cNvPr>
          <p:cNvSpPr/>
          <p:nvPr/>
        </p:nvSpPr>
        <p:spPr>
          <a:xfrm>
            <a:off x="2244659" y="287578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produkcja i dostawa</a:t>
            </a:r>
            <a:endParaRPr lang="en-US" sz="65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F99ED0C4-301A-4E6F-DCE4-B4D48DD1EF3E}"/>
              </a:ext>
            </a:extLst>
          </p:cNvPr>
          <p:cNvSpPr/>
          <p:nvPr/>
        </p:nvSpPr>
        <p:spPr>
          <a:xfrm>
            <a:off x="1403411" y="315010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AC08A3E3-F223-822C-DD75-6098A6293C6A}"/>
              </a:ext>
            </a:extLst>
          </p:cNvPr>
          <p:cNvSpPr/>
          <p:nvPr/>
        </p:nvSpPr>
        <p:spPr>
          <a:xfrm>
            <a:off x="3012755" y="3168396"/>
            <a:ext cx="3163824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946E9C49-7A22-BB34-7559-2D8371D2A9A2}"/>
              </a:ext>
            </a:extLst>
          </p:cNvPr>
          <p:cNvSpPr/>
          <p:nvPr/>
        </p:nvSpPr>
        <p:spPr>
          <a:xfrm>
            <a:off x="3049331" y="3168396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Szkolenie recepji (skrypt)</a:t>
            </a:r>
            <a:endParaRPr lang="en-US" sz="65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C36021F5-C726-27BB-87E9-92F69A657594}"/>
              </a:ext>
            </a:extLst>
          </p:cNvPr>
          <p:cNvSpPr/>
          <p:nvPr/>
        </p:nvSpPr>
        <p:spPr>
          <a:xfrm>
            <a:off x="256032" y="3552444"/>
            <a:ext cx="8631936" cy="201168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2560B52-8F70-21F7-75FA-A08E05E21C83}"/>
              </a:ext>
            </a:extLst>
          </p:cNvPr>
          <p:cNvSpPr/>
          <p:nvPr/>
        </p:nvSpPr>
        <p:spPr>
          <a:xfrm>
            <a:off x="347472" y="3589020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SZACOWANY BUDZET: Lodowki (wynajem/zakup): 3 000-8 000 zl | POS materialy: 3 500 zl | Logistyka dostaw: 4 000 zl | Szkolenia: 1 500 zl | RAZEM: ~12 000-17 000 zl</a:t>
            </a:r>
            <a:endParaRPr lang="en-US" sz="75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9EFBBFD8-447B-9B2B-DB38-FB1E51CCF510}"/>
              </a:ext>
            </a:extLst>
          </p:cNvPr>
          <p:cNvSpPr/>
          <p:nvPr/>
        </p:nvSpPr>
        <p:spPr>
          <a:xfrm>
            <a:off x="256032" y="3771900"/>
            <a:ext cx="8631936" cy="20116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3A2725EF-EA35-715D-EB2B-DEF58FA9A220}"/>
              </a:ext>
            </a:extLst>
          </p:cNvPr>
          <p:cNvSpPr/>
          <p:nvPr/>
        </p:nvSpPr>
        <p:spPr>
          <a:xfrm>
            <a:off x="347472" y="3808476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50+ aktywnych punktow sprzedazy w sieciach fitness do M6 | Sprzedaz: min. 2 szt/dzien/punkt = 3 000+ szt/mies. od M6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80096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SKRYPT SPRZEDAZOWY – RECEPCJA / TRENER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mowi personel klubu. Jedno zdanie. Koniec.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8631936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12984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ZASADA: Nie prosimy personelu o dlugi pitch. Prosimy o JEDNO zdanie przy wydawaniu recznika lub klucza do szafki.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572768"/>
            <a:ext cx="2834640" cy="35661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572768"/>
            <a:ext cx="2834640" cy="29260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65760" y="160934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RECEPCJA – przy wejsciu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938528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treningu cardio / silowym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7472" y="2139696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'Po treningu mamy teraz Volte – lekki napoj bialkowy, zero cukru. Naturalne bialko bez mlecznego posmaku. Polecam.'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999232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84048" y="3035808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klient pyta co pic po treningu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7472" y="3200400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84048" y="323697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'Mamy Volte – 10 gram bialka, lekki jak woda. Nie smakuje mlekiem, zero cukru. Kosztuje 12,99 zl.'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4059936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84048" y="4096512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kasie przy kupnie suplementu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7472" y="4261104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84048" y="4297680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'Do tego mamy tez Volte – w puszce, ready to drink. Lemon-Lime lub Grapefruit.'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572768"/>
            <a:ext cx="2834640" cy="35661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3200400" y="1572768"/>
            <a:ext cx="2834640" cy="29260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310128" y="160934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 PERSONALNY – podczas treningu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938528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328416" y="197510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omawianiu diety potreningowej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91840" y="2139696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328416" y="2176272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'Polecam Volte po treningu – mamy to w lodowce. Zero cukru, 10g bialka, lekki gaz. Idealne na pierwsze okno po silowni.'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91840" y="2999232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328416" y="3035808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klient pyta o suplementy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0" y="3200400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328416" y="323697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'Zamiast proszku mozesz zaczac od Volte – gotowe, naturalne, lekkie. Bialko z UE, bez mleka. Sprobuj po dzisiejszym treningu.'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44768" y="1572768"/>
            <a:ext cx="2834640" cy="35661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6144768" y="1572768"/>
            <a:ext cx="2834640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6254496" y="1609344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 GRUPOWY – po zajeciach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36208" y="1938528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272784" y="1975104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zakonczeniu zajec jogi / pilatesu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236208" y="2139696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6272784" y="2176272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'Zostawiam Was – w lodowce macie Volte, jesli chcecie cos lzejszego niz shake. Klarowne, naturalne, polecam.'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236208" y="2999232"/>
            <a:ext cx="2670048" cy="969264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6272784" y="3035808"/>
            <a:ext cx="254203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promowaniu akcji specjalnej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236208" y="3200400"/>
            <a:ext cx="2670048" cy="7132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6272784" y="3236976"/>
            <a:ext cx="25420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'W tym tygodniu Volte -10% – kod YOGA10. Lekki napoj bialkowy, idealny po pilatesie.'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48256"/>
            <a:ext cx="4754880" cy="36576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– STUDIA PILATES, JOGI I KLUBY DLA KOBIET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pilates | Studia jogi | Barre | Dance Fit | Fitness Kobiet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PILATES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Reformer + mat pilates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JOGI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Yoga, hot yoga, vinyasa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059936"/>
            <a:ext cx="2606040" cy="777240"/>
          </a:xfrm>
          <a:prstGeom prst="rect">
            <a:avLst/>
          </a:prstGeom>
          <a:solidFill>
            <a:srgbClr val="111111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14800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&amp; DANCE FIT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80760" y="444398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Taniec, cardio, barre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DLACZEGO STUDIA DLA KOBIET?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Serducho TG1. Tu jest Marta, Ola i Kasia. Wszystkie naraz.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Koncentracja TG1 w jednym miejscu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792224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pilatesu to 90-100% kobiet 25-42 lat. Identyczna profil jak TG1 Volte (joga, pilates, taniec, zdrowy styl zycia). Nie ma lepszego place'u dla marki.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261872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00400" y="1261872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328416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137160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Mentalnosc clean label – naturalne slodziki = TAK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328416" y="1792224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Uzytkowniczki studia pilatesu czytaja sklad. Dla nich stewia + erytrytol = plus, nie minus. Freeway z Lidla = nie. Volte = TAK. Psychografika idealnie zbiezna.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1261872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144768" y="1261872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72784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11696" y="1371600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Silna spolecznosc i word of mouth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72784" y="1792224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 pilatesu to nie silownia. To spolecznosc. Klientki rozmawiaja przed i po zajeciach. 'Wyprobowalam Volte' = informacja, ktora rozprzestrzenia sie na wszystkie klientki studia w tydzien.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163824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256032" y="3163824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84048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327355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Instagram-friendly environment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3694176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Matka z dzieckiem na reformerze, lekka puszkaa Volte na podlodze – idealne zdjecie dla TG1. Studio jest juz estetykcznie premium – Volte pasuje wizualnie bardziej niz izotonki.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3163824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3200400" y="3163824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328416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👩‍🏫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67328" y="327355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 = lider opinii (nano-influencer)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28416" y="3694176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 pilatesu z 15 klientkami x 5 zajec/tydz. = 75 touchpoints tygodniowo przy malym budzecie. Jedna trenerka z barter = wiecej niz reklama za 500 zl.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44768" y="3163824"/>
            <a:ext cx="2816352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6144768" y="3163824"/>
            <a:ext cx="2816352" cy="5486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6272784" y="3273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11696" y="3273552"/>
            <a:ext cx="21396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perception = premium price akceptowalna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72784" y="3694176"/>
            <a:ext cx="257860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Klientka studia pilatesu placi 150-250 zl za 1 zajecia. 12,99 zl za Volte to nic. Segment premium z wyzsza akceptacja ceny niz TG2 i TG3.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MAPA STUDIOW – TYPY I PRZYKLADOWE MIEJSCA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wchodzimy. Jakie studia. Jaka propozycja.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060704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60704"/>
            <a:ext cx="4242816" cy="329184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PILATES REFORMER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73552" y="1124712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73552" y="112471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24128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Klientka reformer placi 150+ zl/sesje. Premium segment. Otwartosc na naturalne produkty 100%.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1773936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Przykl.: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24128" y="1773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Reformer (WAW, KRK, WRO) | Reformer Studio WAW | Moja Pracownia Ruchu | Pilates Lab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2084832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24128" y="2084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Lodowka lub koszyk z lodem przy wejsciu | Sampling pierwsza sesja | Kod -15% dla klientek studia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65760" y="2395728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Trenerka: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024128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Barter: 6 puszek/mies. + kod afiliacyjny dla trenerki | Start: mies. 1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65760" y="2706624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24128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Sprzedaz 1-2 szt/dzien | Trenerka = micro-influencer | ER kodu &gt;15%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681728" y="1060704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81728" y="1060704"/>
            <a:ext cx="4242816" cy="329184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91456" y="11155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STUDIA JOGI (YOGA, VINYASA, HOT YOGA)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99248" y="1124712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7699248" y="112471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9C2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#2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791456" y="1463040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Dlaczego: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449824" y="1463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Jogini = clean label + naturalne = perfect fit. Hot yoga: klientka jest odwodniona po zajeciach – Volte jako nawodnienie + bialko.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91456" y="1773936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Przykl.: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49824" y="1773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Warsaw Yoga (WAW) | Yoga Class (KRK) | Yoga Room (WRO) | Moksha (GDA) | Breath (POZ)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91456" y="2084832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449824" y="2084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Koszyk z puszkami przy recepcji | Barter z instruktorka | Post-class mention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91456" y="2395728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Trenerka: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449824" y="23957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Instruktorka jogi chce produktow naturalnych – barter idealny. Kod YOGA10. IG Stories z puszka.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456" y="2706624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49824" y="27066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kodu &gt;12% | Instruktorka: min. 2 posty/mies. | Sprzedaz min. 0,8 szt/dzien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56032" y="3072384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256032" y="3072384"/>
            <a:ext cx="4242816" cy="32918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365760" y="31272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&amp; DANCE FITNESS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73552" y="3136392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273552" y="313639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#3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365760" y="3474720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Dlaczego: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024128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Zajecia taneczne, barre, zumba – TG1 core. Kobiety 25-38, energiczne, aktywne, social-media-first. Najwyzszy potencjal UGC.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3785616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Przykl.: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24128" y="3785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by Joanna (WAW) | BarreCore (KRK) | Dance Fit Studio (WRO) | Joy Studio (GDA)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4096512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024128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przy recepcji + barter z instruktorka TikTok/IG | Post-class story z puszka = viral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" y="4407408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Trenerka: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024128" y="44074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Instruktorka tanca = naturalna nano-influencerka TikTok. Barter + kod. @dance_fit_kasia to przyklad.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365760" y="4718304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024128" y="4718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stories &gt;10/mies./studio | Sprzedaz 1 szt/dzien | Kod &gt;8% redemption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81728" y="3072384"/>
            <a:ext cx="4242816" cy="199339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/>
          <p:cNvSpPr/>
          <p:nvPr/>
        </p:nvSpPr>
        <p:spPr>
          <a:xfrm>
            <a:off x="4681728" y="3072384"/>
            <a:ext cx="4242816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4791456" y="31272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SIECI FITNESS KOBIET (Fabryka Figury itp.)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99248" y="3136392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7699248" y="3136392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PRIORYTET #4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791456" y="3474720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Dlaczego: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449824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Siec fitness kobiet = masowy zasieg TG1. Fabryka Figury ma ~100 klubow PL. Sredni segment cenowy.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4791456" y="3785616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Przykl.: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449824" y="37856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Fabryka Figury (~100 lokalizacji) | Curves (mniejsza obecnosc) | Lokalne 'Fitness Kobiet'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791456" y="4096512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449824" y="40965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Siec: lodowka w recepcji + POS | Model Rev-share lub fixed monthly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791456" y="4407408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Trenerka: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449824" y="44074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Trenerki wewnetrzne sieci: pitch przez centralny marketing sieci (jeden kontakt = wiele lokalizacji)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791456" y="4718304"/>
            <a:ext cx="6217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49824" y="471830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Negocjacja centralna – 1 umowa = 20+ lokalizacji | Cel M6: 20+ pkt sprzedazy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MECHANIKA WEJSCIA DO STUDIA – KROK PO KROKU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wejsc do studia pilatesu w 5 krokach.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010412"/>
            <a:ext cx="2834640" cy="216255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10412"/>
            <a:ext cx="2834640" cy="292608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0561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1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IDENTYFIKACJA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57884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 | Tydzien 1-2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74650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Zbierz liste 20-30 top studiow pilatesu i jogi w top 5 miastach (Google Maps, IG hashtagi)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 IG studia: czy maja aktywny profil, czy sa premium, ile klientek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Zidentyfikuj instruktorke prowadzaca konto IG studia – to jest Twoj kontakt #1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Czy studio juz sprzedaje napoje lub suplementy? Jaka marka? Jak wyeksponowane?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1010412"/>
            <a:ext cx="2834640" cy="21442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200400" y="1010412"/>
            <a:ext cx="2834640" cy="292608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310128" y="10561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2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PIERWSZY KONTAKT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10128" y="1357884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1 | Tydzien 3-4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10128" y="1627632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na IG studia: krotkie (3 zdania) + zdjecie produktu + propozycja degustacji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Temat: 'Chcemy zostawic Volte dla Waszych klientek – pierwsza dostawa gratis'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Jesli brak odpowiedzi w 5 dni: email do recepcji lub pojdz osobiscie z probkami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mow o pieniadach w pierwszej wiadomosci – mow o produkcie i klientkach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44768" y="1010411"/>
            <a:ext cx="2834640" cy="2144267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144768" y="1010412"/>
            <a:ext cx="2834640" cy="29260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54496" y="105613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3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DEGUSTACJA LIVE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54496" y="1357884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2 | Pierwsze spotkanie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254496" y="1604772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Pojdz na zajecia jako klientka lub umow spotkanie przed / po zajeciach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Przynies 8-12 puszek schodzone + kartki z kodem QR do LP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Zostaw puszki w lodowce lub na ladzie bez opłaty – 'na próbe przez tydzien'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Zbierz numery telefonow lub email od instruktorki – buduj bezposredni kontakt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200400"/>
            <a:ext cx="2834640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256032" y="3200400"/>
            <a:ext cx="2834640" cy="29260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65760" y="3246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4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UMOWA BARTEROWA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2-3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371246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degustacji: instruktorka ma dane ('klientki pily? Jak reagowaly?')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Propozycja barterowa: 6 puszek/mies. za 2 posts IG + kod afiliacyjny 8%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Wlacz studia do harmonogramu influencer (slajd Tier B Nano)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Jezeli sprzedaz wystartuje – upgrade do modelu platnego lub Rev-share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834640" cy="17922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2834640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310128" y="32461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5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SKALOWANIE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10128" y="3547872"/>
            <a:ext cx="2633472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Mies. 3-6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310128" y="3712464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4 tygodniach: analiza sprzedazy i ER kodu w danym studiu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Jezeli &gt;10 szt/tydzien i ER &gt;8%: rozszerz na inne lokalizacje tej samej sieci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Zreferencja: 'Studio XYZ juz sprzedaje Volte od 6 tygodni z super wynikami'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M6: 30+ aktywnych studiow pilatesu/jogi w top 5 miastach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PAKIET MATERIALOW DLA STUDIA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dostaje studio. Klucz pod drzwi.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060704"/>
            <a:ext cx="4242816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60704"/>
            <a:ext cx="4242816" cy="310896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PACK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(FREE na start)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00507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puszek Volte (mix 2 smakow) – pierwsza dostawa gratis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Koszyk bambusowy lub metalowy na puszki + lod (torba termiczna)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naklejki Volte na lodowke / koszyk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karteczek 'Proba gratis dla klientek' z kodem QR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Osobisty wizytówka managera Volte z numerem do zamowien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681728" y="1060704"/>
            <a:ext cx="4242816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4681728" y="1060704"/>
            <a:ext cx="4242816" cy="310896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791456" y="1115568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 POS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(przy umowie)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91456" y="1463040"/>
            <a:ext cx="400507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Stojak A5 na ladzie: 'Tu kupisz Volte – 12,99 zl'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Kolaner kartonowy na polke (projekt Volte)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Naklejka podlogowa przy wejsciu do studia (format 30×30cm)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Roll-up 85×200cm (opcja dla wiekszych studiow premium)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produktowa A4 do wywieszenia w szatni lub lazience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3017520"/>
            <a:ext cx="4242816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56032" y="3017520"/>
            <a:ext cx="4242816" cy="310896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65760" y="307238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 TRENERKI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(barter / nano)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419856"/>
            <a:ext cx="400507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puszek/mies. do osobistego uzytku trenerki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Unikalny kod afiliacyjny: KOD15 (-15% dla klientek, 8% prowizja dla trenerki)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do postow (szablon brief – slajd 7 influencer planu)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Dostep do zdjec produktowych w wysokiej rozdzielczosci (Dropbox)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 miesieczny: ile razy uzyte kodu, prowizja do wyplaty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81728" y="3017520"/>
            <a:ext cx="4242816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681728" y="3017520"/>
            <a:ext cx="4242816" cy="31089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791456" y="3072384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 DIGITAL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(wspieramy online)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91456" y="3419856"/>
            <a:ext cx="4005072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@volteofficial we wszystkich postach – repostujemy na Stories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Dedykowany post 'Welcome' na naszym IG dla nowego studia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Wzmianka w bio lub Stories: 'Zdrowe bialko w naszym studiu = Volte'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Dostep do szablonow Stories (Canva) z logo studia i Volte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Geo-tag: Volte oznacza lokalizacje studia w swoich postach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EFC2D-7196-7D64-C0E1-80578D6F3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D3C92B-ECB9-B53D-51BE-5EE58198BA6D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 BUDZET – STUDIA DLA KOBIET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82F1D5-2929-7938-F4CF-AB2D3C6FAD76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od pierwszego DM do 30+ aktywnych studiow.</a:t>
            </a:r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5247BFC-33E1-B891-7957-A713EE55C222}"/>
              </a:ext>
            </a:extLst>
          </p:cNvPr>
          <p:cNvSpPr/>
          <p:nvPr/>
        </p:nvSpPr>
        <p:spPr>
          <a:xfrm>
            <a:off x="140871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9939C0-B236-70E3-C9AC-F11B01A1ED6E}"/>
              </a:ext>
            </a:extLst>
          </p:cNvPr>
          <p:cNvSpPr/>
          <p:nvPr/>
        </p:nvSpPr>
        <p:spPr>
          <a:xfrm>
            <a:off x="140871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CDC761-4E01-D05B-DEF8-B40C0FB3883D}"/>
              </a:ext>
            </a:extLst>
          </p:cNvPr>
          <p:cNvSpPr/>
          <p:nvPr/>
        </p:nvSpPr>
        <p:spPr>
          <a:xfrm>
            <a:off x="221338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D33CA8-84F7-4DFE-CE05-C0DDCFBCF08A}"/>
              </a:ext>
            </a:extLst>
          </p:cNvPr>
          <p:cNvSpPr/>
          <p:nvPr/>
        </p:nvSpPr>
        <p:spPr>
          <a:xfrm>
            <a:off x="221338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6978316-602E-5919-7E7B-E950B862026C}"/>
              </a:ext>
            </a:extLst>
          </p:cNvPr>
          <p:cNvSpPr/>
          <p:nvPr/>
        </p:nvSpPr>
        <p:spPr>
          <a:xfrm>
            <a:off x="301805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CA7B197-0212-486F-FED0-3C516D45C8AE}"/>
              </a:ext>
            </a:extLst>
          </p:cNvPr>
          <p:cNvSpPr/>
          <p:nvPr/>
        </p:nvSpPr>
        <p:spPr>
          <a:xfrm>
            <a:off x="301805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4DF65B-6C1A-5F63-716B-4DE9F7C019A2}"/>
              </a:ext>
            </a:extLst>
          </p:cNvPr>
          <p:cNvSpPr/>
          <p:nvPr/>
        </p:nvSpPr>
        <p:spPr>
          <a:xfrm>
            <a:off x="382273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AB74D6-321D-CA72-1D37-6D5B6265F32D}"/>
              </a:ext>
            </a:extLst>
          </p:cNvPr>
          <p:cNvSpPr/>
          <p:nvPr/>
        </p:nvSpPr>
        <p:spPr>
          <a:xfrm>
            <a:off x="382273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655E54C-3645-D9FB-3074-57C351233327}"/>
              </a:ext>
            </a:extLst>
          </p:cNvPr>
          <p:cNvSpPr/>
          <p:nvPr/>
        </p:nvSpPr>
        <p:spPr>
          <a:xfrm>
            <a:off x="462740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6297B52-4050-4C46-4D3F-3CB13F9DD22F}"/>
              </a:ext>
            </a:extLst>
          </p:cNvPr>
          <p:cNvSpPr/>
          <p:nvPr/>
        </p:nvSpPr>
        <p:spPr>
          <a:xfrm>
            <a:off x="462740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CAA05FA-B7AB-CBAC-2132-FB15E733F80E}"/>
              </a:ext>
            </a:extLst>
          </p:cNvPr>
          <p:cNvSpPr/>
          <p:nvPr/>
        </p:nvSpPr>
        <p:spPr>
          <a:xfrm>
            <a:off x="543207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128ADF4-A808-4036-0B0C-F97550F4CF9F}"/>
              </a:ext>
            </a:extLst>
          </p:cNvPr>
          <p:cNvSpPr/>
          <p:nvPr/>
        </p:nvSpPr>
        <p:spPr>
          <a:xfrm>
            <a:off x="543207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2DF8EF6-9C3E-194F-A890-D0BFCAFF65C7}"/>
              </a:ext>
            </a:extLst>
          </p:cNvPr>
          <p:cNvSpPr/>
          <p:nvPr/>
        </p:nvSpPr>
        <p:spPr>
          <a:xfrm>
            <a:off x="623674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09EF8A-BFBF-0F4D-E31D-8ED690A11DBA}"/>
              </a:ext>
            </a:extLst>
          </p:cNvPr>
          <p:cNvSpPr/>
          <p:nvPr/>
        </p:nvSpPr>
        <p:spPr>
          <a:xfrm>
            <a:off x="623674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A351004-DE69-9E8A-0BB0-E3798410EDC9}"/>
              </a:ext>
            </a:extLst>
          </p:cNvPr>
          <p:cNvSpPr/>
          <p:nvPr/>
        </p:nvSpPr>
        <p:spPr>
          <a:xfrm>
            <a:off x="704141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F4A8810-E3A8-F2D9-C985-16283BADEC10}"/>
              </a:ext>
            </a:extLst>
          </p:cNvPr>
          <p:cNvSpPr/>
          <p:nvPr/>
        </p:nvSpPr>
        <p:spPr>
          <a:xfrm>
            <a:off x="704141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1EB03D7-84D2-67A1-EEA8-503584AC3032}"/>
              </a:ext>
            </a:extLst>
          </p:cNvPr>
          <p:cNvSpPr/>
          <p:nvPr/>
        </p:nvSpPr>
        <p:spPr>
          <a:xfrm>
            <a:off x="784609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944F004-D254-C7F6-C374-46DFF3407030}"/>
              </a:ext>
            </a:extLst>
          </p:cNvPr>
          <p:cNvSpPr/>
          <p:nvPr/>
        </p:nvSpPr>
        <p:spPr>
          <a:xfrm>
            <a:off x="784609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7A8D593-DBC6-82EF-4DFC-3B0CDDF3F635}"/>
              </a:ext>
            </a:extLst>
          </p:cNvPr>
          <p:cNvSpPr/>
          <p:nvPr/>
        </p:nvSpPr>
        <p:spPr>
          <a:xfrm>
            <a:off x="256032" y="1554480"/>
            <a:ext cx="108867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E76E228-470C-8A72-54A7-D02D4C40EED9}"/>
              </a:ext>
            </a:extLst>
          </p:cNvPr>
          <p:cNvSpPr/>
          <p:nvPr/>
        </p:nvSpPr>
        <p:spPr>
          <a:xfrm>
            <a:off x="320040" y="19019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PILATES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</a:t>
            </a:r>
            <a:endParaRPr lang="en-US" sz="7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D6FB312-ABBD-7412-2210-5F672B0E6D74}"/>
              </a:ext>
            </a:extLst>
          </p:cNvPr>
          <p:cNvSpPr/>
          <p:nvPr/>
        </p:nvSpPr>
        <p:spPr>
          <a:xfrm>
            <a:off x="1408714" y="157276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6D67D47-702A-8940-30C0-9840E82E7BF7}"/>
              </a:ext>
            </a:extLst>
          </p:cNvPr>
          <p:cNvSpPr/>
          <p:nvPr/>
        </p:nvSpPr>
        <p:spPr>
          <a:xfrm>
            <a:off x="1408714" y="1591056"/>
            <a:ext cx="749808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0831383-0657-12E2-3148-3B21FA5DEEFA}"/>
              </a:ext>
            </a:extLst>
          </p:cNvPr>
          <p:cNvSpPr/>
          <p:nvPr/>
        </p:nvSpPr>
        <p:spPr>
          <a:xfrm>
            <a:off x="1445290" y="159105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Identyfikacja + kontakt 10 studiow WAW</a:t>
            </a:r>
            <a:endParaRPr lang="en-US" sz="6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AE4FC32-F4A6-64EC-17F8-3F30723E1892}"/>
              </a:ext>
            </a:extLst>
          </p:cNvPr>
          <p:cNvSpPr/>
          <p:nvPr/>
        </p:nvSpPr>
        <p:spPr>
          <a:xfrm>
            <a:off x="1408714" y="186537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B309082-9F57-EF7B-E4ED-A0474F44F864}"/>
              </a:ext>
            </a:extLst>
          </p:cNvPr>
          <p:cNvSpPr/>
          <p:nvPr/>
        </p:nvSpPr>
        <p:spPr>
          <a:xfrm>
            <a:off x="2213386" y="1883664"/>
            <a:ext cx="1554480" cy="201168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4AD8288-232E-7F9A-B418-B66C3D4216C1}"/>
              </a:ext>
            </a:extLst>
          </p:cNvPr>
          <p:cNvSpPr/>
          <p:nvPr/>
        </p:nvSpPr>
        <p:spPr>
          <a:xfrm>
            <a:off x="2249962" y="188366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Degustacje live + umowy barterowe</a:t>
            </a:r>
            <a:endParaRPr lang="en-US" sz="6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A21D885-B4CE-2568-0E2A-10E63EFF58DF}"/>
              </a:ext>
            </a:extLst>
          </p:cNvPr>
          <p:cNvSpPr/>
          <p:nvPr/>
        </p:nvSpPr>
        <p:spPr>
          <a:xfrm>
            <a:off x="1408714" y="215798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AE962C7-E48D-1A9E-C983-7A96BA18FD2F}"/>
              </a:ext>
            </a:extLst>
          </p:cNvPr>
          <p:cNvSpPr/>
          <p:nvPr/>
        </p:nvSpPr>
        <p:spPr>
          <a:xfrm>
            <a:off x="3822730" y="2176272"/>
            <a:ext cx="4773168" cy="201168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9390095-8176-F3CE-0201-0080FD55D2E0}"/>
              </a:ext>
            </a:extLst>
          </p:cNvPr>
          <p:cNvSpPr/>
          <p:nvPr/>
        </p:nvSpPr>
        <p:spPr>
          <a:xfrm>
            <a:off x="3859306" y="2176272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aktywnych studiow WAW</a:t>
            </a:r>
            <a:endParaRPr lang="en-US" sz="6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3539EAE-571F-3581-BFE9-6F66FB3C8DD6}"/>
              </a:ext>
            </a:extLst>
          </p:cNvPr>
          <p:cNvSpPr/>
          <p:nvPr/>
        </p:nvSpPr>
        <p:spPr>
          <a:xfrm>
            <a:off x="256032" y="2505456"/>
            <a:ext cx="108867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B197658-C28D-2552-27F1-E789D8F20CAF}"/>
              </a:ext>
            </a:extLst>
          </p:cNvPr>
          <p:cNvSpPr/>
          <p:nvPr/>
        </p:nvSpPr>
        <p:spPr>
          <a:xfrm>
            <a:off x="320040" y="285292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</a:t>
            </a:r>
            <a:endParaRPr lang="en-US" sz="7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3E5F9E1A-2ABF-C3A9-2F34-AA3F94C10E04}"/>
              </a:ext>
            </a:extLst>
          </p:cNvPr>
          <p:cNvSpPr/>
          <p:nvPr/>
        </p:nvSpPr>
        <p:spPr>
          <a:xfrm>
            <a:off x="1408714" y="252374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1CB66F2-5D3E-A77B-81BE-A00EB9FE0B29}"/>
              </a:ext>
            </a:extLst>
          </p:cNvPr>
          <p:cNvSpPr/>
          <p:nvPr/>
        </p:nvSpPr>
        <p:spPr>
          <a:xfrm>
            <a:off x="2213386" y="2542032"/>
            <a:ext cx="749808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1FBA864-1E21-10A1-7D1E-5234AE036DE6}"/>
              </a:ext>
            </a:extLst>
          </p:cNvPr>
          <p:cNvSpPr/>
          <p:nvPr/>
        </p:nvSpPr>
        <p:spPr>
          <a:xfrm>
            <a:off x="2249962" y="254203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 studia jogi WAW</a:t>
            </a:r>
            <a:endParaRPr lang="en-US" sz="6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56CA9C5-9521-2BE2-E1CA-40D4BC90A0DD}"/>
              </a:ext>
            </a:extLst>
          </p:cNvPr>
          <p:cNvSpPr/>
          <p:nvPr/>
        </p:nvSpPr>
        <p:spPr>
          <a:xfrm>
            <a:off x="1408714" y="281635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B59716A-82B9-C6AD-5819-E594A7FE0B58}"/>
              </a:ext>
            </a:extLst>
          </p:cNvPr>
          <p:cNvSpPr/>
          <p:nvPr/>
        </p:nvSpPr>
        <p:spPr>
          <a:xfrm>
            <a:off x="3018058" y="2834640"/>
            <a:ext cx="1554480" cy="201168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7A35E8DD-C733-DCC7-28CF-9936C465E73B}"/>
              </a:ext>
            </a:extLst>
          </p:cNvPr>
          <p:cNvSpPr/>
          <p:nvPr/>
        </p:nvSpPr>
        <p:spPr>
          <a:xfrm>
            <a:off x="3054634" y="2834640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 + degustacja</a:t>
            </a:r>
            <a:endParaRPr lang="en-US" sz="6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9E55FE4B-012F-2607-641E-A9D551FF5C1F}"/>
              </a:ext>
            </a:extLst>
          </p:cNvPr>
          <p:cNvSpPr/>
          <p:nvPr/>
        </p:nvSpPr>
        <p:spPr>
          <a:xfrm>
            <a:off x="1408714" y="310896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B098D65-83D2-567D-6A53-EF2791616F2B}"/>
              </a:ext>
            </a:extLst>
          </p:cNvPr>
          <p:cNvSpPr/>
          <p:nvPr/>
        </p:nvSpPr>
        <p:spPr>
          <a:xfrm>
            <a:off x="4627402" y="3127248"/>
            <a:ext cx="3968496" cy="201168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2939982-CB6F-9D11-E611-32C87854275D}"/>
              </a:ext>
            </a:extLst>
          </p:cNvPr>
          <p:cNvSpPr/>
          <p:nvPr/>
        </p:nvSpPr>
        <p:spPr>
          <a:xfrm>
            <a:off x="4663978" y="3127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aktywnych studiow jogi</a:t>
            </a:r>
            <a:endParaRPr lang="en-US" sz="6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4B17B64-1541-FCB0-83B3-208262FE2B11}"/>
              </a:ext>
            </a:extLst>
          </p:cNvPr>
          <p:cNvSpPr/>
          <p:nvPr/>
        </p:nvSpPr>
        <p:spPr>
          <a:xfrm>
            <a:off x="256032" y="3456432"/>
            <a:ext cx="1088674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E57B4E78-5B38-35D5-22F4-479C0F8986FA}"/>
              </a:ext>
            </a:extLst>
          </p:cNvPr>
          <p:cNvSpPr/>
          <p:nvPr/>
        </p:nvSpPr>
        <p:spPr>
          <a:xfrm>
            <a:off x="320040" y="3657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PILATES+JOGA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KRK+WRO</a:t>
            </a:r>
            <a:endParaRPr lang="en-US" sz="7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D1D02968-BB67-24D3-48F6-D7FF9BE84A34}"/>
              </a:ext>
            </a:extLst>
          </p:cNvPr>
          <p:cNvSpPr/>
          <p:nvPr/>
        </p:nvSpPr>
        <p:spPr>
          <a:xfrm>
            <a:off x="1408714" y="347472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C15650FD-40C2-85F5-2972-B21D9C830F43}"/>
              </a:ext>
            </a:extLst>
          </p:cNvPr>
          <p:cNvSpPr/>
          <p:nvPr/>
        </p:nvSpPr>
        <p:spPr>
          <a:xfrm>
            <a:off x="3822730" y="3493008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F15ACEED-733C-3ED0-523C-E44BB8CBEC0F}"/>
              </a:ext>
            </a:extLst>
          </p:cNvPr>
          <p:cNvSpPr/>
          <p:nvPr/>
        </p:nvSpPr>
        <p:spPr>
          <a:xfrm>
            <a:off x="3859306" y="349300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Ekspansja Krakow + Wroclaw</a:t>
            </a:r>
            <a:endParaRPr lang="en-US" sz="6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DCD29DAC-8B9B-E26A-36B8-FE08E351D103}"/>
              </a:ext>
            </a:extLst>
          </p:cNvPr>
          <p:cNvSpPr/>
          <p:nvPr/>
        </p:nvSpPr>
        <p:spPr>
          <a:xfrm>
            <a:off x="1408714" y="376732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3A5285D-F490-B702-5C2D-EF9B63C8B9A6}"/>
              </a:ext>
            </a:extLst>
          </p:cNvPr>
          <p:cNvSpPr/>
          <p:nvPr/>
        </p:nvSpPr>
        <p:spPr>
          <a:xfrm>
            <a:off x="5432074" y="3785616"/>
            <a:ext cx="3163824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F2CBA195-7B2E-98D9-C61E-7EE64D317141}"/>
              </a:ext>
            </a:extLst>
          </p:cNvPr>
          <p:cNvSpPr/>
          <p:nvPr/>
        </p:nvSpPr>
        <p:spPr>
          <a:xfrm>
            <a:off x="5468650" y="3785616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Aktywne studia KRK+WRO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4057349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 BUDZET – STUDIA DLA KOBIET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60350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wejscia od pierwszego DM do 30+ aktywnych studiow.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0871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40871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21338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21338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1805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01805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2273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82273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2740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62740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3207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43207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3674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23674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04141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04141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84609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784609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56032" y="1600200"/>
            <a:ext cx="1088674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20040" y="180136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&amp; DANCE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WAW+INNE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408714" y="161848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Shape 53"/>
          <p:cNvSpPr/>
          <p:nvPr/>
        </p:nvSpPr>
        <p:spPr>
          <a:xfrm>
            <a:off x="3018058" y="1636776"/>
            <a:ext cx="1554480" cy="20116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/>
          <p:cNvSpPr/>
          <p:nvPr/>
        </p:nvSpPr>
        <p:spPr>
          <a:xfrm>
            <a:off x="3054634" y="1636776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i dance studios WAW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408714" y="191109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Shape 56"/>
          <p:cNvSpPr/>
          <p:nvPr/>
        </p:nvSpPr>
        <p:spPr>
          <a:xfrm>
            <a:off x="4627402" y="1929384"/>
            <a:ext cx="3968496" cy="20116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4663978" y="192938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 + kod dla trenerek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256032" y="2258568"/>
            <a:ext cx="108867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320040" y="26060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SIECI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FABRYKA FIGURY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408714" y="227685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Shape 61"/>
          <p:cNvSpPr/>
          <p:nvPr/>
        </p:nvSpPr>
        <p:spPr>
          <a:xfrm>
            <a:off x="3822730" y="2295144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Text 62"/>
          <p:cNvSpPr/>
          <p:nvPr/>
        </p:nvSpPr>
        <p:spPr>
          <a:xfrm>
            <a:off x="3859306" y="229514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centralny Fabryka Figury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408714" y="256946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Shape 64"/>
          <p:cNvSpPr/>
          <p:nvPr/>
        </p:nvSpPr>
        <p:spPr>
          <a:xfrm>
            <a:off x="5432074" y="2587752"/>
            <a:ext cx="1554480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5468650" y="2587752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Pilotaz 5 lokalizacji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408714" y="286207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Shape 67"/>
          <p:cNvSpPr/>
          <p:nvPr/>
        </p:nvSpPr>
        <p:spPr>
          <a:xfrm>
            <a:off x="7041418" y="2880360"/>
            <a:ext cx="1554480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0" name="Text 68"/>
          <p:cNvSpPr/>
          <p:nvPr/>
        </p:nvSpPr>
        <p:spPr>
          <a:xfrm>
            <a:off x="7077994" y="2880360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do 20+ lokalizacji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256032" y="3282696"/>
            <a:ext cx="8631936" cy="201168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2" name="Text 70"/>
          <p:cNvSpPr/>
          <p:nvPr/>
        </p:nvSpPr>
        <p:spPr>
          <a:xfrm>
            <a:off x="347472" y="3319272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BUDZET: Probki / barter (produkt): 4 000 zl | POS materialy: 2 500 zl | Koszyki + akcesoria: 1 500 zl | Logistyka dostaw: 2 000 zl | RAZEM: ~10 000 zl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56032" y="3502152"/>
            <a:ext cx="8631936" cy="201168"/>
          </a:xfrm>
          <a:prstGeom prst="rect">
            <a:avLst/>
          </a:prstGeom>
          <a:solidFill>
            <a:srgbClr val="C2185B"/>
          </a:solidFill>
          <a:ln w="6350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4" name="Text 72"/>
          <p:cNvSpPr/>
          <p:nvPr/>
        </p:nvSpPr>
        <p:spPr>
          <a:xfrm>
            <a:off x="347472" y="3538728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30+ aktywnych studiow pilatesu/jogi/barre w top 5 miastach do M6 | Srednio 1 szt/dzien/studio = 900+ szt/mies. w tym kanale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57400"/>
            <a:ext cx="4754880" cy="36576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LEJEK MARKETINGOWY – ALLEGRO ADS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Sponsorowany | Allegro Ads | Allegro Pay | Allegro Smart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WIDOCZNOŚĆ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Listing + Sponsored Product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ROZWAŻANIE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+ Opinie + Karta prod.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Koszyk + Allegro Pay + Smart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DLACZEGO ALLEGRO?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Największy marketplace w Polsce. 22M kupujących.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1298448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92608" y="1298448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29768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mln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29768" y="1984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aktywnych kupujących/rok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45536" y="1298448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145536" y="1298448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82696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82696" y="1984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w Polsce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8464" y="1298448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98464" y="1298448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135624" y="14630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mln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35624" y="1984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 w serwisie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468880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92608" y="2468880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29768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29768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Polaków kupuje na Allegro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45536" y="2468880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3145536" y="2468880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282696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Smart!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82696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45M+ zamówień/rok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8464" y="2468880"/>
            <a:ext cx="2743200" cy="105156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5998464" y="2468880"/>
            <a:ext cx="274320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135624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Pay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135624" y="3154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 teraz, zapłać później</a:t>
            </a:r>
            <a:endParaRPr lang="en-US" sz="9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387B60A2-1025-FA47-56E2-571AF47C3C97}"/>
              </a:ext>
            </a:extLst>
          </p:cNvPr>
          <p:cNvSpPr/>
          <p:nvPr/>
        </p:nvSpPr>
        <p:spPr>
          <a:xfrm>
            <a:off x="292608" y="3703320"/>
            <a:ext cx="8558784" cy="1170432"/>
          </a:xfrm>
          <a:prstGeom prst="rect">
            <a:avLst/>
          </a:prstGeom>
          <a:solidFill>
            <a:srgbClr val="000000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86975D3D-6498-1B2A-147C-F75C5371BED5}"/>
              </a:ext>
            </a:extLst>
          </p:cNvPr>
          <p:cNvSpPr/>
          <p:nvPr/>
        </p:nvSpPr>
        <p:spPr>
          <a:xfrm>
            <a:off x="457200" y="37673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ALLEGRO JEST KLUCZOWE DLA VOLTÉ</a:t>
            </a:r>
            <a:endParaRPr lang="en-US" sz="90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8DA523C4-D395-865C-06EA-DC5B8485DE8C}"/>
              </a:ext>
            </a:extLst>
          </p:cNvPr>
          <p:cNvSpPr/>
          <p:nvPr/>
        </p:nvSpPr>
        <p:spPr>
          <a:xfrm>
            <a:off x="457200" y="40599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Kategoria 'Suplementy i odżywki' ma 8M+ wyszukiwań miesięcznie</a:t>
            </a:r>
            <a:endParaRPr lang="en-US" sz="85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0C8BFEE0-CA43-5BAC-2009-42D559D693B7}"/>
              </a:ext>
            </a:extLst>
          </p:cNvPr>
          <p:cNvSpPr/>
          <p:nvPr/>
        </p:nvSpPr>
        <p:spPr>
          <a:xfrm>
            <a:off x="457200" y="4407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TG2 (Urban Achievers) robi zakupy online podczas przerwy w pracy – Allegro dominuje</a:t>
            </a:r>
            <a:endParaRPr lang="en-US" sz="85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A93ADC11-630C-956F-5195-E43C3F37C0BD}"/>
              </a:ext>
            </a:extLst>
          </p:cNvPr>
          <p:cNvSpPr/>
          <p:nvPr/>
        </p:nvSpPr>
        <p:spPr>
          <a:xfrm>
            <a:off x="4754880" y="3779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Allegro Smart! = darmowa dostawa = niższy próg decyzji zakupowej</a:t>
            </a:r>
            <a:endParaRPr lang="en-US" sz="85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4C5CCCD0-51C1-9CCC-FF6A-B7ECDD302594}"/>
              </a:ext>
            </a:extLst>
          </p:cNvPr>
          <p:cNvSpPr/>
          <p:nvPr/>
        </p:nvSpPr>
        <p:spPr>
          <a:xfrm>
            <a:off x="4754880" y="4126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Opinie na Allegro budują zaufanie szybciej niż własny sklep D2C</a:t>
            </a:r>
            <a:endParaRPr lang="en-US" sz="85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F3D48728-DB12-DD71-4CB8-3E3EA55179E9}"/>
              </a:ext>
            </a:extLst>
          </p:cNvPr>
          <p:cNvSpPr/>
          <p:nvPr/>
        </p:nvSpPr>
        <p:spPr>
          <a:xfrm>
            <a:off x="4754880" y="4474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Allegro Ads = łatwy dostęp do kupujących z intencją zakupu protein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LEJEK ALLEGRO – ETAPY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wyświetlenia do lojalnego klienta.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60704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ODKRYCIE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48132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Kupujący szuka produktu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Ads – Sponsored Product (listing)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Ads – Display (banner kategorii)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oferty: tytuł + opis + zdjęcia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23591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&gt;200k/mies. | CTR &gt;2% | Pozycja top 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84048" y="2596896"/>
            <a:ext cx="4005072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20624" y="2633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Pojawia się Volté w wynikach wyszukiwania 'napój białkowy', 'clear whey'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718304" y="1060704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718304" y="1060704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828032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ROZWAŻANIE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1481328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Kupujący klika i czyta ofertę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28032" y="1682496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produktu: 7+ zdjęć + wideo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HTML z tabelą wartości odżywczych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Opinie: min. 20 przed launchem (sampling)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28032" y="23591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Współczynnik konwersji &gt;4% | Czas na ofercie &gt;45s | Scroll depth &gt;70%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828032" y="2596896"/>
            <a:ext cx="4005072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864608" y="2633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Kupujący porównuje Volté vs. BrainMax vs. Freeway – wygrywa naturalny skład i lekki gaz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274320" y="3054096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84048" y="3118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347472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Dodanie do koszyka i płatność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4048" y="3675888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konkurencyjna: 12,49–13,99 zł/szt.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Smart! – bezpłatna dostawa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Pay – kup teraz, zapłać do 30 dni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" y="43525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 koszyka &gt;65% | AOV &gt;45 zł (multi-pack) | Porzucone koszyki &lt;35%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" y="4590288"/>
            <a:ext cx="4005072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20624" y="46268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 6-pak jako flagowy SKU – wyższa wartość zamówienia, lepszy ROAS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18304" y="3054096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4718304" y="3054096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828032" y="311810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347472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Powrót i polecenie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28032" y="3675888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email po zakupie (Allegro powiadomi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Kupony rabatowe dla powracających (Allegro Kupony)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opinii – prośba o recenzję (automacja)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28032" y="43525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 &gt;30% | Rating &gt;4,8★ | Opinie &gt;100 w 6 mies.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828032" y="4590288"/>
            <a:ext cx="4005072" cy="310896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4864608" y="46268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Klient staje się ambasadorem: wystawia 5★ i poleca znajomym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OPTYMALIZACJA OFERTY ALLEGRO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zbudować ofertę, która konwertuje.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422452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4224528" cy="27432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3075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TYTUŁ OFERTY (max 75 znaków)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47472" y="1609344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20624" y="16459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Struktura tytułu: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517904" y="164592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[Marka] [Typ produktu] [Smak] [Gramatura/szt.] [Kluczowe cechy]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956816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20624" y="199339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optymalny: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17904" y="1993392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High Protein Water Lemon-Lime 330ml | Zero Cukru | Naturalne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30428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20624" y="23408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 w tytule: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517904" y="234086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napój białkowy, clear whey, zero cukru, naturalne – obowiązkowo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651760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20624" y="26883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Czego unikać: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17904" y="268833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 LOCK, znaki specjalne (!@#), zbyt wiele emotikonów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81728" y="1261872"/>
            <a:ext cx="422452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81728" y="1261872"/>
            <a:ext cx="4224528" cy="27432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91456" y="13075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ZDJĘCIA I WIDEO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73168" y="1609344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46320" y="164592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7 zdjęć: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0" y="164592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Główne białe tło, składniki, tabela nutritional, lifestyle, smaki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73168" y="1956816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846320" y="1993392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Zdjęcie główne: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43600" y="1993392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Puszka na białym tle, format kwadrat 1:1, min. 1000×1000px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73168" y="230428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4846320" y="234086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(obowiązkowo):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43600" y="234086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15–30 sek. unboxing lub lifestyle – zwiększa konwersję o 35%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73168" y="2651760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4846320" y="268833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Infografiki: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43600" y="268833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vs. soda, naturalny skład, bez mlecznego posmaku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3236976"/>
            <a:ext cx="422452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256032" y="3236976"/>
            <a:ext cx="4224528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365760" y="32826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I PARAMETRY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47472" y="358444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420624" y="362102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Opis HTML: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517904" y="362102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Nagłówki H2+H3, tabela wartości odżywczych, FAQ (min. 5 pytań)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7472" y="3931920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420624" y="3968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Parametry obowiązkowe: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517904" y="396849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Smak, gramatura, ilość szt., zawartość białka, słodzik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7472" y="4279392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420624" y="43159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Bullet points USP: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517904" y="4315968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10g białka | ✓ 0 cukru | ✓ Naturalne słodziki | ✓ Lekki gaz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7472" y="4626864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420624" y="466344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Smart!: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517904" y="466344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Wpisz się w program – darmowa dostawa = +20-30% konwersji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81728" y="3236976"/>
            <a:ext cx="4224528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/>
          <p:cNvSpPr/>
          <p:nvPr/>
        </p:nvSpPr>
        <p:spPr>
          <a:xfrm>
            <a:off x="4681728" y="3236976"/>
            <a:ext cx="4224528" cy="2743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4791456" y="32826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CENNIK I WARIANTY SKU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73168" y="3584448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4846320" y="3621024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 1 szt.: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943600" y="3621024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12,49–13,99 zł (konkurencyjna vs. BrainMax ~12 zł, Eatyx ~10 zł)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73168" y="3931920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/>
          <p:cNvSpPr/>
          <p:nvPr/>
        </p:nvSpPr>
        <p:spPr>
          <a:xfrm>
            <a:off x="4846320" y="3968496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6-pak (flagowy):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43600" y="3968496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69,99 zł (11,67 zł/szt.) – najlepszy ROAS i AOV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73168" y="4279392"/>
            <a:ext cx="40416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4846320" y="4315968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12-pak (bulk):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43600" y="4315968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129,99 zł (10,83 zł/szt.) – dla stałych klientów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73168" y="4626864"/>
            <a:ext cx="4041648" cy="310896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/>
          <p:cNvSpPr/>
          <p:nvPr/>
        </p:nvSpPr>
        <p:spPr>
          <a:xfrm>
            <a:off x="4846320" y="4663440"/>
            <a:ext cx="1051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smaki: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943600" y="4663440"/>
            <a:ext cx="28163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Lemon-Lime + Grapefruit – osobne oferty + oferta zbiorcza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ALLEGRO ADS – PLAN KAMPANII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1" y="512064"/>
            <a:ext cx="9673917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Reklamy wewnątrz Allegro – precyzyjne targetowanie.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60704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224528" cy="34747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1247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PRODUCT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13385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00400" y="1133856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48132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Wyświetlenie oferty na czołowych pozycjach w wynikach wyszukiwania. Rozliczenie CPC.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773936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napój białkowy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whey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water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zero cukru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suplement diety sport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22951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&gt;2,5% | CPC &lt;1,80 zł | ROAS &gt;4x | Pozycja top 3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4041648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20624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Ustaw CPC 20% wyżej niż sugerowana stawka w pierwszych 2 tygodniach – zbierasz dane.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18304" y="1060704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718304" y="1060704"/>
            <a:ext cx="4224528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828032" y="11247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ADS (bannery)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44384" y="1133856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644384" y="1133856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28032" y="1481328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Bannery w kategorii Suplementy &amp; Odżywki oraz na stronie głównej. Rozliczenie CPM.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8032" y="1773936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Kategoria: Suplementy i odżywki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Retargeting: odwiedzający ofertę Volté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Podobni do kupujących Volté (lookalike)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28032" y="22951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&lt;25 zł | CTR &gt;0,4% | Freq. cap 5x/tydz.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809744" y="2542032"/>
            <a:ext cx="4041648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64608" y="25786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Format 970×250 (leaderboard) i 300×600 (half page) mają najwyższy CTR na Allegro.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4320" y="3054096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274320" y="3054096"/>
            <a:ext cx="4224528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84048" y="31181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KUPONY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3127248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3200400" y="312724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4048" y="34747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Kupony rabatowe dla nowych i powracających klientów. Widoczne przy ofercie i w koszyku.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" y="37673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Nowi klienci: -15% na pierwsze zamówienie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Powracający: -10% przy zakupie 6-pak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Bundle: 6-pak + próbka nowego smaku GRATIS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84048" y="428853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Redemption &gt;15% | AOV wzrost +25% | Repeat rate &gt;30%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4535424"/>
            <a:ext cx="4041648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20624" y="4572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Kupon aktywowany przy 6-paku zwiększa AOV bardziej niż rabat 1 szt.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18304" y="3054096"/>
            <a:ext cx="4224528" cy="1901952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4718304" y="3054096"/>
            <a:ext cx="4224528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4828032" y="311810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LOKALNIE + SMART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644384" y="3127248"/>
            <a:ext cx="1225296" cy="2011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7644384" y="3127248"/>
            <a:ext cx="1225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28032" y="347472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Widoczność w Allegro Smart! i Allegro Lokalnie – priorytetowe wyświetlanie dla Smart kupujących.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8032" y="3767328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Smart! badge – darmowa dostawa od 40 zł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Lokalnie – odbiór osobisty (siłownie partnerskie?)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Box – punkty odbioru przy siłowniach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8032" y="428853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konwersja +30% vs. non-Smart | Odbiory osobiste &gt;5%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09744" y="4535424"/>
            <a:ext cx="4041648" cy="36576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4864608" y="45720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Smart! kupujący konwertują 2,5× częściej – priorytet na tę grupę.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BUDŻET &amp; KPI – ALLEGRO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Estymacja przychodów i kosztów na Allegro.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5877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2587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862072" y="126187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862072" y="126187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867912" y="126187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867912" y="126187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873752" y="126187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73752" y="126187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879592" y="126187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879592" y="126187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85432" y="1261872"/>
            <a:ext cx="10607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885432" y="126187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1572768"/>
            <a:ext cx="25877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29184" y="157276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Ads (Sponsored Product)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62072" y="1572768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2862072" y="157276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67912" y="1572768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867912" y="157276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73752" y="1572768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73752" y="157276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879592" y="1572768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5879592" y="157276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 zł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885432" y="1572768"/>
            <a:ext cx="1060704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6885432" y="157276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16 500 zł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1810512"/>
            <a:ext cx="2587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29184" y="18105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Ads (Display + Kupony)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862072" y="1810512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2862072" y="181051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867912" y="1810512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867912" y="181051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73752" y="1810512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4873752" y="181051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79592" y="1810512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5879592" y="1810512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2500 zł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885432" y="1810512"/>
            <a:ext cx="106070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6885432" y="1810512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6500 zł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6032" y="2048256"/>
            <a:ext cx="25877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329184" y="2048256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 oferty i zdjęcia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862072" y="2048256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2862072" y="2048256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867912" y="2048256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3867912" y="2048256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73752" y="2048256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4873752" y="2048256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879592" y="2048256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5879592" y="2048256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885432" y="2048256"/>
            <a:ext cx="1060704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6885432" y="2048256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 zł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56032" y="2286000"/>
            <a:ext cx="2587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29184" y="2286000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Fotografia produktowa (Allegro)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862072" y="2286000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2862072" y="22860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zł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867912" y="2286000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3867912" y="22860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873752" y="2286000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4873752" y="22860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879592" y="2286000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5879592" y="228600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85432" y="2286000"/>
            <a:ext cx="106070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6885432" y="2286000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2523744"/>
            <a:ext cx="25877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329184" y="2523744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Opinie – sampling kampania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862072" y="2523744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2862072" y="2523744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867912" y="2523744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/>
          <p:cNvSpPr/>
          <p:nvPr/>
        </p:nvSpPr>
        <p:spPr>
          <a:xfrm>
            <a:off x="3867912" y="2523744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873752" y="2523744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4873752" y="2523744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79592" y="2523744"/>
            <a:ext cx="987552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5879592" y="2523744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885432" y="2523744"/>
            <a:ext cx="1060704" cy="23774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/>
          <p:cNvSpPr/>
          <p:nvPr/>
        </p:nvSpPr>
        <p:spPr>
          <a:xfrm>
            <a:off x="6885432" y="2523744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6032" y="2761488"/>
            <a:ext cx="25877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/>
          <p:cNvSpPr/>
          <p:nvPr/>
        </p:nvSpPr>
        <p:spPr>
          <a:xfrm>
            <a:off x="329184" y="2761488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Smart! (koszt uczestnictwa)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862072" y="2761488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/>
          <p:cNvSpPr/>
          <p:nvPr/>
        </p:nvSpPr>
        <p:spPr>
          <a:xfrm>
            <a:off x="2862072" y="276148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867912" y="2761488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/>
          <p:cNvSpPr/>
          <p:nvPr/>
        </p:nvSpPr>
        <p:spPr>
          <a:xfrm>
            <a:off x="3867912" y="276148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73752" y="2761488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/>
          <p:cNvSpPr/>
          <p:nvPr/>
        </p:nvSpPr>
        <p:spPr>
          <a:xfrm>
            <a:off x="4873752" y="276148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879592" y="2761488"/>
            <a:ext cx="9875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/>
          <p:cNvSpPr/>
          <p:nvPr/>
        </p:nvSpPr>
        <p:spPr>
          <a:xfrm>
            <a:off x="5879592" y="2761488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6885432" y="2761488"/>
            <a:ext cx="106070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/>
          <p:cNvSpPr/>
          <p:nvPr/>
        </p:nvSpPr>
        <p:spPr>
          <a:xfrm>
            <a:off x="6885432" y="2761488"/>
            <a:ext cx="10607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zł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6032" y="2999232"/>
            <a:ext cx="25877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/>
          <p:cNvSpPr/>
          <p:nvPr/>
        </p:nvSpPr>
        <p:spPr>
          <a:xfrm>
            <a:off x="329184" y="299923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Allegro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862072" y="299923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9"/>
          <p:cNvSpPr/>
          <p:nvPr/>
        </p:nvSpPr>
        <p:spPr>
          <a:xfrm>
            <a:off x="2862072" y="29992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7500 zł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3867912" y="299923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/>
          <p:cNvSpPr/>
          <p:nvPr/>
        </p:nvSpPr>
        <p:spPr>
          <a:xfrm>
            <a:off x="3867912" y="29992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7500 zł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873752" y="299923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3"/>
          <p:cNvSpPr/>
          <p:nvPr/>
        </p:nvSpPr>
        <p:spPr>
          <a:xfrm>
            <a:off x="4873752" y="29992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8500 zł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5879592" y="2999232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/>
          <p:cNvSpPr/>
          <p:nvPr/>
        </p:nvSpPr>
        <p:spPr>
          <a:xfrm>
            <a:off x="5879592" y="2999232"/>
            <a:ext cx="987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9500 zł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885432" y="2999232"/>
            <a:ext cx="106070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9" name="Text 97"/>
          <p:cNvSpPr/>
          <p:nvPr/>
        </p:nvSpPr>
        <p:spPr>
          <a:xfrm>
            <a:off x="6885432" y="2999232"/>
            <a:ext cx="10607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33 000 zł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56032" y="3387853"/>
            <a:ext cx="8412480" cy="219456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/>
          <p:cNvSpPr/>
          <p:nvPr/>
        </p:nvSpPr>
        <p:spPr>
          <a:xfrm>
            <a:off x="347472" y="3415285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ESTYMACJA PRZYCHODÓW ZE SPRZEDAŻY NA ALLEGRO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256032" y="3643885"/>
            <a:ext cx="190195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1"/>
          <p:cNvSpPr/>
          <p:nvPr/>
        </p:nvSpPr>
        <p:spPr>
          <a:xfrm>
            <a:off x="310896" y="3643885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Szac. wolumen (szt./mies.)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2176272" y="3643885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/>
          <p:cNvSpPr/>
          <p:nvPr/>
        </p:nvSpPr>
        <p:spPr>
          <a:xfrm>
            <a:off x="2231136" y="364388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M1–M2: 200–400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3456432" y="3643885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5"/>
          <p:cNvSpPr/>
          <p:nvPr/>
        </p:nvSpPr>
        <p:spPr>
          <a:xfrm>
            <a:off x="3511296" y="364388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M3–M4: 600–900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4736592" y="3643885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/>
          <p:cNvSpPr/>
          <p:nvPr/>
        </p:nvSpPr>
        <p:spPr>
          <a:xfrm>
            <a:off x="4791456" y="364388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M5–M6: 1000–1500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6016752" y="3643885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1" name="Text 109"/>
          <p:cNvSpPr/>
          <p:nvPr/>
        </p:nvSpPr>
        <p:spPr>
          <a:xfrm>
            <a:off x="6071616" y="3643885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M7–M9: 1500–2500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7296912" y="3643885"/>
            <a:ext cx="1298448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3" name="Text 111"/>
          <p:cNvSpPr/>
          <p:nvPr/>
        </p:nvSpPr>
        <p:spPr>
          <a:xfrm>
            <a:off x="7351776" y="3643885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mies. łącznie: ~15 000 szt.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56032" y="3899917"/>
            <a:ext cx="190195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5" name="Text 113"/>
          <p:cNvSpPr/>
          <p:nvPr/>
        </p:nvSpPr>
        <p:spPr>
          <a:xfrm>
            <a:off x="310896" y="3899917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Przychód (przy 13 zł/szt.)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2176272" y="3899917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7" name="Text 115"/>
          <p:cNvSpPr/>
          <p:nvPr/>
        </p:nvSpPr>
        <p:spPr>
          <a:xfrm>
            <a:off x="2231136" y="3899917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2 600–5 200 zł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3456432" y="3899917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9" name="Text 117"/>
          <p:cNvSpPr/>
          <p:nvPr/>
        </p:nvSpPr>
        <p:spPr>
          <a:xfrm>
            <a:off x="3511296" y="3899917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7 800–11 700 zł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4736592" y="3899917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1" name="Text 119"/>
          <p:cNvSpPr/>
          <p:nvPr/>
        </p:nvSpPr>
        <p:spPr>
          <a:xfrm>
            <a:off x="4791456" y="3899917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13 000–19 500 zł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6016752" y="3899917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3" name="Text 121"/>
          <p:cNvSpPr/>
          <p:nvPr/>
        </p:nvSpPr>
        <p:spPr>
          <a:xfrm>
            <a:off x="6071616" y="3899917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19 500–32 500 zł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7296912" y="3899917"/>
            <a:ext cx="129844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5" name="Text 123"/>
          <p:cNvSpPr/>
          <p:nvPr/>
        </p:nvSpPr>
        <p:spPr>
          <a:xfrm>
            <a:off x="7351776" y="3899917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~190 000 zł est.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256032" y="4155949"/>
            <a:ext cx="190195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7" name="Text 125"/>
          <p:cNvSpPr/>
          <p:nvPr/>
        </p:nvSpPr>
        <p:spPr>
          <a:xfrm>
            <a:off x="310896" y="4155949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Prowizja Allegro (~8%)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176272" y="4155949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9" name="Text 127"/>
          <p:cNvSpPr/>
          <p:nvPr/>
        </p:nvSpPr>
        <p:spPr>
          <a:xfrm>
            <a:off x="2231136" y="415594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208–416 zł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3456432" y="4155949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1" name="Text 129"/>
          <p:cNvSpPr/>
          <p:nvPr/>
        </p:nvSpPr>
        <p:spPr>
          <a:xfrm>
            <a:off x="3511296" y="415594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624–936 zł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4736592" y="4155949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3" name="Text 131"/>
          <p:cNvSpPr/>
          <p:nvPr/>
        </p:nvSpPr>
        <p:spPr>
          <a:xfrm>
            <a:off x="4791456" y="415594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1 040–1 560 zł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6016752" y="4155949"/>
            <a:ext cx="1261872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5" name="Text 133"/>
          <p:cNvSpPr/>
          <p:nvPr/>
        </p:nvSpPr>
        <p:spPr>
          <a:xfrm>
            <a:off x="6071616" y="415594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1 560–2 600 zł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7296912" y="4155949"/>
            <a:ext cx="1298448" cy="25603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7" name="Text 135"/>
          <p:cNvSpPr/>
          <p:nvPr/>
        </p:nvSpPr>
        <p:spPr>
          <a:xfrm>
            <a:off x="7351776" y="4155949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~15 200 zł est.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256032" y="4411981"/>
            <a:ext cx="190195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9" name="Text 137"/>
          <p:cNvSpPr/>
          <p:nvPr/>
        </p:nvSpPr>
        <p:spPr>
          <a:xfrm>
            <a:off x="310896" y="4411981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Allegro Ads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2176272" y="4411981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1" name="Text 139"/>
          <p:cNvSpPr/>
          <p:nvPr/>
        </p:nvSpPr>
        <p:spPr>
          <a:xfrm>
            <a:off x="2231136" y="4411981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3456432" y="4411981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3" name="Text 141"/>
          <p:cNvSpPr/>
          <p:nvPr/>
        </p:nvSpPr>
        <p:spPr>
          <a:xfrm>
            <a:off x="3511296" y="4411981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&gt;3x (od M3)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4736592" y="4411981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5" name="Text 143"/>
          <p:cNvSpPr/>
          <p:nvPr/>
        </p:nvSpPr>
        <p:spPr>
          <a:xfrm>
            <a:off x="4791456" y="4411981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&gt;4x (od M5)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6016752" y="4411981"/>
            <a:ext cx="126187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7" name="Text 145"/>
          <p:cNvSpPr/>
          <p:nvPr/>
        </p:nvSpPr>
        <p:spPr>
          <a:xfrm>
            <a:off x="6071616" y="4411981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&gt;4,5x (od M7)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7296912" y="4411981"/>
            <a:ext cx="1298448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9" name="Text 147"/>
          <p:cNvSpPr/>
          <p:nvPr/>
        </p:nvSpPr>
        <p:spPr>
          <a:xfrm>
            <a:off x="7351776" y="4411981"/>
            <a:ext cx="1225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średni: &gt;3,5x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HARMONOGRAM – ALLEGRO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działań krok po kroku.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60704"/>
            <a:ext cx="4224528" cy="180365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224528" cy="347472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1  |  Mies. 1–2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48132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konta i oferty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609344"/>
            <a:ext cx="4005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Założenie konta sprzedawcy Allegro (lub weryfikacja istniejącego)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Przygotowanie feedu produktowego: 2 smaki × 3 warianty (1szt, 6-pak, 12-pak)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Sesja fotograficzna Allegro: białe tło + lifestyle + infografiki składu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 tytułów i opisów – 75 znaków, słowa kluczowe w tytule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Zbieranie próbkowe opinii: wysyłka do 50 testerów przed launchem reklam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718304" y="1060704"/>
            <a:ext cx="4224528" cy="180365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4718304" y="1060704"/>
            <a:ext cx="4224528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828032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2  |  Mies. 3–4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28032" y="1481328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Allegro Ads + Smart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28032" y="1609344"/>
            <a:ext cx="4005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Uruchomienie Sponsored Product na frazy: 'napój białkowy', 'clear whey', 'protein water'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Dołączenie do Allegro Smart! – darmowa dostawa od 40 zł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Pay aktywacja – zwiększa konwersję o 15–20%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retargeting na odwiedzających ofertę Volté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Pierwszy kupon: -15% na pierwsze zamówienie dla nowych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3035808"/>
            <a:ext cx="4224528" cy="180365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4224528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84048" y="30998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3  |  Mies. 5–6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4048" y="34564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 i skalowanie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554730"/>
            <a:ext cx="4005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CTR i ROAS per fraza – wyłącz nierentowne, skaluj best performersy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Dodaj negatywne słowa kluczowe (proszek, vegan, darmowy itp.)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Bundle: 6-pak jako flagowy SKU z najlepszą ceną jednostkową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Kampania Display: bannery w kategorii suplementy – top 5 miast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 tytułów ofert – 2 warianty, ocena po 2 tygodniach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18304" y="3035808"/>
            <a:ext cx="4224528" cy="1803654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718304" y="3035808"/>
            <a:ext cx="4224528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828032" y="30998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KROK 4  |  Mies. 7–9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34564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 i ekspansja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551791"/>
            <a:ext cx="400507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Kupony retencja: -10% dla powracających kupujących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Rozszerzenie na 3. smak (nowy SKU) – oferta zbiorcza wszystkich smaków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Lokalnie / Box – punkty odbioru przy siłowniach partnerskich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Analiza pełna ROI: przychód – prowizja – koszty Ads = marża netto</a:t>
            </a:r>
            <a:endParaRPr lang="en-US" sz="8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ogólnopolski: Allegro jako #2 kanał sprzedaży (po D2C)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6868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8500" dirty="0"/>
          </a:p>
        </p:txBody>
      </p:sp>
      <p:sp>
        <p:nvSpPr>
          <p:cNvPr id="3" name="Shape 1"/>
          <p:cNvSpPr/>
          <p:nvPr/>
        </p:nvSpPr>
        <p:spPr>
          <a:xfrm>
            <a:off x="502920" y="2395728"/>
            <a:ext cx="4389120" cy="36576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Allegro jako kanał #2 sprzedaży.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33 000 ZŁ ALLEGRO ADS  |  9 MIESIĘCY  |  ~15 000 SZT. CEL  |  ROAS &gt;3,5x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4041648"/>
            <a:ext cx="2633472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33 000 zł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Allegro Ads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4041648"/>
            <a:ext cx="2633472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~190k zł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przychód 9M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4041648"/>
            <a:ext cx="2633472" cy="1097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309360" y="413308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3,5x+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4663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ROAS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57400"/>
            <a:ext cx="475488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LEJEK MARKETINGOWY – GOOGLE ADS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| Display | Shopping | YouTube | Performance Max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– broad keywords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ROZWAŻANIE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 – retargeting, DSA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114800"/>
            <a:ext cx="260604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60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44348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brand, exact match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STRUKTURA LEJKA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Google Ads prowadzi klienta od szukania do zakupu.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" y="1261872"/>
            <a:ext cx="8412480" cy="841248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54864" cy="8412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75488" y="12984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49961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ŚWIADOMOŚĆ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31673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Search broad + YouTube bumper 6s + Display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920240" y="151790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kluczowe: broad match, DSA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20240" y="170078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Intencja: Nie znają Volté – szukają 'napój proteinowy', 'clear whey'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73952" y="131673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20%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73952" y="151790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 &gt;500k | CTR &gt;1,5% | CPM &lt;35 zł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13232" y="2157984"/>
            <a:ext cx="7680960" cy="841248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713232" y="2157984"/>
            <a:ext cx="54864" cy="84124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841248" y="2194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" y="239572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ROZWAŻANIE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86000" y="221284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Search phrase + Display retargeting + Discovery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86000" y="2414016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kluczowe: phrase match, remarketing lists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86000" y="25968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Intencja: Porównują produkty – szukają 'volte białko', 'clear whey bez cukru'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108192" y="2212848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30%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08192" y="241401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&gt;3% | Czas na LP &gt;1:30 | Scroll depth &gt;60%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078992" y="3054096"/>
            <a:ext cx="6949440" cy="841248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1078992" y="3054096"/>
            <a:ext cx="54864" cy="84124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1207008" y="3090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07008" y="32918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310896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Search exact + Shopping + Performance Max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651760" y="3310128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kluczowe: exact match, brand keywords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651760" y="34930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Intencja: Gotowi do zakupu – szukają 'volte kup', 'volte sklep'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742432" y="3108960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A43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40%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42432" y="331012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&gt;3,5x | CPO &lt;28 zł | Konwersja &gt;5%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444752" y="3950208"/>
            <a:ext cx="6217920" cy="841248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1444752" y="3950208"/>
            <a:ext cx="54864" cy="84124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1572768" y="3986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72768" y="418795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RETENCJA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17520" y="400507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Search RLSA + Gmail Ads + YouTube retargeting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17520" y="4206240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Słowa kluczowe: brand + RLSA (returning customers)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017520" y="4389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Intencja: Wracają po nowy smak / polecają znajomym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376672" y="400507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10%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76672" y="420624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 &gt;35% | LTV &gt;3x AOV | NPS &gt;45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STRUKTURA KAMPANII GOOGLE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typów kampanii. Każda rola w lejku.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4224528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362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SEARCH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362456"/>
            <a:ext cx="1133856" cy="21945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91840" y="136245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57200" y="17465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volte, volte białko, volte clear whey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57200" y="22037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377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napój białkowy, clear whey, protein water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57200" y="26609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brainmax whey, myprotein clear, freeway protein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4048" y="2779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  ≈  ~45 000 zł/9mies.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18304" y="1298448"/>
            <a:ext cx="4224528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718304" y="1298448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828032" y="136245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PERFORMANCE MAX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35824" y="1362456"/>
            <a:ext cx="1133856" cy="219456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7735824" y="136245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809744" y="171907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901184" y="17465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Sklep D2C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01184" y="19202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Wszystkie produkty Volté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09744" y="217627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901184" y="220370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Żabka Launch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01184" y="237744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Geo: top 5 miast, 2km od sklepów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28032" y="277977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 ≈  ~32 000 zł/9mies.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74320" y="3264408"/>
            <a:ext cx="4224528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274320" y="3264408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84048" y="3328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📺  DISPLAY + YOUTUBE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91840" y="3328416"/>
            <a:ext cx="1133856" cy="219456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3291840" y="332841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65760" y="368503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57200" y="37124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Bumper 6s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57200" y="388620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In-stream niepolisalne – TOFU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65760" y="414223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457200" y="41696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Retargeting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34340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Odwiedzający LP &gt;30 sek.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84048" y="47457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 ≈  ~32 000 zł/9mies.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18304" y="3264408"/>
            <a:ext cx="4224528" cy="182880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Shape 42"/>
          <p:cNvSpPr/>
          <p:nvPr/>
        </p:nvSpPr>
        <p:spPr>
          <a:xfrm>
            <a:off x="4718304" y="3264408"/>
            <a:ext cx="4224528" cy="347472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4828032" y="332841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SHOPPING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735824" y="3328416"/>
            <a:ext cx="1133856" cy="219456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7735824" y="3328416"/>
            <a:ext cx="1133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809744" y="368503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4901184" y="37124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Shopping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901184" y="388620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produktowy z ceną i zdjęciem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809744" y="4142232"/>
            <a:ext cx="4041648" cy="402336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4901184" y="416966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Center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901184" y="434340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Optymalizacja feedu: tytuł, cena, dostępność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28032" y="4745736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≈  ~19 000 zł/9mies.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47D22-610E-2410-41F5-C1AB7472D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8B53A7D-2044-C2DA-EF35-FDAB2CB04636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SŁOWA KLUCZOWE – PLAN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C06B37-F4DA-87C3-8FCD-604D363CCAF4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 słów kluczowych dla Volté.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7806022-9DE8-8FC4-67FC-BB21545BDB65}"/>
              </a:ext>
            </a:extLst>
          </p:cNvPr>
          <p:cNvSpPr/>
          <p:nvPr/>
        </p:nvSpPr>
        <p:spPr>
          <a:xfrm>
            <a:off x="256032" y="1261872"/>
            <a:ext cx="8631936" cy="2011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8935D4-980A-15E0-5179-A82C778F7F08}"/>
              </a:ext>
            </a:extLst>
          </p:cNvPr>
          <p:cNvSpPr/>
          <p:nvPr/>
        </p:nvSpPr>
        <p:spPr>
          <a:xfrm>
            <a:off x="347472" y="12618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(Exact)</a:t>
            </a:r>
            <a:endParaRPr lang="en-US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CF4428-10E8-0327-603E-76AB87268A7E}"/>
              </a:ext>
            </a:extLst>
          </p:cNvPr>
          <p:cNvSpPr/>
          <p:nvPr/>
        </p:nvSpPr>
        <p:spPr>
          <a:xfrm>
            <a:off x="256032" y="1463040"/>
            <a:ext cx="190195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1498B86-A924-A5B3-E673-A2DE9463252C}"/>
              </a:ext>
            </a:extLst>
          </p:cNvPr>
          <p:cNvSpPr/>
          <p:nvPr/>
        </p:nvSpPr>
        <p:spPr>
          <a:xfrm>
            <a:off x="310896" y="14630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0A604D-9D0C-55D6-B355-3897C9097526}"/>
              </a:ext>
            </a:extLst>
          </p:cNvPr>
          <p:cNvSpPr/>
          <p:nvPr/>
        </p:nvSpPr>
        <p:spPr>
          <a:xfrm>
            <a:off x="2176272" y="1463040"/>
            <a:ext cx="75895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29C7B6-E001-38F4-1512-686F5A657E9D}"/>
              </a:ext>
            </a:extLst>
          </p:cNvPr>
          <p:cNvSpPr/>
          <p:nvPr/>
        </p:nvSpPr>
        <p:spPr>
          <a:xfrm>
            <a:off x="2231136" y="146304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8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4AB5C8D-3B34-E525-656A-44FBD0A7D826}"/>
              </a:ext>
            </a:extLst>
          </p:cNvPr>
          <p:cNvSpPr/>
          <p:nvPr/>
        </p:nvSpPr>
        <p:spPr>
          <a:xfrm>
            <a:off x="2953512" y="1463040"/>
            <a:ext cx="80467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E228481-A129-645E-A332-0D8E23D556D4}"/>
              </a:ext>
            </a:extLst>
          </p:cNvPr>
          <p:cNvSpPr/>
          <p:nvPr/>
        </p:nvSpPr>
        <p:spPr>
          <a:xfrm>
            <a:off x="3008376" y="146304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Bardzo wysoka</a:t>
            </a:r>
            <a:endParaRPr lang="en-US" sz="8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F30D72E-1E5A-7B4D-0456-8862B1AEF212}"/>
              </a:ext>
            </a:extLst>
          </p:cNvPr>
          <p:cNvSpPr/>
          <p:nvPr/>
        </p:nvSpPr>
        <p:spPr>
          <a:xfrm>
            <a:off x="3776472" y="1463040"/>
            <a:ext cx="694944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3118DBA-1689-F4DF-1304-67852418B541}"/>
              </a:ext>
            </a:extLst>
          </p:cNvPr>
          <p:cNvSpPr/>
          <p:nvPr/>
        </p:nvSpPr>
        <p:spPr>
          <a:xfrm>
            <a:off x="3831336" y="146304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1,50 zł</a:t>
            </a:r>
            <a:endParaRPr lang="en-US" sz="8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7A6DC29-CAD2-566D-AB87-012BD7A516C4}"/>
              </a:ext>
            </a:extLst>
          </p:cNvPr>
          <p:cNvSpPr/>
          <p:nvPr/>
        </p:nvSpPr>
        <p:spPr>
          <a:xfrm>
            <a:off x="4489704" y="1463040"/>
            <a:ext cx="3246120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9F1D05F-4849-35B4-813B-BE00C7E82EC9}"/>
              </a:ext>
            </a:extLst>
          </p:cNvPr>
          <p:cNvSpPr/>
          <p:nvPr/>
        </p:nvSpPr>
        <p:spPr>
          <a:xfrm>
            <a:off x="4544568" y="1463040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protection – zawsze włączone</a:t>
            </a:r>
            <a:endParaRPr lang="en-US" sz="8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DA1806D-6CA9-CF2B-59EC-0CC45AEE5A80}"/>
              </a:ext>
            </a:extLst>
          </p:cNvPr>
          <p:cNvSpPr/>
          <p:nvPr/>
        </p:nvSpPr>
        <p:spPr>
          <a:xfrm>
            <a:off x="256032" y="1700784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7DF06CA-796B-D087-3D64-E822E0BD292C}"/>
              </a:ext>
            </a:extLst>
          </p:cNvPr>
          <p:cNvSpPr/>
          <p:nvPr/>
        </p:nvSpPr>
        <p:spPr>
          <a:xfrm>
            <a:off x="310896" y="17007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białko</a:t>
            </a:r>
            <a:endParaRPr lang="en-US" sz="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1FFCFEC-83FC-0601-1D85-D13B777B6A1A}"/>
              </a:ext>
            </a:extLst>
          </p:cNvPr>
          <p:cNvSpPr/>
          <p:nvPr/>
        </p:nvSpPr>
        <p:spPr>
          <a:xfrm>
            <a:off x="2176272" y="1700784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48D9DA7-B07B-D030-0E32-65AC96AD1411}"/>
              </a:ext>
            </a:extLst>
          </p:cNvPr>
          <p:cNvSpPr/>
          <p:nvPr/>
        </p:nvSpPr>
        <p:spPr>
          <a:xfrm>
            <a:off x="2231136" y="170078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8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BD4E5B3-722E-E4DE-6AB7-5BC70F702DDD}"/>
              </a:ext>
            </a:extLst>
          </p:cNvPr>
          <p:cNvSpPr/>
          <p:nvPr/>
        </p:nvSpPr>
        <p:spPr>
          <a:xfrm>
            <a:off x="2953512" y="1700784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80708E7-3D52-5B5A-AECC-32327E08981F}"/>
              </a:ext>
            </a:extLst>
          </p:cNvPr>
          <p:cNvSpPr/>
          <p:nvPr/>
        </p:nvSpPr>
        <p:spPr>
          <a:xfrm>
            <a:off x="3008376" y="170078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Bardzo wysoka</a:t>
            </a:r>
            <a:endParaRPr lang="en-US" sz="8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82B46CC-34CD-4D51-53D4-4640FC8E5D47}"/>
              </a:ext>
            </a:extLst>
          </p:cNvPr>
          <p:cNvSpPr/>
          <p:nvPr/>
        </p:nvSpPr>
        <p:spPr>
          <a:xfrm>
            <a:off x="3776472" y="1700784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83313F4-F332-17BE-4851-B8E4A6C6DEA4}"/>
              </a:ext>
            </a:extLst>
          </p:cNvPr>
          <p:cNvSpPr/>
          <p:nvPr/>
        </p:nvSpPr>
        <p:spPr>
          <a:xfrm>
            <a:off x="3831336" y="170078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1,80 zł</a:t>
            </a:r>
            <a:endParaRPr lang="en-US" sz="8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2559C87-E418-1EA3-D215-23935DF0A246}"/>
              </a:ext>
            </a:extLst>
          </p:cNvPr>
          <p:cNvSpPr/>
          <p:nvPr/>
        </p:nvSpPr>
        <p:spPr>
          <a:xfrm>
            <a:off x="4489704" y="1700784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C14E980-A6F4-0E69-158B-2A26ABD3D54E}"/>
              </a:ext>
            </a:extLst>
          </p:cNvPr>
          <p:cNvSpPr/>
          <p:nvPr/>
        </p:nvSpPr>
        <p:spPr>
          <a:xfrm>
            <a:off x="4544568" y="1700784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Bezpośrednia intencja zakupowa</a:t>
            </a:r>
            <a:endParaRPr lang="en-US" sz="8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9592122-3AF3-C59A-FDC9-5128D6D1C9A2}"/>
              </a:ext>
            </a:extLst>
          </p:cNvPr>
          <p:cNvSpPr/>
          <p:nvPr/>
        </p:nvSpPr>
        <p:spPr>
          <a:xfrm>
            <a:off x="256032" y="1938528"/>
            <a:ext cx="190195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583051F-BA9A-D21D-E4B8-312C67A1104C}"/>
              </a:ext>
            </a:extLst>
          </p:cNvPr>
          <p:cNvSpPr/>
          <p:nvPr/>
        </p:nvSpPr>
        <p:spPr>
          <a:xfrm>
            <a:off x="310896" y="19385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napój</a:t>
            </a:r>
            <a:endParaRPr lang="en-US" sz="8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4204E74-1FA8-29D4-50AA-8C232A1B82A7}"/>
              </a:ext>
            </a:extLst>
          </p:cNvPr>
          <p:cNvSpPr/>
          <p:nvPr/>
        </p:nvSpPr>
        <p:spPr>
          <a:xfrm>
            <a:off x="2176272" y="1938528"/>
            <a:ext cx="75895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F426A12-1F5A-FA86-6EAA-1AF7E7B980B1}"/>
              </a:ext>
            </a:extLst>
          </p:cNvPr>
          <p:cNvSpPr/>
          <p:nvPr/>
        </p:nvSpPr>
        <p:spPr>
          <a:xfrm>
            <a:off x="2231136" y="193852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8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DC479A27-1CAD-C875-3BF4-B27C3817C8FF}"/>
              </a:ext>
            </a:extLst>
          </p:cNvPr>
          <p:cNvSpPr/>
          <p:nvPr/>
        </p:nvSpPr>
        <p:spPr>
          <a:xfrm>
            <a:off x="2953512" y="1938528"/>
            <a:ext cx="804672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3048F9C-DC0D-829F-1671-0C48774DA3F5}"/>
              </a:ext>
            </a:extLst>
          </p:cNvPr>
          <p:cNvSpPr/>
          <p:nvPr/>
        </p:nvSpPr>
        <p:spPr>
          <a:xfrm>
            <a:off x="3008376" y="19385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8A1FE9A-D094-56D6-04B2-66279702B140}"/>
              </a:ext>
            </a:extLst>
          </p:cNvPr>
          <p:cNvSpPr/>
          <p:nvPr/>
        </p:nvSpPr>
        <p:spPr>
          <a:xfrm>
            <a:off x="3776472" y="1938528"/>
            <a:ext cx="694944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5E20021-5C1D-8F19-3EAF-8794F30B5583}"/>
              </a:ext>
            </a:extLst>
          </p:cNvPr>
          <p:cNvSpPr/>
          <p:nvPr/>
        </p:nvSpPr>
        <p:spPr>
          <a:xfrm>
            <a:off x="3831336" y="193852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1,60 zł</a:t>
            </a:r>
            <a:endParaRPr lang="en-US" sz="8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2C8C1DA9-E122-AD79-EDDF-DC8AD5349257}"/>
              </a:ext>
            </a:extLst>
          </p:cNvPr>
          <p:cNvSpPr/>
          <p:nvPr/>
        </p:nvSpPr>
        <p:spPr>
          <a:xfrm>
            <a:off x="4489704" y="1938528"/>
            <a:ext cx="3246120" cy="237744"/>
          </a:xfrm>
          <a:prstGeom prst="rect">
            <a:avLst/>
          </a:prstGeom>
          <a:solidFill>
            <a:srgbClr val="E3F2FD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DE603E28-9B8B-8C75-3EDF-B2AEB7993C1B}"/>
              </a:ext>
            </a:extLst>
          </p:cNvPr>
          <p:cNvSpPr/>
          <p:nvPr/>
        </p:nvSpPr>
        <p:spPr>
          <a:xfrm>
            <a:off x="4544568" y="1938528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Powracający klienci</a:t>
            </a:r>
            <a:endParaRPr lang="en-US" sz="8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5CCDF4C-3AE7-60C2-AF93-553FD53F0D6A}"/>
              </a:ext>
            </a:extLst>
          </p:cNvPr>
          <p:cNvSpPr/>
          <p:nvPr/>
        </p:nvSpPr>
        <p:spPr>
          <a:xfrm>
            <a:off x="256032" y="2176272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FC14F2B-B3CC-C0D6-2D43-57E833A9F152}"/>
              </a:ext>
            </a:extLst>
          </p:cNvPr>
          <p:cNvSpPr/>
          <p:nvPr/>
        </p:nvSpPr>
        <p:spPr>
          <a:xfrm>
            <a:off x="310896" y="217627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sklep</a:t>
            </a:r>
            <a:endParaRPr lang="en-US" sz="8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696C70BE-EB9A-7100-16B3-E2845AFCFEB7}"/>
              </a:ext>
            </a:extLst>
          </p:cNvPr>
          <p:cNvSpPr/>
          <p:nvPr/>
        </p:nvSpPr>
        <p:spPr>
          <a:xfrm>
            <a:off x="2176272" y="2176272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5E397064-972E-F643-8571-4671640C914B}"/>
              </a:ext>
            </a:extLst>
          </p:cNvPr>
          <p:cNvSpPr/>
          <p:nvPr/>
        </p:nvSpPr>
        <p:spPr>
          <a:xfrm>
            <a:off x="2231136" y="217627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80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5ED3916-AA92-75AF-1504-80AA6903BFDA}"/>
              </a:ext>
            </a:extLst>
          </p:cNvPr>
          <p:cNvSpPr/>
          <p:nvPr/>
        </p:nvSpPr>
        <p:spPr>
          <a:xfrm>
            <a:off x="2953512" y="217627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2AADF07-A8E6-4625-8E56-22469BB9AC7A}"/>
              </a:ext>
            </a:extLst>
          </p:cNvPr>
          <p:cNvSpPr/>
          <p:nvPr/>
        </p:nvSpPr>
        <p:spPr>
          <a:xfrm>
            <a:off x="3008376" y="217627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38D2DC3-F0D6-FA58-B24D-F2F33824AB71}"/>
              </a:ext>
            </a:extLst>
          </p:cNvPr>
          <p:cNvSpPr/>
          <p:nvPr/>
        </p:nvSpPr>
        <p:spPr>
          <a:xfrm>
            <a:off x="3776472" y="217627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3B38895-F576-C9A4-06ED-D7A0FBBB457F}"/>
              </a:ext>
            </a:extLst>
          </p:cNvPr>
          <p:cNvSpPr/>
          <p:nvPr/>
        </p:nvSpPr>
        <p:spPr>
          <a:xfrm>
            <a:off x="3831336" y="217627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1,40 zł</a:t>
            </a:r>
            <a:endParaRPr lang="en-US" sz="8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F7FE2CA-BE20-0417-C6ED-AE0A04A5226E}"/>
              </a:ext>
            </a:extLst>
          </p:cNvPr>
          <p:cNvSpPr/>
          <p:nvPr/>
        </p:nvSpPr>
        <p:spPr>
          <a:xfrm>
            <a:off x="4489704" y="2176272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A81F50C-DAD8-ED23-23D0-E40D3CD8096E}"/>
              </a:ext>
            </a:extLst>
          </p:cNvPr>
          <p:cNvSpPr/>
          <p:nvPr/>
        </p:nvSpPr>
        <p:spPr>
          <a:xfrm>
            <a:off x="4544568" y="2176272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gotowi do zakupu</a:t>
            </a:r>
            <a:endParaRPr lang="en-US" sz="8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989A430-E04A-F2C3-0693-E311D0F3B724}"/>
              </a:ext>
            </a:extLst>
          </p:cNvPr>
          <p:cNvSpPr/>
          <p:nvPr/>
        </p:nvSpPr>
        <p:spPr>
          <a:xfrm>
            <a:off x="256032" y="2468880"/>
            <a:ext cx="8631936" cy="20116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A08A3C9E-7B60-A475-0352-4E651EF5A18E}"/>
              </a:ext>
            </a:extLst>
          </p:cNvPr>
          <p:cNvSpPr/>
          <p:nvPr/>
        </p:nvSpPr>
        <p:spPr>
          <a:xfrm>
            <a:off x="347472" y="2468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(Phrase/Broad)</a:t>
            </a:r>
            <a:endParaRPr lang="en-US" sz="8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5335254D-4A94-1692-6D33-3FCC963DC29B}"/>
              </a:ext>
            </a:extLst>
          </p:cNvPr>
          <p:cNvSpPr/>
          <p:nvPr/>
        </p:nvSpPr>
        <p:spPr>
          <a:xfrm>
            <a:off x="256032" y="2670048"/>
            <a:ext cx="1901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29622198-21B9-8ED5-944A-1622AC1F1FDB}"/>
              </a:ext>
            </a:extLst>
          </p:cNvPr>
          <p:cNvSpPr/>
          <p:nvPr/>
        </p:nvSpPr>
        <p:spPr>
          <a:xfrm>
            <a:off x="310896" y="267004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napój białkowy bez cukru</a:t>
            </a:r>
            <a:endParaRPr lang="en-US" sz="8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FC273A8F-220B-3EEE-B070-847DC065E576}"/>
              </a:ext>
            </a:extLst>
          </p:cNvPr>
          <p:cNvSpPr/>
          <p:nvPr/>
        </p:nvSpPr>
        <p:spPr>
          <a:xfrm>
            <a:off x="2176272" y="2670048"/>
            <a:ext cx="758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D6C7EB3C-5BB0-92BB-1FF3-82A728A22C5D}"/>
              </a:ext>
            </a:extLst>
          </p:cNvPr>
          <p:cNvSpPr/>
          <p:nvPr/>
        </p:nvSpPr>
        <p:spPr>
          <a:xfrm>
            <a:off x="2231136" y="267004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01C7ED33-65B0-A9CD-C8E6-F8DE2F719BE3}"/>
              </a:ext>
            </a:extLst>
          </p:cNvPr>
          <p:cNvSpPr/>
          <p:nvPr/>
        </p:nvSpPr>
        <p:spPr>
          <a:xfrm>
            <a:off x="2953512" y="2670048"/>
            <a:ext cx="80467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6C7BF3AB-F14C-8F4C-CADD-2669C7BC8A42}"/>
              </a:ext>
            </a:extLst>
          </p:cNvPr>
          <p:cNvSpPr/>
          <p:nvPr/>
        </p:nvSpPr>
        <p:spPr>
          <a:xfrm>
            <a:off x="3008376" y="267004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7BA0294-253A-4097-BA22-EFCC5CEF53DD}"/>
              </a:ext>
            </a:extLst>
          </p:cNvPr>
          <p:cNvSpPr/>
          <p:nvPr/>
        </p:nvSpPr>
        <p:spPr>
          <a:xfrm>
            <a:off x="3776472" y="2670048"/>
            <a:ext cx="6949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AE691E99-E7B7-AF91-C3F4-BB350F91FEE2}"/>
              </a:ext>
            </a:extLst>
          </p:cNvPr>
          <p:cNvSpPr/>
          <p:nvPr/>
        </p:nvSpPr>
        <p:spPr>
          <a:xfrm>
            <a:off x="3831336" y="267004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3,50 zł</a:t>
            </a:r>
            <a:endParaRPr lang="en-US" sz="8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CC87F1E4-DAC8-ABCB-2DC9-8B088E0FC028}"/>
              </a:ext>
            </a:extLst>
          </p:cNvPr>
          <p:cNvSpPr/>
          <p:nvPr/>
        </p:nvSpPr>
        <p:spPr>
          <a:xfrm>
            <a:off x="4489704" y="2670048"/>
            <a:ext cx="324612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B4589DD8-1C55-CCBA-8B38-D7E0D86F8512}"/>
              </a:ext>
            </a:extLst>
          </p:cNvPr>
          <p:cNvSpPr/>
          <p:nvPr/>
        </p:nvSpPr>
        <p:spPr>
          <a:xfrm>
            <a:off x="4544568" y="2670048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TG1+TG2 – główna fraza</a:t>
            </a:r>
            <a:endParaRPr lang="en-US" sz="8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FB566E8-3980-D381-3557-70BEBF832E2B}"/>
              </a:ext>
            </a:extLst>
          </p:cNvPr>
          <p:cNvSpPr/>
          <p:nvPr/>
        </p:nvSpPr>
        <p:spPr>
          <a:xfrm>
            <a:off x="256032" y="2907792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F838E4F-B9C3-93D9-5B29-7E2A41A3C938}"/>
              </a:ext>
            </a:extLst>
          </p:cNvPr>
          <p:cNvSpPr/>
          <p:nvPr/>
        </p:nvSpPr>
        <p:spPr>
          <a:xfrm>
            <a:off x="310896" y="2907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whey polska</a:t>
            </a:r>
            <a:endParaRPr lang="en-US" sz="8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BED26A28-19B0-7C4A-BCA5-6CC56BEFCF62}"/>
              </a:ext>
            </a:extLst>
          </p:cNvPr>
          <p:cNvSpPr/>
          <p:nvPr/>
        </p:nvSpPr>
        <p:spPr>
          <a:xfrm>
            <a:off x="2176272" y="2907792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C4501503-FF4F-1F61-DCE4-6EE804A046DD}"/>
              </a:ext>
            </a:extLst>
          </p:cNvPr>
          <p:cNvSpPr/>
          <p:nvPr/>
        </p:nvSpPr>
        <p:spPr>
          <a:xfrm>
            <a:off x="2231136" y="2907792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230C4F13-4D9F-30D9-78A8-6E1D2F2E0B6B}"/>
              </a:ext>
            </a:extLst>
          </p:cNvPr>
          <p:cNvSpPr/>
          <p:nvPr/>
        </p:nvSpPr>
        <p:spPr>
          <a:xfrm>
            <a:off x="2953512" y="2907792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905A82F-5258-4A9A-8E9E-9196019A0F47}"/>
              </a:ext>
            </a:extLst>
          </p:cNvPr>
          <p:cNvSpPr/>
          <p:nvPr/>
        </p:nvSpPr>
        <p:spPr>
          <a:xfrm>
            <a:off x="3008376" y="290779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FE430D3A-ED3F-B8F2-7208-54C352D61BF4}"/>
              </a:ext>
            </a:extLst>
          </p:cNvPr>
          <p:cNvSpPr/>
          <p:nvPr/>
        </p:nvSpPr>
        <p:spPr>
          <a:xfrm>
            <a:off x="3776472" y="2907792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1C1F991-5A2D-690C-E1B7-A6DC3365F996}"/>
              </a:ext>
            </a:extLst>
          </p:cNvPr>
          <p:cNvSpPr/>
          <p:nvPr/>
        </p:nvSpPr>
        <p:spPr>
          <a:xfrm>
            <a:off x="3831336" y="2907792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3,00 zł</a:t>
            </a:r>
            <a:endParaRPr lang="en-US" sz="8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3D0AF574-10BB-0164-68E1-DA8856255323}"/>
              </a:ext>
            </a:extLst>
          </p:cNvPr>
          <p:cNvSpPr/>
          <p:nvPr/>
        </p:nvSpPr>
        <p:spPr>
          <a:xfrm>
            <a:off x="4489704" y="2907792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248E71D2-F999-050E-1AF4-15354BF8B3E0}"/>
              </a:ext>
            </a:extLst>
          </p:cNvPr>
          <p:cNvSpPr/>
          <p:nvPr/>
        </p:nvSpPr>
        <p:spPr>
          <a:xfrm>
            <a:off x="4544568" y="2907792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Niszowy, ale wysokiej intencji</a:t>
            </a:r>
            <a:endParaRPr lang="en-US" sz="8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D1B54F9A-03BE-1487-FE87-3DEC3980E71B}"/>
              </a:ext>
            </a:extLst>
          </p:cNvPr>
          <p:cNvSpPr/>
          <p:nvPr/>
        </p:nvSpPr>
        <p:spPr>
          <a:xfrm>
            <a:off x="256032" y="3145536"/>
            <a:ext cx="1901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AA3725BA-7199-3A11-C4F0-F55F6FBA0009}"/>
              </a:ext>
            </a:extLst>
          </p:cNvPr>
          <p:cNvSpPr/>
          <p:nvPr/>
        </p:nvSpPr>
        <p:spPr>
          <a:xfrm>
            <a:off x="310896" y="31455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water</a:t>
            </a:r>
            <a:endParaRPr lang="en-US" sz="8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EB315886-E65A-EAF6-2CCD-53659E5C203D}"/>
              </a:ext>
            </a:extLst>
          </p:cNvPr>
          <p:cNvSpPr/>
          <p:nvPr/>
        </p:nvSpPr>
        <p:spPr>
          <a:xfrm>
            <a:off x="2176272" y="3145536"/>
            <a:ext cx="758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2B073833-3859-295C-3FA2-3EEABD2406CE}"/>
              </a:ext>
            </a:extLst>
          </p:cNvPr>
          <p:cNvSpPr/>
          <p:nvPr/>
        </p:nvSpPr>
        <p:spPr>
          <a:xfrm>
            <a:off x="2231136" y="3145536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MOD</a:t>
            </a:r>
            <a:endParaRPr lang="en-US" sz="8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3D9FFCA0-2E4B-ADEB-261A-390648CCD0C8}"/>
              </a:ext>
            </a:extLst>
          </p:cNvPr>
          <p:cNvSpPr/>
          <p:nvPr/>
        </p:nvSpPr>
        <p:spPr>
          <a:xfrm>
            <a:off x="2953512" y="3145536"/>
            <a:ext cx="80467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9CD8DD26-90D4-A71A-7AE7-5F47C509B150}"/>
              </a:ext>
            </a:extLst>
          </p:cNvPr>
          <p:cNvSpPr/>
          <p:nvPr/>
        </p:nvSpPr>
        <p:spPr>
          <a:xfrm>
            <a:off x="3008376" y="314553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Średnia</a:t>
            </a:r>
            <a:endParaRPr lang="en-US" sz="8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B3CAEDF4-5C9E-EB67-FF3A-7441250C0142}"/>
              </a:ext>
            </a:extLst>
          </p:cNvPr>
          <p:cNvSpPr/>
          <p:nvPr/>
        </p:nvSpPr>
        <p:spPr>
          <a:xfrm>
            <a:off x="3776472" y="3145536"/>
            <a:ext cx="6949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4BA256AE-2CE3-6FE5-ED58-F3C7552A91AC}"/>
              </a:ext>
            </a:extLst>
          </p:cNvPr>
          <p:cNvSpPr/>
          <p:nvPr/>
        </p:nvSpPr>
        <p:spPr>
          <a:xfrm>
            <a:off x="3831336" y="3145536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2,80 zł</a:t>
            </a:r>
            <a:endParaRPr lang="en-US" sz="8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D86AAB26-A7FC-EA01-8779-49589BFB39F1}"/>
              </a:ext>
            </a:extLst>
          </p:cNvPr>
          <p:cNvSpPr/>
          <p:nvPr/>
        </p:nvSpPr>
        <p:spPr>
          <a:xfrm>
            <a:off x="4489704" y="3145536"/>
            <a:ext cx="324612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9E65D5BD-F795-994C-CEC6-D9444C87DF50}"/>
              </a:ext>
            </a:extLst>
          </p:cNvPr>
          <p:cNvSpPr/>
          <p:nvPr/>
        </p:nvSpPr>
        <p:spPr>
          <a:xfrm>
            <a:off x="4544568" y="3145536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Szerokie dotarcie TOFU</a:t>
            </a:r>
            <a:endParaRPr lang="en-US" sz="8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C82826CB-AAA8-5341-B5C6-92A53F9A6BD8}"/>
              </a:ext>
            </a:extLst>
          </p:cNvPr>
          <p:cNvSpPr/>
          <p:nvPr/>
        </p:nvSpPr>
        <p:spPr>
          <a:xfrm>
            <a:off x="256032" y="3383280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1249BDE0-4CB7-EBBC-64F9-65C00D548FEA}"/>
              </a:ext>
            </a:extLst>
          </p:cNvPr>
          <p:cNvSpPr/>
          <p:nvPr/>
        </p:nvSpPr>
        <p:spPr>
          <a:xfrm>
            <a:off x="310896" y="33832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bez mleka</a:t>
            </a:r>
            <a:endParaRPr lang="en-US" sz="8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7D65DB43-FF8F-16CD-188B-85C0304C2ABC}"/>
              </a:ext>
            </a:extLst>
          </p:cNvPr>
          <p:cNvSpPr/>
          <p:nvPr/>
        </p:nvSpPr>
        <p:spPr>
          <a:xfrm>
            <a:off x="2176272" y="3383280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C8C631B6-4DAD-BAB3-CEED-CAFF366C8FA4}"/>
              </a:ext>
            </a:extLst>
          </p:cNvPr>
          <p:cNvSpPr/>
          <p:nvPr/>
        </p:nvSpPr>
        <p:spPr>
          <a:xfrm>
            <a:off x="2231136" y="3383280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F031D15C-E6A4-F075-9E1F-428E198222D0}"/>
              </a:ext>
            </a:extLst>
          </p:cNvPr>
          <p:cNvSpPr/>
          <p:nvPr/>
        </p:nvSpPr>
        <p:spPr>
          <a:xfrm>
            <a:off x="2953512" y="3383280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60891FF0-53CC-B43C-3A93-1AB7CE076C43}"/>
              </a:ext>
            </a:extLst>
          </p:cNvPr>
          <p:cNvSpPr/>
          <p:nvPr/>
        </p:nvSpPr>
        <p:spPr>
          <a:xfrm>
            <a:off x="3008376" y="338328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Bardzo wysoka</a:t>
            </a:r>
            <a:endParaRPr lang="en-US" sz="80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2EF3034B-21E2-4E6F-9D0A-1A1A19865164}"/>
              </a:ext>
            </a:extLst>
          </p:cNvPr>
          <p:cNvSpPr/>
          <p:nvPr/>
        </p:nvSpPr>
        <p:spPr>
          <a:xfrm>
            <a:off x="3776472" y="3383280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1EAAD07D-FCE4-F03C-890E-A71AE14685A7}"/>
              </a:ext>
            </a:extLst>
          </p:cNvPr>
          <p:cNvSpPr/>
          <p:nvPr/>
        </p:nvSpPr>
        <p:spPr>
          <a:xfrm>
            <a:off x="3831336" y="3383280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2,50 zł</a:t>
            </a:r>
            <a:endParaRPr lang="en-US" sz="8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05EA9C8F-679B-C13F-B971-CE0CBC8E4B77}"/>
              </a:ext>
            </a:extLst>
          </p:cNvPr>
          <p:cNvSpPr/>
          <p:nvPr/>
        </p:nvSpPr>
        <p:spPr>
          <a:xfrm>
            <a:off x="4489704" y="3383280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6835E549-C776-3FD0-F39B-6E69F90EAD97}"/>
              </a:ext>
            </a:extLst>
          </p:cNvPr>
          <p:cNvSpPr/>
          <p:nvPr/>
        </p:nvSpPr>
        <p:spPr>
          <a:xfrm>
            <a:off x="4544568" y="3383280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– zdrowy zamiennik</a:t>
            </a:r>
            <a:endParaRPr lang="en-US" sz="8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2F4918D5-AFD8-23E7-4379-3BA976885B77}"/>
              </a:ext>
            </a:extLst>
          </p:cNvPr>
          <p:cNvSpPr/>
          <p:nvPr/>
        </p:nvSpPr>
        <p:spPr>
          <a:xfrm>
            <a:off x="256032" y="3621024"/>
            <a:ext cx="1901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DA00D121-CE74-D354-5AAE-5E488ECA45E2}"/>
              </a:ext>
            </a:extLst>
          </p:cNvPr>
          <p:cNvSpPr/>
          <p:nvPr/>
        </p:nvSpPr>
        <p:spPr>
          <a:xfrm>
            <a:off x="310896" y="3621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napój proteinowy sklep</a:t>
            </a:r>
            <a:endParaRPr lang="en-US" sz="80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2BFDC830-BDB9-9766-FBE7-DE79128DC749}"/>
              </a:ext>
            </a:extLst>
          </p:cNvPr>
          <p:cNvSpPr/>
          <p:nvPr/>
        </p:nvSpPr>
        <p:spPr>
          <a:xfrm>
            <a:off x="2176272" y="3621024"/>
            <a:ext cx="75895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E475EB35-2D88-D6DC-DE3F-55C1145A1002}"/>
              </a:ext>
            </a:extLst>
          </p:cNvPr>
          <p:cNvSpPr/>
          <p:nvPr/>
        </p:nvSpPr>
        <p:spPr>
          <a:xfrm>
            <a:off x="2231136" y="3621024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E9477C5D-EEF7-1E49-BDFE-59D91237D3A7}"/>
              </a:ext>
            </a:extLst>
          </p:cNvPr>
          <p:cNvSpPr/>
          <p:nvPr/>
        </p:nvSpPr>
        <p:spPr>
          <a:xfrm>
            <a:off x="2953512" y="3621024"/>
            <a:ext cx="804672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7B54B325-86C0-1453-834C-1A9889C5AC2C}"/>
              </a:ext>
            </a:extLst>
          </p:cNvPr>
          <p:cNvSpPr/>
          <p:nvPr/>
        </p:nvSpPr>
        <p:spPr>
          <a:xfrm>
            <a:off x="3008376" y="362102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4F2B5778-AD20-2ED0-9736-280B70FB346D}"/>
              </a:ext>
            </a:extLst>
          </p:cNvPr>
          <p:cNvSpPr/>
          <p:nvPr/>
        </p:nvSpPr>
        <p:spPr>
          <a:xfrm>
            <a:off x="3776472" y="3621024"/>
            <a:ext cx="694944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2F728051-09EA-0FB4-9D1E-42C18DEDD146}"/>
              </a:ext>
            </a:extLst>
          </p:cNvPr>
          <p:cNvSpPr/>
          <p:nvPr/>
        </p:nvSpPr>
        <p:spPr>
          <a:xfrm>
            <a:off x="3831336" y="3621024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3,20 zł</a:t>
            </a:r>
            <a:endParaRPr lang="en-US" sz="80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FFFA8298-BAC3-4795-2919-4A45D048BF59}"/>
              </a:ext>
            </a:extLst>
          </p:cNvPr>
          <p:cNvSpPr/>
          <p:nvPr/>
        </p:nvSpPr>
        <p:spPr>
          <a:xfrm>
            <a:off x="4489704" y="3621024"/>
            <a:ext cx="3246120" cy="2377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BF60F64B-27A3-8CD7-9310-D03BB2AA0214}"/>
              </a:ext>
            </a:extLst>
          </p:cNvPr>
          <p:cNvSpPr/>
          <p:nvPr/>
        </p:nvSpPr>
        <p:spPr>
          <a:xfrm>
            <a:off x="4544568" y="3621024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intent zakupowy</a:t>
            </a:r>
            <a:endParaRPr lang="en-US" sz="80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AB406DF3-A680-1D7A-F19C-A0AA3E2B0E4F}"/>
              </a:ext>
            </a:extLst>
          </p:cNvPr>
          <p:cNvSpPr/>
          <p:nvPr/>
        </p:nvSpPr>
        <p:spPr>
          <a:xfrm>
            <a:off x="256032" y="3858768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65EC8FB2-8311-41C1-71D1-358EA2B3D01C}"/>
              </a:ext>
            </a:extLst>
          </p:cNvPr>
          <p:cNvSpPr/>
          <p:nvPr/>
        </p:nvSpPr>
        <p:spPr>
          <a:xfrm>
            <a:off x="310896" y="3858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suplement dieta naturalny</a:t>
            </a:r>
            <a:endParaRPr lang="en-US" sz="80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26F24811-0E85-235A-3CC6-D2047ACEAF10}"/>
              </a:ext>
            </a:extLst>
          </p:cNvPr>
          <p:cNvSpPr/>
          <p:nvPr/>
        </p:nvSpPr>
        <p:spPr>
          <a:xfrm>
            <a:off x="2176272" y="3858768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CA3DF8E3-DA57-0F9F-35E7-63970297BBAB}"/>
              </a:ext>
            </a:extLst>
          </p:cNvPr>
          <p:cNvSpPr/>
          <p:nvPr/>
        </p:nvSpPr>
        <p:spPr>
          <a:xfrm>
            <a:off x="2231136" y="3858768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MOD</a:t>
            </a:r>
            <a:endParaRPr lang="en-US" sz="800" dirty="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582564E3-78C0-DAEA-6599-A315A5C6C0ED}"/>
              </a:ext>
            </a:extLst>
          </p:cNvPr>
          <p:cNvSpPr/>
          <p:nvPr/>
        </p:nvSpPr>
        <p:spPr>
          <a:xfrm>
            <a:off x="2953512" y="3858768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329BE422-3525-33F6-A969-89A2BC1EC442}"/>
              </a:ext>
            </a:extLst>
          </p:cNvPr>
          <p:cNvSpPr/>
          <p:nvPr/>
        </p:nvSpPr>
        <p:spPr>
          <a:xfrm>
            <a:off x="3008376" y="385876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Średnia</a:t>
            </a:r>
            <a:endParaRPr lang="en-US" sz="800" dirty="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B1820B5E-1D23-C9B0-3AC9-9EF44035BAE1}"/>
              </a:ext>
            </a:extLst>
          </p:cNvPr>
          <p:cNvSpPr/>
          <p:nvPr/>
        </p:nvSpPr>
        <p:spPr>
          <a:xfrm>
            <a:off x="3776472" y="3858768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7F09A1FB-D6F3-55E8-8047-D62144CA0B66}"/>
              </a:ext>
            </a:extLst>
          </p:cNvPr>
          <p:cNvSpPr/>
          <p:nvPr/>
        </p:nvSpPr>
        <p:spPr>
          <a:xfrm>
            <a:off x="3831336" y="3858768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2,00 zł</a:t>
            </a:r>
            <a:endParaRPr lang="en-US" sz="800" dirty="0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C664796A-9D3C-960F-4CA3-CD7A94ADA66F}"/>
              </a:ext>
            </a:extLst>
          </p:cNvPr>
          <p:cNvSpPr/>
          <p:nvPr/>
        </p:nvSpPr>
        <p:spPr>
          <a:xfrm>
            <a:off x="4489704" y="3858768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D9C6D555-9B00-A799-6576-CE3F965E2C62}"/>
              </a:ext>
            </a:extLst>
          </p:cNvPr>
          <p:cNvSpPr/>
          <p:nvPr/>
        </p:nvSpPr>
        <p:spPr>
          <a:xfrm>
            <a:off x="4544568" y="3858768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– clean label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60698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SŁOWA KLUCZOWE – PLAN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Architektura słów kluczowych dla Volté.</a:t>
            </a:r>
            <a:endParaRPr lang="en-US" sz="2600" dirty="0"/>
          </a:p>
        </p:txBody>
      </p:sp>
      <p:sp>
        <p:nvSpPr>
          <p:cNvPr id="108" name="Shape 106"/>
          <p:cNvSpPr/>
          <p:nvPr/>
        </p:nvSpPr>
        <p:spPr>
          <a:xfrm>
            <a:off x="256032" y="1308463"/>
            <a:ext cx="8631936" cy="20116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/>
          <p:cNvSpPr/>
          <p:nvPr/>
        </p:nvSpPr>
        <p:spPr>
          <a:xfrm>
            <a:off x="347472" y="415137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(Exact/Phrase)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256032" y="1509631"/>
            <a:ext cx="190195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1" name="Text 109"/>
          <p:cNvSpPr/>
          <p:nvPr/>
        </p:nvSpPr>
        <p:spPr>
          <a:xfrm>
            <a:off x="310896" y="1509631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brainmax whey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2176272" y="1509631"/>
            <a:ext cx="75895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3" name="Text 111"/>
          <p:cNvSpPr/>
          <p:nvPr/>
        </p:nvSpPr>
        <p:spPr>
          <a:xfrm>
            <a:off x="2231136" y="1509631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2953512" y="1509631"/>
            <a:ext cx="80467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5" name="Text 113"/>
          <p:cNvSpPr/>
          <p:nvPr/>
        </p:nvSpPr>
        <p:spPr>
          <a:xfrm>
            <a:off x="3008376" y="1509631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3776472" y="1509631"/>
            <a:ext cx="694944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7" name="Text 115"/>
          <p:cNvSpPr/>
          <p:nvPr/>
        </p:nvSpPr>
        <p:spPr>
          <a:xfrm>
            <a:off x="3831336" y="1509631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4,00 zł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4489704" y="1509631"/>
            <a:ext cx="3246120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9" name="Text 117"/>
          <p:cNvSpPr/>
          <p:nvPr/>
        </p:nvSpPr>
        <p:spPr>
          <a:xfrm>
            <a:off x="4544568" y="1509631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Przechwytywanie segmentu naturalnego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256032" y="1747375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1" name="Text 119"/>
          <p:cNvSpPr/>
          <p:nvPr/>
        </p:nvSpPr>
        <p:spPr>
          <a:xfrm>
            <a:off x="310896" y="1747375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myprotein clear protein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2176272" y="1747375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3" name="Text 121"/>
          <p:cNvSpPr/>
          <p:nvPr/>
        </p:nvSpPr>
        <p:spPr>
          <a:xfrm>
            <a:off x="2231136" y="1747375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2953512" y="1747375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5" name="Text 123"/>
          <p:cNvSpPr/>
          <p:nvPr/>
        </p:nvSpPr>
        <p:spPr>
          <a:xfrm>
            <a:off x="3008376" y="1747375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Wysoka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3776472" y="1747375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7" name="Text 125"/>
          <p:cNvSpPr/>
          <p:nvPr/>
        </p:nvSpPr>
        <p:spPr>
          <a:xfrm>
            <a:off x="3831336" y="1747375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3,80 zł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4489704" y="1747375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9" name="Text 127"/>
          <p:cNvSpPr/>
          <p:nvPr/>
        </p:nvSpPr>
        <p:spPr>
          <a:xfrm>
            <a:off x="4544568" y="1747375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ceny i dostępności</a:t>
            </a:r>
            <a:endParaRPr lang="en-US" sz="800" dirty="0"/>
          </a:p>
        </p:txBody>
      </p:sp>
      <p:sp>
        <p:nvSpPr>
          <p:cNvPr id="130" name="Shape 128"/>
          <p:cNvSpPr/>
          <p:nvPr/>
        </p:nvSpPr>
        <p:spPr>
          <a:xfrm>
            <a:off x="256032" y="1985119"/>
            <a:ext cx="190195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1" name="Text 129"/>
          <p:cNvSpPr/>
          <p:nvPr/>
        </p:nvSpPr>
        <p:spPr>
          <a:xfrm>
            <a:off x="310896" y="198511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freeway protein lidl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2176272" y="1985119"/>
            <a:ext cx="75895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3" name="Text 131"/>
          <p:cNvSpPr/>
          <p:nvPr/>
        </p:nvSpPr>
        <p:spPr>
          <a:xfrm>
            <a:off x="2231136" y="1985119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PHRASE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2953512" y="1985119"/>
            <a:ext cx="804672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5" name="Text 133"/>
          <p:cNvSpPr/>
          <p:nvPr/>
        </p:nvSpPr>
        <p:spPr>
          <a:xfrm>
            <a:off x="3008376" y="1985119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Średnia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3776472" y="1985119"/>
            <a:ext cx="694944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7" name="Text 135"/>
          <p:cNvSpPr/>
          <p:nvPr/>
        </p:nvSpPr>
        <p:spPr>
          <a:xfrm>
            <a:off x="3831336" y="1985119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2,50 zł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4489704" y="1985119"/>
            <a:ext cx="3246120" cy="237744"/>
          </a:xfrm>
          <a:prstGeom prst="rect">
            <a:avLst/>
          </a:prstGeom>
          <a:solidFill>
            <a:srgbClr val="FFEBEE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9" name="Text 137"/>
          <p:cNvSpPr/>
          <p:nvPr/>
        </p:nvSpPr>
        <p:spPr>
          <a:xfrm>
            <a:off x="4544568" y="1985119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UWAGA: sprawdź regulamin TM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256032" y="2277727"/>
            <a:ext cx="8631936" cy="20116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1" name="Text 139"/>
          <p:cNvSpPr/>
          <p:nvPr/>
        </p:nvSpPr>
        <p:spPr>
          <a:xfrm>
            <a:off x="347472" y="51206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KEYWORDS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256032" y="2478895"/>
            <a:ext cx="190195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3" name="Text 141"/>
          <p:cNvSpPr/>
          <p:nvPr/>
        </p:nvSpPr>
        <p:spPr>
          <a:xfrm>
            <a:off x="310896" y="2478895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darmowy, przepis, youtube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2176272" y="2478895"/>
            <a:ext cx="75895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5" name="Text 143"/>
          <p:cNvSpPr/>
          <p:nvPr/>
        </p:nvSpPr>
        <p:spPr>
          <a:xfrm>
            <a:off x="2231136" y="2478895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>
            <a:off x="2953512" y="2478895"/>
            <a:ext cx="80467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7" name="Text 145"/>
          <p:cNvSpPr/>
          <p:nvPr/>
        </p:nvSpPr>
        <p:spPr>
          <a:xfrm>
            <a:off x="3008376" y="2478895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48" name="Shape 146"/>
          <p:cNvSpPr/>
          <p:nvPr/>
        </p:nvSpPr>
        <p:spPr>
          <a:xfrm>
            <a:off x="3776472" y="2478895"/>
            <a:ext cx="694944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9" name="Text 147"/>
          <p:cNvSpPr/>
          <p:nvPr/>
        </p:nvSpPr>
        <p:spPr>
          <a:xfrm>
            <a:off x="3831336" y="2478895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0" name="Shape 148"/>
          <p:cNvSpPr/>
          <p:nvPr/>
        </p:nvSpPr>
        <p:spPr>
          <a:xfrm>
            <a:off x="4489704" y="2478895"/>
            <a:ext cx="324612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1" name="Text 149"/>
          <p:cNvSpPr/>
          <p:nvPr/>
        </p:nvSpPr>
        <p:spPr>
          <a:xfrm>
            <a:off x="4544568" y="2478895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Wyklucz niekomercyjny intent</a:t>
            </a:r>
            <a:endParaRPr lang="en-US" sz="800" dirty="0"/>
          </a:p>
        </p:txBody>
      </p:sp>
      <p:sp>
        <p:nvSpPr>
          <p:cNvPr id="152" name="Shape 150"/>
          <p:cNvSpPr/>
          <p:nvPr/>
        </p:nvSpPr>
        <p:spPr>
          <a:xfrm>
            <a:off x="256032" y="2716639"/>
            <a:ext cx="1901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3" name="Text 151"/>
          <p:cNvSpPr/>
          <p:nvPr/>
        </p:nvSpPr>
        <p:spPr>
          <a:xfrm>
            <a:off x="310896" y="2716639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serwatka proszek, odżywka kg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2176272" y="2716639"/>
            <a:ext cx="75895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5" name="Text 153"/>
          <p:cNvSpPr/>
          <p:nvPr/>
        </p:nvSpPr>
        <p:spPr>
          <a:xfrm>
            <a:off x="2231136" y="2716639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00" dirty="0"/>
          </a:p>
        </p:txBody>
      </p:sp>
      <p:sp>
        <p:nvSpPr>
          <p:cNvPr id="156" name="Shape 154"/>
          <p:cNvSpPr/>
          <p:nvPr/>
        </p:nvSpPr>
        <p:spPr>
          <a:xfrm>
            <a:off x="2953512" y="2716639"/>
            <a:ext cx="80467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7" name="Text 155"/>
          <p:cNvSpPr/>
          <p:nvPr/>
        </p:nvSpPr>
        <p:spPr>
          <a:xfrm>
            <a:off x="3008376" y="2716639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3776472" y="2716639"/>
            <a:ext cx="6949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9" name="Text 157"/>
          <p:cNvSpPr/>
          <p:nvPr/>
        </p:nvSpPr>
        <p:spPr>
          <a:xfrm>
            <a:off x="3831336" y="2716639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4489704" y="2716639"/>
            <a:ext cx="32461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1" name="Text 159"/>
          <p:cNvSpPr/>
          <p:nvPr/>
        </p:nvSpPr>
        <p:spPr>
          <a:xfrm>
            <a:off x="4544568" y="2716639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Wyklucz formaty bulk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256032" y="2954383"/>
            <a:ext cx="190195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3" name="Text 161"/>
          <p:cNvSpPr/>
          <p:nvPr/>
        </p:nvSpPr>
        <p:spPr>
          <a:xfrm>
            <a:off x="310896" y="2954383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białko roślinne, wegan</a:t>
            </a:r>
            <a:endParaRPr lang="en-US" sz="800" dirty="0"/>
          </a:p>
        </p:txBody>
      </p:sp>
      <p:sp>
        <p:nvSpPr>
          <p:cNvPr id="164" name="Shape 162"/>
          <p:cNvSpPr/>
          <p:nvPr/>
        </p:nvSpPr>
        <p:spPr>
          <a:xfrm>
            <a:off x="2176272" y="2954383"/>
            <a:ext cx="75895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5" name="Text 163"/>
          <p:cNvSpPr/>
          <p:nvPr/>
        </p:nvSpPr>
        <p:spPr>
          <a:xfrm>
            <a:off x="2231136" y="2954383"/>
            <a:ext cx="685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2953512" y="2954383"/>
            <a:ext cx="804672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7" name="Text 165"/>
          <p:cNvSpPr/>
          <p:nvPr/>
        </p:nvSpPr>
        <p:spPr>
          <a:xfrm>
            <a:off x="3008376" y="2954383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3776472" y="2954383"/>
            <a:ext cx="694944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9" name="Text 167"/>
          <p:cNvSpPr/>
          <p:nvPr/>
        </p:nvSpPr>
        <p:spPr>
          <a:xfrm>
            <a:off x="3831336" y="2954383"/>
            <a:ext cx="621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4489704" y="2954383"/>
            <a:ext cx="3246120" cy="237744"/>
          </a:xfrm>
          <a:prstGeom prst="rect">
            <a:avLst/>
          </a:prstGeom>
          <a:solidFill>
            <a:srgbClr val="E8E8E8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1" name="Text 169"/>
          <p:cNvSpPr/>
          <p:nvPr/>
        </p:nvSpPr>
        <p:spPr>
          <a:xfrm>
            <a:off x="4544568" y="2954383"/>
            <a:ext cx="31729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Wyklucz niezgodne z produktem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BUDŻET &amp; KPI – GOOGLE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wydajemy i jak mierzymy sukces.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4297680"/>
            <a:ext cx="804672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6576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2062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325880" y="4297680"/>
            <a:ext cx="804672" cy="3657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32588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80" y="42062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2k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286000" y="2834640"/>
            <a:ext cx="804672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228600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46120" y="2834640"/>
            <a:ext cx="804672" cy="18288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24612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46120" y="274320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10k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206240" y="2103120"/>
            <a:ext cx="804672" cy="2560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20624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0" y="201168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66360" y="2103120"/>
            <a:ext cx="804672" cy="2560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516636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66360" y="1901952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126480" y="2468880"/>
            <a:ext cx="804672" cy="2194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612648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26480" y="23774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086600" y="2468880"/>
            <a:ext cx="804672" cy="2194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708660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086600" y="23774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046720" y="2468880"/>
            <a:ext cx="804672" cy="21945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8046720" y="4681728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46720" y="2377440"/>
            <a:ext cx="804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65760" y="19202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MIESIĘCZNY (ZŁ)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65760" y="1956816"/>
            <a:ext cx="8394192" cy="1828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5303520" y="2103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5376672" y="2157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76672" y="2359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&gt;3,5x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76672" y="2852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Fazy 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92240" y="2103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6565392" y="2157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65392" y="2359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&lt;28 zł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565392" y="2852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zakupu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680960" y="2103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7754112" y="2157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Search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7754112" y="2359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&gt;4%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754112" y="2852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keywords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3246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5376672" y="3300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Display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76672" y="3502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&gt;0,35%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376672" y="3995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492240" y="3246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6565392" y="3300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565392" y="3502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&gt;500k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6565392" y="3995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total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680960" y="3246120"/>
            <a:ext cx="1115568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7754112" y="3300984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9M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54112" y="3502152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88 000 zł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54112" y="3995928"/>
            <a:ext cx="969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Google Ads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– GOOGLE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uruchamiamy kiedy.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700784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70078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05456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50545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10128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31012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11480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19472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91947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724144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72414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528816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52881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33488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33348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38160" y="1261872"/>
            <a:ext cx="786384" cy="2560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13816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1554480"/>
            <a:ext cx="1322397" cy="969264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20040" y="19476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700784" y="1572768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1700784" y="1591056"/>
            <a:ext cx="7187184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755648" y="1591056"/>
            <a:ext cx="7150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(exact) – zawsze włączone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700784" y="1883664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1700784" y="1901952"/>
            <a:ext cx="7187184" cy="2286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1755648" y="1901952"/>
            <a:ext cx="7150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(phrase/broad) – TOFU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700784" y="2194560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Shape 29"/>
          <p:cNvSpPr/>
          <p:nvPr/>
        </p:nvSpPr>
        <p:spPr>
          <a:xfrm>
            <a:off x="2505456" y="2212848"/>
            <a:ext cx="6382512" cy="228600"/>
          </a:xfrm>
          <a:prstGeom prst="rect">
            <a:avLst/>
          </a:prstGeom>
          <a:solidFill>
            <a:srgbClr val="669DF6"/>
          </a:solidFill>
          <a:ln w="12700">
            <a:solidFill>
              <a:srgbClr val="669DF6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2560320" y="2212848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(exact)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56032" y="2578608"/>
            <a:ext cx="1322397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20040" y="281635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MAX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700784" y="2596896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3310128" y="2615184"/>
            <a:ext cx="5577840" cy="2286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3364992" y="2615184"/>
            <a:ext cx="5541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PMax D2C – sklep online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700784" y="2907792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/>
          <p:cNvSpPr/>
          <p:nvPr/>
        </p:nvSpPr>
        <p:spPr>
          <a:xfrm>
            <a:off x="4919472" y="2926080"/>
            <a:ext cx="3163824" cy="228600"/>
          </a:xfrm>
          <a:prstGeom prst="rect">
            <a:avLst/>
          </a:prstGeom>
          <a:solidFill>
            <a:srgbClr val="5BB974"/>
          </a:solidFill>
          <a:ln w="12700">
            <a:solidFill>
              <a:srgbClr val="5BB97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4974336" y="2926080"/>
            <a:ext cx="31272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PMax Local – geo Żabka (5 miast)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56032" y="3291840"/>
            <a:ext cx="1322397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320040" y="35295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+ YOUTUBE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700784" y="3310128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Shape 42"/>
          <p:cNvSpPr/>
          <p:nvPr/>
        </p:nvSpPr>
        <p:spPr>
          <a:xfrm>
            <a:off x="1700784" y="3328416"/>
            <a:ext cx="4773168" cy="22860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1755648" y="3328416"/>
            <a:ext cx="4736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Bumper 6s – TOFU awareness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700784" y="3621024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/>
          <p:cNvSpPr/>
          <p:nvPr/>
        </p:nvSpPr>
        <p:spPr>
          <a:xfrm>
            <a:off x="2505456" y="3639312"/>
            <a:ext cx="6382512" cy="228600"/>
          </a:xfrm>
          <a:prstGeom prst="rect">
            <a:avLst/>
          </a:prstGeom>
          <a:solidFill>
            <a:srgbClr val="FCC934"/>
          </a:solidFill>
          <a:ln w="12700">
            <a:solidFill>
              <a:srgbClr val="FCC93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2560320" y="3639312"/>
            <a:ext cx="6345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Retargeting – MOFU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6032" y="4005072"/>
            <a:ext cx="1322397" cy="34747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320040" y="408736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700784" y="4023360"/>
            <a:ext cx="72237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Shape 50"/>
          <p:cNvSpPr/>
          <p:nvPr/>
        </p:nvSpPr>
        <p:spPr>
          <a:xfrm>
            <a:off x="3310128" y="4041648"/>
            <a:ext cx="5577840" cy="22860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364992" y="4041648"/>
            <a:ext cx="55412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Shopping – feed produktowy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700784" y="4498848"/>
            <a:ext cx="1591056" cy="20116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1746504" y="449884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 – Setup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310128" y="4498848"/>
            <a:ext cx="1591056" cy="201168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3355848" y="449884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 – Launch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919472" y="4498848"/>
            <a:ext cx="1591056" cy="20116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4965192" y="449884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 – Skalowanie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528816" y="4498848"/>
            <a:ext cx="2395728" cy="201168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6574536" y="449884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– Optymalizacja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57400"/>
            <a:ext cx="4754880" cy="36576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LEJEK MARKETINGOWY – META ADS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Ads  |  Instagram Ads  |  Reels  |  Stories  |  Retargeting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 Urban Achievers 35–45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Lifestylowy Fitness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NETWORK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8076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 Healthy Lifestyle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STRUKTURA LEJKA META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zimnego ruchu do lojalnego klienta.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4242816" cy="1883664"/>
          </a:xfrm>
          <a:prstGeom prst="rect">
            <a:avLst/>
          </a:prstGeom>
          <a:solidFill>
            <a:srgbClr val="EBF5FF"/>
          </a:solidFill>
          <a:ln w="6350">
            <a:solidFill>
              <a:srgbClr val="EBF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54864" cy="1883664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Shape 4"/>
          <p:cNvSpPr/>
          <p:nvPr/>
        </p:nvSpPr>
        <p:spPr>
          <a:xfrm>
            <a:off x="256032" y="1261872"/>
            <a:ext cx="4242816" cy="329184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– AWARENESS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56432" y="1316736"/>
            <a:ext cx="9692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456432" y="1316736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25%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459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Reach + Brand Awareness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1847088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Reels 6–15 sek. (non-skip)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pełnoekranowe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z 3 smakami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targeting: aktywni 20–45 lat, top 5 miast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2761488"/>
            <a:ext cx="4059936" cy="329184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02336" y="279806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&gt;1,5M UU | CPM &lt;35 zł | Freq 4–6x | Brand recall +8pp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81728" y="1261872"/>
            <a:ext cx="4242816" cy="1883664"/>
          </a:xfrm>
          <a:prstGeom prst="rect">
            <a:avLst/>
          </a:prstGeom>
          <a:solidFill>
            <a:srgbClr val="FDE8F0"/>
          </a:solidFill>
          <a:ln w="6350">
            <a:solidFill>
              <a:srgbClr val="FD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4681728" y="1261872"/>
            <a:ext cx="54864" cy="188366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4681728" y="1261872"/>
            <a:ext cx="4242816" cy="32918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791456" y="131673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 – CONSIDERATION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82128" y="1316736"/>
            <a:ext cx="9692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882128" y="1316736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35%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91456" y="16459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Traffic + Engagement + Lead Gen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91456" y="1847088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 15–30 sek. (hook + wartość)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Ad – 'Odbierz darmową próbkę'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Engagement: posty z pytaniem / poll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1% bazując na odwiedzających LP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73168" y="2761488"/>
            <a:ext cx="4059936" cy="329184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28032" y="2798064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&gt;2,5% | CPL (próbka) &lt;10 zł | Engagement rate &gt;4%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56032" y="3255264"/>
            <a:ext cx="4242816" cy="1883664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256032" y="3255264"/>
            <a:ext cx="54864" cy="1883664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256032" y="3255264"/>
            <a:ext cx="4242816" cy="329184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65760" y="3310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CONVERSION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56432" y="3310128"/>
            <a:ext cx="9692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456432" y="331012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30%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363931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Conversions + Catalog Sales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" y="3840480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Product Ads (DPA) – katalog Volté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Retargeting: porzucili koszyk / odwiedzili LP &gt;2x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ograniczona czasowo: 48h -15%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Audience: lista e-mail CRM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7472" y="4754880"/>
            <a:ext cx="4059936" cy="329184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02336" y="4791456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&gt;3,5x | CPO &lt;28 zł | Konwersja &gt;4%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681728" y="3255264"/>
            <a:ext cx="4242816" cy="18836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4681728" y="3255264"/>
            <a:ext cx="54864" cy="188366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4681728" y="3255264"/>
            <a:ext cx="4242816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791456" y="331012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– LOYALTY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882128" y="3310128"/>
            <a:ext cx="969264" cy="219456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7882128" y="3310128"/>
            <a:ext cx="969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10%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91456" y="363931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Retention + Value-Based Lookalike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91456" y="3840480"/>
            <a:ext cx="40233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testimonials od influencerów (UGC repost)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offer: nowy smak dla powracających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lookalike: 3% bazując na najlepszych klientach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Cross-sell: 6-pak i 12-pak dla stałych kupujących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4754880"/>
            <a:ext cx="4059936" cy="329184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4828032" y="4791456"/>
            <a:ext cx="3950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 &gt;35% | LTV &gt;3x AOV | CPA &lt;18 zł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5A5A1C-75A2-0E5F-DDBD-B1B98191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051C3D2-467A-147E-3C2A-48792F047BB2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KAMPANIE I FORMATY META ADS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D2ABE0-038B-035A-9F5F-B69BD5937E18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typów kampanii. Każda robi robotę.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8ACA38-8679-196B-A900-E5BFAA9F5833}"/>
              </a:ext>
            </a:extLst>
          </p:cNvPr>
          <p:cNvSpPr/>
          <p:nvPr/>
        </p:nvSpPr>
        <p:spPr>
          <a:xfrm>
            <a:off x="274320" y="1078992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940D09-8C32-4117-333C-F908CB01D18A}"/>
              </a:ext>
            </a:extLst>
          </p:cNvPr>
          <p:cNvSpPr/>
          <p:nvPr/>
        </p:nvSpPr>
        <p:spPr>
          <a:xfrm>
            <a:off x="274320" y="1078992"/>
            <a:ext cx="2816352" cy="32918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63446A5-C3FA-54AD-3F6F-1E04CC60129E}"/>
              </a:ext>
            </a:extLst>
          </p:cNvPr>
          <p:cNvSpPr/>
          <p:nvPr/>
        </p:nvSpPr>
        <p:spPr>
          <a:xfrm>
            <a:off x="384048" y="11430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REELS ADS</a:t>
            </a:r>
            <a:endParaRPr lang="en-US" sz="9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6AABD69-5311-1E9B-F155-97C676752F65}"/>
              </a:ext>
            </a:extLst>
          </p:cNvPr>
          <p:cNvSpPr/>
          <p:nvPr/>
        </p:nvSpPr>
        <p:spPr>
          <a:xfrm>
            <a:off x="2103120" y="1143000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C92FA05-D7C6-8A4D-0795-2210A1612A82}"/>
              </a:ext>
            </a:extLst>
          </p:cNvPr>
          <p:cNvSpPr/>
          <p:nvPr/>
        </p:nvSpPr>
        <p:spPr>
          <a:xfrm>
            <a:off x="2103120" y="1143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 Lifestylowy Fitness</a:t>
            </a:r>
            <a:endParaRPr lang="en-US" sz="6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B417F45-8097-BEFE-699E-B1FE9A005E84}"/>
              </a:ext>
            </a:extLst>
          </p:cNvPr>
          <p:cNvSpPr/>
          <p:nvPr/>
        </p:nvSpPr>
        <p:spPr>
          <a:xfrm>
            <a:off x="384048" y="148132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Pionowy 9:16, 6–30 sek. Hook w pierwszych 3 sek. – 'Volté nie smakuje mlekiem'. Non-skip.</a:t>
            </a:r>
            <a:endParaRPr lang="en-US" sz="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3C452CF-60BB-5708-3661-93F2A0D9352F}"/>
              </a:ext>
            </a:extLst>
          </p:cNvPr>
          <p:cNvSpPr/>
          <p:nvPr/>
        </p:nvSpPr>
        <p:spPr>
          <a:xfrm>
            <a:off x="384048" y="18470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 'Ten napój białkowy zmienił moje poranne treningi'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product + lifestyle + CTA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Miejsce: IG Reels + FB Reels feed</a:t>
            </a:r>
            <a:endParaRPr lang="en-US" sz="7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07C22D3-28C0-38B6-B709-421C81175901}"/>
              </a:ext>
            </a:extLst>
          </p:cNvPr>
          <p:cNvSpPr/>
          <p:nvPr/>
        </p:nvSpPr>
        <p:spPr>
          <a:xfrm>
            <a:off x="365760" y="2340864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FFE8FD0-7AD9-D516-57FD-2324BC5DA591}"/>
              </a:ext>
            </a:extLst>
          </p:cNvPr>
          <p:cNvSpPr/>
          <p:nvPr/>
        </p:nvSpPr>
        <p:spPr>
          <a:xfrm>
            <a:off x="420624" y="237744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&lt;30 zł | VTR &gt;40% (do 15 sek.) | CTR &gt;2,5%</a:t>
            </a:r>
            <a:endParaRPr lang="en-US" sz="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07E74DC-B2CF-ABE3-6FFD-D61ED38C9836}"/>
              </a:ext>
            </a:extLst>
          </p:cNvPr>
          <p:cNvSpPr/>
          <p:nvPr/>
        </p:nvSpPr>
        <p:spPr>
          <a:xfrm>
            <a:off x="384048" y="26700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CPM &lt;30 zł | VTR &gt;40% (do 15 sek.) | CTR &gt;2,5%</a:t>
            </a:r>
            <a:endParaRPr lang="en-US" sz="7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20A3998-201B-754D-4DBB-0470C5254CCC}"/>
              </a:ext>
            </a:extLst>
          </p:cNvPr>
          <p:cNvSpPr/>
          <p:nvPr/>
        </p:nvSpPr>
        <p:spPr>
          <a:xfrm>
            <a:off x="3218688" y="1078992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C19014C-64F1-3CAC-9077-40C276E51206}"/>
              </a:ext>
            </a:extLst>
          </p:cNvPr>
          <p:cNvSpPr/>
          <p:nvPr/>
        </p:nvSpPr>
        <p:spPr>
          <a:xfrm>
            <a:off x="3218688" y="1078992"/>
            <a:ext cx="2816352" cy="329184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FBA2F1-7581-335B-84A9-767AF40F2597}"/>
              </a:ext>
            </a:extLst>
          </p:cNvPr>
          <p:cNvSpPr/>
          <p:nvPr/>
        </p:nvSpPr>
        <p:spPr>
          <a:xfrm>
            <a:off x="3328416" y="11430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□  STORIES ADS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2284CB4-9832-A05F-D8EC-94857DCED052}"/>
              </a:ext>
            </a:extLst>
          </p:cNvPr>
          <p:cNvSpPr/>
          <p:nvPr/>
        </p:nvSpPr>
        <p:spPr>
          <a:xfrm>
            <a:off x="5047488" y="1143000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1973BB-2B2C-FF03-699D-7ABDF47B1456}"/>
              </a:ext>
            </a:extLst>
          </p:cNvPr>
          <p:cNvSpPr/>
          <p:nvPr/>
        </p:nvSpPr>
        <p:spPr>
          <a:xfrm>
            <a:off x="5047488" y="114300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 Urban Achievers</a:t>
            </a:r>
            <a:endParaRPr lang="en-US" sz="6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C17C195-3609-4925-A158-0DA8CC0213DB}"/>
              </a:ext>
            </a:extLst>
          </p:cNvPr>
          <p:cNvSpPr/>
          <p:nvPr/>
        </p:nvSpPr>
        <p:spPr>
          <a:xfrm>
            <a:off x="3328416" y="1481328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Pełnoekranowy 9:16, 15 sek. max. Swipe up do LP lub sklepu. Efekt pilności.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997BF84D-07D8-60AD-B1E7-A28F12967FF4}"/>
              </a:ext>
            </a:extLst>
          </p:cNvPr>
          <p:cNvSpPr/>
          <p:nvPr/>
        </p:nvSpPr>
        <p:spPr>
          <a:xfrm>
            <a:off x="3328416" y="1847088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Kreacja: puszka + hasło + CTA 'Kup teraz'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A/B: wersja lifestyle vs. produkt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Miejsce: IG Stories + FB Stories</a:t>
            </a:r>
            <a:endParaRPr lang="en-US" sz="7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075F985-FB88-894F-2E0F-4CF9F6184718}"/>
              </a:ext>
            </a:extLst>
          </p:cNvPr>
          <p:cNvSpPr/>
          <p:nvPr/>
        </p:nvSpPr>
        <p:spPr>
          <a:xfrm>
            <a:off x="3310128" y="2340864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CA327C5-A5E6-C5B6-A02F-EC32DB3BDFD2}"/>
              </a:ext>
            </a:extLst>
          </p:cNvPr>
          <p:cNvSpPr/>
          <p:nvPr/>
        </p:nvSpPr>
        <p:spPr>
          <a:xfrm>
            <a:off x="3364992" y="2377440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&gt;1,5% | Swipe-up rate &gt;3% | CPP &lt;25 zł</a:t>
            </a:r>
            <a:endParaRPr lang="en-US" sz="7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22DFED2-59AD-1B73-F443-011DEF41AB4B}"/>
              </a:ext>
            </a:extLst>
          </p:cNvPr>
          <p:cNvSpPr/>
          <p:nvPr/>
        </p:nvSpPr>
        <p:spPr>
          <a:xfrm>
            <a:off x="3328416" y="26700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CTR &gt;1,5% | Swipe-up rate &gt;3% | CPP &lt;25 zł</a:t>
            </a:r>
            <a:endParaRPr lang="en-US" sz="7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72C015E-6836-CF73-7D83-D84C4EB86B85}"/>
              </a:ext>
            </a:extLst>
          </p:cNvPr>
          <p:cNvSpPr/>
          <p:nvPr/>
        </p:nvSpPr>
        <p:spPr>
          <a:xfrm>
            <a:off x="3218688" y="3072384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10E38B0-0D47-859C-43C4-0549EAA93A10}"/>
              </a:ext>
            </a:extLst>
          </p:cNvPr>
          <p:cNvSpPr/>
          <p:nvPr/>
        </p:nvSpPr>
        <p:spPr>
          <a:xfrm>
            <a:off x="3218688" y="3072384"/>
            <a:ext cx="2816352" cy="32918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464C440-DA17-5687-CED6-177FA4E26283}"/>
              </a:ext>
            </a:extLst>
          </p:cNvPr>
          <p:cNvSpPr/>
          <p:nvPr/>
        </p:nvSpPr>
        <p:spPr>
          <a:xfrm>
            <a:off x="3328416" y="3136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  LEAD ADS – PRÓBKA</a:t>
            </a:r>
            <a:endParaRPr lang="en-US" sz="9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F1BFFB6-A2EC-BEC7-C49C-FB0F219AD67E}"/>
              </a:ext>
            </a:extLst>
          </p:cNvPr>
          <p:cNvSpPr/>
          <p:nvPr/>
        </p:nvSpPr>
        <p:spPr>
          <a:xfrm>
            <a:off x="5047488" y="3136392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167D5A3-5042-3FCE-05D6-EC9D2B2F0F61}"/>
              </a:ext>
            </a:extLst>
          </p:cNvPr>
          <p:cNvSpPr/>
          <p:nvPr/>
        </p:nvSpPr>
        <p:spPr>
          <a:xfrm>
            <a:off x="5047488" y="3136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TG1+TG3 – cold audience</a:t>
            </a:r>
            <a:endParaRPr lang="en-US" sz="6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1633B14-E500-EE44-3C14-06003965E943}"/>
              </a:ext>
            </a:extLst>
          </p:cNvPr>
          <p:cNvSpPr/>
          <p:nvPr/>
        </p:nvSpPr>
        <p:spPr>
          <a:xfrm>
            <a:off x="3328416" y="347472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Formularz w aplikacji: imię, e-mail, adres → próbka Volté. Dane do CRM.</a:t>
            </a:r>
            <a:endParaRPr lang="en-US" sz="8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F6DE2D7-56FF-5974-26A3-9A6EEF91DBEB}"/>
              </a:ext>
            </a:extLst>
          </p:cNvPr>
          <p:cNvSpPr/>
          <p:nvPr/>
        </p:nvSpPr>
        <p:spPr>
          <a:xfrm>
            <a:off x="3328416" y="38404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Nagłówek: 'Zamów darmową próbkę Volté'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Pola: imię, e-mail, miasto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Integracja: Zapier → CRM → e-mail flow</a:t>
            </a:r>
            <a:endParaRPr lang="en-US" sz="7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5C9678E5-EA09-94DE-4E68-C21574231CD8}"/>
              </a:ext>
            </a:extLst>
          </p:cNvPr>
          <p:cNvSpPr/>
          <p:nvPr/>
        </p:nvSpPr>
        <p:spPr>
          <a:xfrm>
            <a:off x="3310128" y="4334256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D0F956B-CFC7-2B8F-76EA-25D14E61C586}"/>
              </a:ext>
            </a:extLst>
          </p:cNvPr>
          <p:cNvSpPr/>
          <p:nvPr/>
        </p:nvSpPr>
        <p:spPr>
          <a:xfrm>
            <a:off x="3364992" y="43708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&lt;10 zł | Formularz submit &gt;25% | Lista &gt;5k leadów</a:t>
            </a:r>
            <a:endParaRPr lang="en-US" sz="75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E717049-A1CE-72A0-BC25-68D1168FEB01}"/>
              </a:ext>
            </a:extLst>
          </p:cNvPr>
          <p:cNvSpPr/>
          <p:nvPr/>
        </p:nvSpPr>
        <p:spPr>
          <a:xfrm>
            <a:off x="3328416" y="466344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CPL &lt;10 zł | Formularz submit &gt;25% | Lista &gt;5k leadów</a:t>
            </a:r>
            <a:endParaRPr lang="en-US" sz="7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F02C7C37-DAB8-FA8C-C00A-013B22F05A4F}"/>
              </a:ext>
            </a:extLst>
          </p:cNvPr>
          <p:cNvSpPr/>
          <p:nvPr/>
        </p:nvSpPr>
        <p:spPr>
          <a:xfrm>
            <a:off x="274320" y="3072384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1FB5276-1CA9-56FB-7A8A-84FB4AE70554}"/>
              </a:ext>
            </a:extLst>
          </p:cNvPr>
          <p:cNvSpPr/>
          <p:nvPr/>
        </p:nvSpPr>
        <p:spPr>
          <a:xfrm>
            <a:off x="274320" y="3072384"/>
            <a:ext cx="2816352" cy="329184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1424A6BB-D5D0-190C-7A2B-1E5D953730D6}"/>
              </a:ext>
            </a:extLst>
          </p:cNvPr>
          <p:cNvSpPr/>
          <p:nvPr/>
        </p:nvSpPr>
        <p:spPr>
          <a:xfrm>
            <a:off x="384048" y="3136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DYNAMIC PRODUCT ADS</a:t>
            </a:r>
            <a:endParaRPr lang="en-US" sz="95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0FD4158-6F64-0C1B-66CF-F52717593FAF}"/>
              </a:ext>
            </a:extLst>
          </p:cNvPr>
          <p:cNvSpPr/>
          <p:nvPr/>
        </p:nvSpPr>
        <p:spPr>
          <a:xfrm>
            <a:off x="2103120" y="3136392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8FC653B-938B-BAE4-2117-66C87130AE8B}"/>
              </a:ext>
            </a:extLst>
          </p:cNvPr>
          <p:cNvSpPr/>
          <p:nvPr/>
        </p:nvSpPr>
        <p:spPr>
          <a:xfrm>
            <a:off x="2103120" y="3136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remarketing</a:t>
            </a:r>
            <a:endParaRPr lang="en-US" sz="65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0FBC3BE3-BBDB-454D-F617-95609EA1E61B}"/>
              </a:ext>
            </a:extLst>
          </p:cNvPr>
          <p:cNvSpPr/>
          <p:nvPr/>
        </p:nvSpPr>
        <p:spPr>
          <a:xfrm>
            <a:off x="384048" y="347472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Automatyczny retargeting: pokaż produkt który oglądali na LP. Katalog Volté w Meta Business.</a:t>
            </a:r>
            <a:endParaRPr lang="en-US" sz="8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7C7C257-2F82-C019-A0AB-6C919CA6BD1A}"/>
              </a:ext>
            </a:extLst>
          </p:cNvPr>
          <p:cNvSpPr/>
          <p:nvPr/>
        </p:nvSpPr>
        <p:spPr>
          <a:xfrm>
            <a:off x="384048" y="38404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Audience: odwiedzili LP &gt;30 sek.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copy z ceną i CTA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Freq. cap: 3x/tydzień</a:t>
            </a:r>
            <a:endParaRPr lang="en-US" sz="7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C1E29B2-24F9-70A7-19AA-4F915DA0C267}"/>
              </a:ext>
            </a:extLst>
          </p:cNvPr>
          <p:cNvSpPr/>
          <p:nvPr/>
        </p:nvSpPr>
        <p:spPr>
          <a:xfrm>
            <a:off x="365760" y="4334256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457930BE-2295-C20B-202E-A8EA6BED0B90}"/>
              </a:ext>
            </a:extLst>
          </p:cNvPr>
          <p:cNvSpPr/>
          <p:nvPr/>
        </p:nvSpPr>
        <p:spPr>
          <a:xfrm>
            <a:off x="420624" y="43708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&gt;4x | CPO &lt;25 zł | CTR &gt;3,5%</a:t>
            </a:r>
            <a:endParaRPr lang="en-US" sz="75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EE3308B-A5C7-D610-7DE6-1740D00A33AA}"/>
              </a:ext>
            </a:extLst>
          </p:cNvPr>
          <p:cNvSpPr/>
          <p:nvPr/>
        </p:nvSpPr>
        <p:spPr>
          <a:xfrm>
            <a:off x="384048" y="466344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ROAS &gt;4x | CPO &lt;25 zł | CTR &gt;3,5%</a:t>
            </a:r>
            <a:endParaRPr lang="en-US" sz="7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16A55AA4-74D8-0FC1-6AEB-F051B84695FE}"/>
              </a:ext>
            </a:extLst>
          </p:cNvPr>
          <p:cNvSpPr/>
          <p:nvPr/>
        </p:nvSpPr>
        <p:spPr>
          <a:xfrm>
            <a:off x="6126480" y="1057969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960A9A0-D208-9EF0-F323-843A3C226E66}"/>
              </a:ext>
            </a:extLst>
          </p:cNvPr>
          <p:cNvSpPr/>
          <p:nvPr/>
        </p:nvSpPr>
        <p:spPr>
          <a:xfrm>
            <a:off x="6126480" y="1057969"/>
            <a:ext cx="2816352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30BFB6B0-26B3-83C3-5534-6D9202DD4EF5}"/>
              </a:ext>
            </a:extLst>
          </p:cNvPr>
          <p:cNvSpPr/>
          <p:nvPr/>
        </p:nvSpPr>
        <p:spPr>
          <a:xfrm>
            <a:off x="6236208" y="1121977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 VIDEO AWARENESS</a:t>
            </a:r>
            <a:endParaRPr lang="en-US" sz="950" dirty="0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2A0EAA6F-20C1-A5D8-17B9-22EF2359A40A}"/>
              </a:ext>
            </a:extLst>
          </p:cNvPr>
          <p:cNvSpPr/>
          <p:nvPr/>
        </p:nvSpPr>
        <p:spPr>
          <a:xfrm>
            <a:off x="7955280" y="1121977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49C1B007-1864-0E41-17F5-01820321957D}"/>
              </a:ext>
            </a:extLst>
          </p:cNvPr>
          <p:cNvSpPr/>
          <p:nvPr/>
        </p:nvSpPr>
        <p:spPr>
          <a:xfrm>
            <a:off x="7955280" y="1121977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– cold + broad</a:t>
            </a:r>
            <a:endParaRPr lang="en-US" sz="65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DE811F0-C9AC-E68C-3F56-7332217F07AA}"/>
              </a:ext>
            </a:extLst>
          </p:cNvPr>
          <p:cNvSpPr/>
          <p:nvPr/>
        </p:nvSpPr>
        <p:spPr>
          <a:xfrm>
            <a:off x="6236208" y="1460305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In-stream 6 sek. + 15–30 sek. bumper dla budowania skojarzenia marki. Cel: brand recall.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B75F72C-0748-74A1-A051-D861B5609A90}"/>
              </a:ext>
            </a:extLst>
          </p:cNvPr>
          <p:cNvSpPr/>
          <p:nvPr/>
        </p:nvSpPr>
        <p:spPr>
          <a:xfrm>
            <a:off x="6236208" y="1826065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sek.: logo + produkt + hasło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sek.: 'Nie smakuje mlekiem. Sprawdź.'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YouTube-style placement na FB Watch</a:t>
            </a:r>
            <a:endParaRPr lang="en-US" sz="75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EA3A8D3E-AEB1-EACF-A89A-087814785F9C}"/>
              </a:ext>
            </a:extLst>
          </p:cNvPr>
          <p:cNvSpPr/>
          <p:nvPr/>
        </p:nvSpPr>
        <p:spPr>
          <a:xfrm>
            <a:off x="6217920" y="2319841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71416D0A-BBC3-D632-3D51-1D0DC3F11091}"/>
              </a:ext>
            </a:extLst>
          </p:cNvPr>
          <p:cNvSpPr/>
          <p:nvPr/>
        </p:nvSpPr>
        <p:spPr>
          <a:xfrm>
            <a:off x="6272784" y="2356417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 &lt;28 zł | Brand recall +8pp | Freq 5x/4 tygodnie</a:t>
            </a:r>
            <a:endParaRPr lang="en-US" sz="75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D715C86B-95F9-4534-3839-500BED91A8E2}"/>
              </a:ext>
            </a:extLst>
          </p:cNvPr>
          <p:cNvSpPr/>
          <p:nvPr/>
        </p:nvSpPr>
        <p:spPr>
          <a:xfrm>
            <a:off x="6236208" y="2649025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CPM &lt;28 zł | Brand recall +8pp | Freq 5x/4 tygodnie</a:t>
            </a:r>
            <a:endParaRPr lang="en-US" sz="7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9A81040F-AAC9-706D-B7E9-F2231CD368DF}"/>
              </a:ext>
            </a:extLst>
          </p:cNvPr>
          <p:cNvSpPr/>
          <p:nvPr/>
        </p:nvSpPr>
        <p:spPr>
          <a:xfrm>
            <a:off x="6163056" y="3072384"/>
            <a:ext cx="2816352" cy="186537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4583185F-F752-B349-4F43-5EF6C9E5504B}"/>
              </a:ext>
            </a:extLst>
          </p:cNvPr>
          <p:cNvSpPr/>
          <p:nvPr/>
        </p:nvSpPr>
        <p:spPr>
          <a:xfrm>
            <a:off x="6163056" y="3072384"/>
            <a:ext cx="2816352" cy="329184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5E385CD-B1BB-1BEE-AE46-C61295922B9C}"/>
              </a:ext>
            </a:extLst>
          </p:cNvPr>
          <p:cNvSpPr/>
          <p:nvPr/>
        </p:nvSpPr>
        <p:spPr>
          <a:xfrm>
            <a:off x="6272784" y="313639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◁▷  CAROUSEL ADS</a:t>
            </a:r>
            <a:endParaRPr lang="en-US" sz="9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448089C7-A13A-8BC1-290A-6D08B83FE995}"/>
              </a:ext>
            </a:extLst>
          </p:cNvPr>
          <p:cNvSpPr/>
          <p:nvPr/>
        </p:nvSpPr>
        <p:spPr>
          <a:xfrm>
            <a:off x="7991856" y="3136392"/>
            <a:ext cx="91440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8681943B-E629-B2DA-CC7F-5680D2EBF203}"/>
              </a:ext>
            </a:extLst>
          </p:cNvPr>
          <p:cNvSpPr/>
          <p:nvPr/>
        </p:nvSpPr>
        <p:spPr>
          <a:xfrm>
            <a:off x="7991856" y="31363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TG1+TG2 – consideration</a:t>
            </a:r>
            <a:endParaRPr lang="en-US" sz="65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2E95880-8C41-41FB-E492-B3EBC6E3D190}"/>
              </a:ext>
            </a:extLst>
          </p:cNvPr>
          <p:cNvSpPr/>
          <p:nvPr/>
        </p:nvSpPr>
        <p:spPr>
          <a:xfrm>
            <a:off x="6272784" y="3474720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kart: każda karta = jeden smak lub benefit. Swipe = zaangażowanie. Ostatnia karta = CTA.</a:t>
            </a:r>
            <a:endParaRPr lang="en-US" sz="8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2DCA26C4-33DA-B88B-BD71-2FFFD1F47D48}"/>
              </a:ext>
            </a:extLst>
          </p:cNvPr>
          <p:cNvSpPr/>
          <p:nvPr/>
        </p:nvSpPr>
        <p:spPr>
          <a:xfrm>
            <a:off x="6272784" y="384048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1: 'Zero cukru' | Karta 2: 'Naturalne'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Karta 3: '10g białka' | Karta 4: CTA sklep</a:t>
            </a:r>
            <a:endParaRPr lang="en-US" sz="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1:1 lub 4:5</a:t>
            </a:r>
            <a:endParaRPr lang="en-US" sz="750" dirty="0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342E4F1-573E-5D92-A53F-0D832B63B950}"/>
              </a:ext>
            </a:extLst>
          </p:cNvPr>
          <p:cNvSpPr/>
          <p:nvPr/>
        </p:nvSpPr>
        <p:spPr>
          <a:xfrm>
            <a:off x="6254496" y="4334256"/>
            <a:ext cx="2633472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415BA69E-CF97-6D84-FB4A-492B32167441}"/>
              </a:ext>
            </a:extLst>
          </p:cNvPr>
          <p:cNvSpPr/>
          <p:nvPr/>
        </p:nvSpPr>
        <p:spPr>
          <a:xfrm>
            <a:off x="6309360" y="4370832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&gt;2% | Engagement &gt;5% | CPP &lt;22 zł</a:t>
            </a:r>
            <a:endParaRPr lang="en-US" sz="75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B1451113-739B-3710-2749-904AABE23AE2}"/>
              </a:ext>
            </a:extLst>
          </p:cNvPr>
          <p:cNvSpPr/>
          <p:nvPr/>
        </p:nvSpPr>
        <p:spPr>
          <a:xfrm>
            <a:off x="6272784" y="466344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CTR &gt;2% | Engagement &gt;5% | CPP &lt;22 zł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2287388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TARGETOWANIE – AUDIENCE STRATEGY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Kogo targetujemy i jak.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4242816" cy="1901952"/>
          </a:xfrm>
          <a:prstGeom prst="rect">
            <a:avLst/>
          </a:prstGeom>
          <a:solidFill>
            <a:srgbClr val="EBF5FF"/>
          </a:solidFill>
          <a:ln w="6350">
            <a:solidFill>
              <a:srgbClr val="EBF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4242816" cy="274320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088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AUDIENCE – TOFU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20624" y="1408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Zainteresowania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81328" y="14081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Fitness, joga, pilates, zdrowe odżywianie, suplementy diety, bieganie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" y="1755648"/>
            <a:ext cx="4059936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EBF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20624" y="1792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Demografika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481328" y="17922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25–45 lat, PL, top 5 miast (WAW, KRK, WRO, GDA, POZ)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13969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20624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Zachowania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81328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Aktywni użytkownicy IG, kupujący online suplementy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2523744"/>
            <a:ext cx="4059936" cy="347472"/>
          </a:xfrm>
          <a:prstGeom prst="rect">
            <a:avLst/>
          </a:prstGeom>
          <a:solidFill>
            <a:srgbClr val="EBF5FF"/>
          </a:solidFill>
          <a:ln w="6350">
            <a:solidFill>
              <a:srgbClr val="EBF5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420624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Wykluczenia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81328" y="2560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Osoby które już odwiedziły LP lub kupiły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81728" y="1042416"/>
            <a:ext cx="4242816" cy="1901952"/>
          </a:xfrm>
          <a:prstGeom prst="rect">
            <a:avLst/>
          </a:prstGeom>
          <a:solidFill>
            <a:srgbClr val="FDE8F0"/>
          </a:solidFill>
          <a:ln w="6350">
            <a:solidFill>
              <a:srgbClr val="FD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4681728" y="1042416"/>
            <a:ext cx="4242816" cy="274320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791456" y="1088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AUDIENCE – MOFU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73168" y="1371600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46320" y="14081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Visitors LP 30s+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07024" y="140817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Strona Volté – odwiedzili min. 30 sek. w ciągu 30 dni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73168" y="1755648"/>
            <a:ext cx="4059936" cy="347472"/>
          </a:xfrm>
          <a:prstGeom prst="rect">
            <a:avLst/>
          </a:prstGeom>
          <a:solidFill>
            <a:srgbClr val="FDE8F0"/>
          </a:solidFill>
          <a:ln w="6350">
            <a:solidFill>
              <a:srgbClr val="FD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846320" y="1792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viewers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907024" y="179222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Obejrzeli 50%+ video Volté na IG/FB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73168" y="213969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4846320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1%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907024" y="21762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Podobni do odwiedzających LP – cold MOFU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73168" y="2523744"/>
            <a:ext cx="4059936" cy="347472"/>
          </a:xfrm>
          <a:prstGeom prst="rect">
            <a:avLst/>
          </a:prstGeom>
          <a:solidFill>
            <a:srgbClr val="FDE8F0"/>
          </a:solidFill>
          <a:ln w="6350">
            <a:solidFill>
              <a:srgbClr val="FDE8F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484632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engagers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07024" y="25603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Weszli w interakcję z Lead Ad (formularz próbka)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" y="3054096"/>
            <a:ext cx="4242816" cy="1901952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256032" y="3054096"/>
            <a:ext cx="4242816" cy="274320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365760" y="3099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AUDIENCE – BOFU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3383280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420624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Porzucony koszyk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481328" y="341985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Dodali do koszyka ale nie kupili – 7 dni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7472" y="3767328"/>
            <a:ext cx="4059936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420624" y="38039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visitors 2x+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481328" y="380390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Odwiedzili LP więcej niż 2x – wysokiej intencji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47472" y="415137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420624" y="4187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Custom Audience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481328" y="41879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Wgrana lista e-mail z CRM – istniejący leady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47472" y="4535424"/>
            <a:ext cx="4059936" cy="347472"/>
          </a:xfrm>
          <a:prstGeom prst="rect">
            <a:avLst/>
          </a:prstGeom>
          <a:solidFill>
            <a:srgbClr val="FFEBEE"/>
          </a:solidFill>
          <a:ln w="6350">
            <a:solidFill>
              <a:srgbClr val="FFEBEE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420624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Lookalike 3% buyers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481328" y="45720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Podobni do kupujących – poszerzenie BOFU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681728" y="3054096"/>
            <a:ext cx="4242816" cy="190195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/>
          <p:cNvSpPr/>
          <p:nvPr/>
        </p:nvSpPr>
        <p:spPr>
          <a:xfrm>
            <a:off x="4681728" y="3054096"/>
            <a:ext cx="4242816" cy="27432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4791456" y="30998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– LOJALNI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73168" y="3383280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4846320" y="34198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customers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907024" y="341985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Wgrana lista klientów D2C – retargeting cross-sell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73168" y="3767328"/>
            <a:ext cx="4059936" cy="34747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/>
          <p:cNvSpPr/>
          <p:nvPr/>
        </p:nvSpPr>
        <p:spPr>
          <a:xfrm>
            <a:off x="4846320" y="38039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top 20%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907024" y="380390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Najlepsi klienci – LTV lookalike 3%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73168" y="415137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4846320" y="4187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engagers 180d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07024" y="418795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Interakcja z profilem IG/FB w ciągu 180 dni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73168" y="4535424"/>
            <a:ext cx="4059936" cy="34747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/>
          <p:cNvSpPr/>
          <p:nvPr/>
        </p:nvSpPr>
        <p:spPr>
          <a:xfrm>
            <a:off x="4846320" y="4572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Post-purchase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5907024" y="45720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FB retargeting 30 dni po zakupie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KREACJE I COPY – FRAMEWORK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pokazujemy. Co piszemy. Jak konwertujemy.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24528" cy="195681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24528" cy="292608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0789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– COPY FRAMEWORK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3716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„Ten napój białkowy zmienił moje poranki."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84048" y="195681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Volté – 10g białka, zero cukru, bez mlecznego posmaku. Naturalny skład. Lekki jak woda.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2258568"/>
            <a:ext cx="1005840" cy="219456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84048" y="22585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Dowiedz się więcej →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Puszka w ruchu / lifestyle aktywna kobieta / siłownia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041648" cy="36576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20624" y="25968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Hook musi działać BEZ dźwięku (80% FB bez audio). Napisy obowiązkowe.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00016" y="1024128"/>
            <a:ext cx="4224528" cy="195681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4700016" y="1024128"/>
            <a:ext cx="4224528" cy="29260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809744" y="10789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 – COPY FRAMEWORK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09744" y="137160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09744" y="15361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„Czemu clear whey to lepsza forma białka od shaka?"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9744" y="179222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9744" y="195681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Klarowny, lekki, naturalny. Bez laktozy, bez mlecznego posmaku. 3 smaki do wyboru. Próbka za darmo.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9744" y="2258568"/>
            <a:ext cx="1005840" cy="219456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809744" y="225856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Zamów próbkę →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888736" y="228600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Split-screen: shake mleczny vs. Volté klarowny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91456" y="2560320"/>
            <a:ext cx="4041648" cy="36576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846320" y="25968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Lead Ad: formularz 3 pola. Follow-up email z kodem -10% w ciągu 24h.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4320" y="3035808"/>
            <a:ext cx="4224528" cy="195681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274320" y="3035808"/>
            <a:ext cx="4224528" cy="292608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84048" y="30906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COPY FRAMEWORK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38328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4048" y="3547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„Widziałeś już Volté. Czas spróbować."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4048" y="380390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84048" y="396849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dziś: 6-pak Volté z dostawą gratis. -15% dla nowych klientów. Oferta ważna 48h.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84048" y="4270248"/>
            <a:ext cx="1005840" cy="219456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384048" y="42702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 teraz – 69,99 zł →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463040" y="429768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Produkt na białym tle + timer odliczający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65760" y="4572000"/>
            <a:ext cx="4041648" cy="36576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20624" y="46085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Dynamic copy z ceną. Freq. cap 3x/tydz. Wyłącz po zakupie.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00016" y="3035808"/>
            <a:ext cx="4224528" cy="1956816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4700016" y="3035808"/>
            <a:ext cx="4224528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4809744" y="30906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– COPY FRAMEWORK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9744" y="338328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HOOK: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9744" y="3547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„Hej [Imię], nowy smak Volté już dostępny."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9744" y="3803904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09744" y="3968496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Grejpfrut dołącza do family. Twój ulubiony Lemon-Lime teraz z kompanem. Zamów 6-pak w mieszanym zestawie.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09744" y="4270248"/>
            <a:ext cx="1005840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4809744" y="4270248"/>
            <a:ext cx="1005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Odkryj nowy smak →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88736" y="4297680"/>
            <a:ext cx="2944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Visual: Dwie puszki obok siebie – Lemon-Lime + Grapefruit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791456" y="4572000"/>
            <a:ext cx="4041648" cy="36576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4846320" y="460857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Custom Audience: istniejący klienci. Personalizacja dynamiczna {first_name}.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BUDŻET I KPI – META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wydajemy i gdzie każda złotówka pracuje.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38912" y="1055697"/>
            <a:ext cx="26334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38912" y="1055697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090672" y="1055697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090672" y="1055697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142232" y="1055697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4142232" y="1055697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193792" y="1055697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193792" y="1055697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245352" y="1055697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245352" y="1055697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296912" y="1055697"/>
            <a:ext cx="110642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296912" y="1055697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8912" y="1366593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12064" y="1366593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IG/FB Reels Ads (TOFU/MOFU)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090672" y="1366593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090672" y="136659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42232" y="1366593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142232" y="136659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93792" y="1366593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5193792" y="136659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10 000 zł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245352" y="1366593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245352" y="136659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96912" y="1366593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7296912" y="1366593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30 000 zł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8912" y="1604337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512064" y="1604337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Ads (TOFU/MOFU)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090672" y="1604337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090672" y="160433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42232" y="1604337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142232" y="160433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193792" y="1604337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5193792" y="160433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45352" y="1604337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6245352" y="160433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96912" y="1604337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7296912" y="1604337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15 000 zł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8912" y="1842081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512064" y="1842081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Ads – Próbka (MOFU)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090672" y="1842081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3090672" y="184208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42232" y="1842081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4142232" y="184208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193792" y="1842081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5193792" y="184208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245352" y="1842081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6245352" y="184208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296912" y="1842081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7296912" y="1842081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15 000 zł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38912" y="2079825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512064" y="2079825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Product Ads (BOFU)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90672" y="2079825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3090672" y="2079825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142232" y="2079825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4142232" y="2079825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193792" y="2079825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5193792" y="2079825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zł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245352" y="2079825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6245352" y="2079825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zł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296912" y="2079825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7296912" y="2079825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18 000 zł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8912" y="2317569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512064" y="2317569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Awareness (TOFU)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90672" y="2317569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3090672" y="2317569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142232" y="2317569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/>
          <p:cNvSpPr/>
          <p:nvPr/>
        </p:nvSpPr>
        <p:spPr>
          <a:xfrm>
            <a:off x="4142232" y="2317569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193792" y="2317569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5193792" y="2317569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245352" y="2317569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6245352" y="2317569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96912" y="2317569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/>
          <p:cNvSpPr/>
          <p:nvPr/>
        </p:nvSpPr>
        <p:spPr>
          <a:xfrm>
            <a:off x="7296912" y="2317569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13 000 zł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38912" y="2555313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/>
          <p:cNvSpPr/>
          <p:nvPr/>
        </p:nvSpPr>
        <p:spPr>
          <a:xfrm>
            <a:off x="512064" y="2555313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Ads (consideration)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090672" y="2555313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/>
          <p:cNvSpPr/>
          <p:nvPr/>
        </p:nvSpPr>
        <p:spPr>
          <a:xfrm>
            <a:off x="3090672" y="255531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142232" y="2555313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/>
          <p:cNvSpPr/>
          <p:nvPr/>
        </p:nvSpPr>
        <p:spPr>
          <a:xfrm>
            <a:off x="4142232" y="255531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193792" y="2555313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/>
          <p:cNvSpPr/>
          <p:nvPr/>
        </p:nvSpPr>
        <p:spPr>
          <a:xfrm>
            <a:off x="5193792" y="255531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245352" y="2555313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/>
          <p:cNvSpPr/>
          <p:nvPr/>
        </p:nvSpPr>
        <p:spPr>
          <a:xfrm>
            <a:off x="6245352" y="2555313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296912" y="2555313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/>
          <p:cNvSpPr/>
          <p:nvPr/>
        </p:nvSpPr>
        <p:spPr>
          <a:xfrm>
            <a:off x="7296912" y="2555313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zł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438912" y="2793057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/>
          <p:cNvSpPr/>
          <p:nvPr/>
        </p:nvSpPr>
        <p:spPr>
          <a:xfrm>
            <a:off x="512064" y="2793057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postów organicznych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090672" y="2793057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9"/>
          <p:cNvSpPr/>
          <p:nvPr/>
        </p:nvSpPr>
        <p:spPr>
          <a:xfrm>
            <a:off x="3090672" y="279305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142232" y="2793057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/>
          <p:cNvSpPr/>
          <p:nvPr/>
        </p:nvSpPr>
        <p:spPr>
          <a:xfrm>
            <a:off x="4142232" y="279305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193792" y="2793057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3"/>
          <p:cNvSpPr/>
          <p:nvPr/>
        </p:nvSpPr>
        <p:spPr>
          <a:xfrm>
            <a:off x="5193792" y="279305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245352" y="2793057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/>
          <p:cNvSpPr/>
          <p:nvPr/>
        </p:nvSpPr>
        <p:spPr>
          <a:xfrm>
            <a:off x="6245352" y="2793057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296912" y="2793057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9" name="Text 97"/>
          <p:cNvSpPr/>
          <p:nvPr/>
        </p:nvSpPr>
        <p:spPr>
          <a:xfrm>
            <a:off x="7296912" y="2793057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3500 zł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438912" y="3030801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/>
          <p:cNvSpPr/>
          <p:nvPr/>
        </p:nvSpPr>
        <p:spPr>
          <a:xfrm>
            <a:off x="512064" y="3030801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testy kreacji (rezerwa)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3090672" y="3030801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1"/>
          <p:cNvSpPr/>
          <p:nvPr/>
        </p:nvSpPr>
        <p:spPr>
          <a:xfrm>
            <a:off x="3090672" y="303080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142232" y="3030801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/>
          <p:cNvSpPr/>
          <p:nvPr/>
        </p:nvSpPr>
        <p:spPr>
          <a:xfrm>
            <a:off x="4142232" y="303080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5193792" y="3030801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5"/>
          <p:cNvSpPr/>
          <p:nvPr/>
        </p:nvSpPr>
        <p:spPr>
          <a:xfrm>
            <a:off x="5193792" y="303080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6245352" y="3030801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/>
          <p:cNvSpPr/>
          <p:nvPr/>
        </p:nvSpPr>
        <p:spPr>
          <a:xfrm>
            <a:off x="6245352" y="3030801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296912" y="3030801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1" name="Text 109"/>
          <p:cNvSpPr/>
          <p:nvPr/>
        </p:nvSpPr>
        <p:spPr>
          <a:xfrm>
            <a:off x="7296912" y="3030801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>
            <a:off x="438912" y="3268545"/>
            <a:ext cx="26334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3" name="Text 111"/>
          <p:cNvSpPr/>
          <p:nvPr/>
        </p:nvSpPr>
        <p:spPr>
          <a:xfrm>
            <a:off x="512064" y="3268545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Meta Ads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090672" y="3268545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5" name="Text 113"/>
          <p:cNvSpPr/>
          <p:nvPr/>
        </p:nvSpPr>
        <p:spPr>
          <a:xfrm>
            <a:off x="3090672" y="3268545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13 000 zł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142232" y="3268545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7" name="Text 115"/>
          <p:cNvSpPr/>
          <p:nvPr/>
        </p:nvSpPr>
        <p:spPr>
          <a:xfrm>
            <a:off x="4142232" y="3268545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29 000 zł</a:t>
            </a:r>
            <a:endParaRPr lang="en-US" sz="900" dirty="0"/>
          </a:p>
        </p:txBody>
      </p:sp>
      <p:sp>
        <p:nvSpPr>
          <p:cNvPr id="118" name="Shape 116"/>
          <p:cNvSpPr/>
          <p:nvPr/>
        </p:nvSpPr>
        <p:spPr>
          <a:xfrm>
            <a:off x="5193792" y="3268545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9" name="Text 117"/>
          <p:cNvSpPr/>
          <p:nvPr/>
        </p:nvSpPr>
        <p:spPr>
          <a:xfrm>
            <a:off x="5193792" y="3268545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35 000 zł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6245352" y="3268545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1" name="Text 119"/>
          <p:cNvSpPr/>
          <p:nvPr/>
        </p:nvSpPr>
        <p:spPr>
          <a:xfrm>
            <a:off x="6245352" y="3268545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28 500 zł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296912" y="3268545"/>
            <a:ext cx="110642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3" name="Text 121"/>
          <p:cNvSpPr/>
          <p:nvPr/>
        </p:nvSpPr>
        <p:spPr>
          <a:xfrm>
            <a:off x="7296912" y="3268545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105 500 zł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347472" y="3725745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5" name="Text 123"/>
          <p:cNvSpPr/>
          <p:nvPr/>
        </p:nvSpPr>
        <p:spPr>
          <a:xfrm>
            <a:off x="457200" y="3780609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457200" y="3963489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&gt;3,5x</a:t>
            </a:r>
            <a:endParaRPr lang="en-US" sz="2200" dirty="0"/>
          </a:p>
        </p:txBody>
      </p:sp>
      <p:sp>
        <p:nvSpPr>
          <p:cNvPr id="127" name="Text 125"/>
          <p:cNvSpPr/>
          <p:nvPr/>
        </p:nvSpPr>
        <p:spPr>
          <a:xfrm>
            <a:off x="457200" y="4219521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Fazy 2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3162516" y="3736631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9" name="Text 127"/>
          <p:cNvSpPr/>
          <p:nvPr/>
        </p:nvSpPr>
        <p:spPr>
          <a:xfrm>
            <a:off x="3304902" y="3791495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CPM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3304902" y="3974375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&lt;35 zł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3304902" y="4230407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avg.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010221" y="3735324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3" name="Text 131"/>
          <p:cNvSpPr/>
          <p:nvPr/>
        </p:nvSpPr>
        <p:spPr>
          <a:xfrm>
            <a:off x="6119949" y="3790188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Reels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6119949" y="397306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&gt;2,5%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6119949" y="4229100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PL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347472" y="4475553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7" name="Text 135"/>
          <p:cNvSpPr/>
          <p:nvPr/>
        </p:nvSpPr>
        <p:spPr>
          <a:xfrm>
            <a:off x="457200" y="4530417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Próbka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457200" y="4713297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 zł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57200" y="4969329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Ad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3184290" y="4485132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1" name="Text 139"/>
          <p:cNvSpPr/>
          <p:nvPr/>
        </p:nvSpPr>
        <p:spPr>
          <a:xfrm>
            <a:off x="3294018" y="453999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3294018" y="472287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&lt;28 zł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3294018" y="4978908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Ads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6010221" y="4485132"/>
            <a:ext cx="27432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5" name="Text 143"/>
          <p:cNvSpPr/>
          <p:nvPr/>
        </p:nvSpPr>
        <p:spPr>
          <a:xfrm>
            <a:off x="6119949" y="4539996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9M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6119949" y="472287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105 500 zł</a:t>
            </a:r>
            <a:endParaRPr lang="en-US" sz="1800" dirty="0"/>
          </a:p>
        </p:txBody>
      </p:sp>
      <p:sp>
        <p:nvSpPr>
          <p:cNvPr id="147" name="Text 145"/>
          <p:cNvSpPr/>
          <p:nvPr/>
        </p:nvSpPr>
        <p:spPr>
          <a:xfrm>
            <a:off x="6119949" y="4978908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łącznie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HARMONOGRAM – META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działań miesiąc po miesiącu.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64208" y="1554480"/>
            <a:ext cx="159105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700784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273552" y="1554480"/>
            <a:ext cx="159105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310128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882896" y="1554480"/>
            <a:ext cx="1591056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919472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395728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528816" y="155448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6032" y="1792224"/>
            <a:ext cx="1267968" cy="6583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>
              <a:highlight>
                <a:srgbClr val="FFFF00"/>
              </a:highlight>
            </a:endParaRPr>
          </a:p>
        </p:txBody>
      </p:sp>
      <p:sp>
        <p:nvSpPr>
          <p:cNvPr id="31" name="Text 29"/>
          <p:cNvSpPr/>
          <p:nvPr/>
        </p:nvSpPr>
        <p:spPr>
          <a:xfrm>
            <a:off x="320040" y="2029968"/>
            <a:ext cx="9209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64208" y="1810512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1664208" y="1828800"/>
            <a:ext cx="7187184" cy="219456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1709928" y="1828800"/>
            <a:ext cx="715060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 TOFU – broad (cold)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664208" y="2121408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1664208" y="2139696"/>
            <a:ext cx="4773168" cy="219456"/>
          </a:xfrm>
          <a:prstGeom prst="rect">
            <a:avLst/>
          </a:prstGeom>
          <a:solidFill>
            <a:srgbClr val="4288FF"/>
          </a:solidFill>
          <a:ln w="6350">
            <a:solidFill>
              <a:srgbClr val="4288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1709928" y="2139696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6s – brand recall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56032" y="2505456"/>
            <a:ext cx="1267968" cy="9692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>
              <a:highlight>
                <a:srgbClr val="FFFF00"/>
              </a:highlight>
            </a:endParaRPr>
          </a:p>
        </p:txBody>
      </p:sp>
      <p:sp>
        <p:nvSpPr>
          <p:cNvPr id="39" name="Text 37"/>
          <p:cNvSpPr/>
          <p:nvPr/>
        </p:nvSpPr>
        <p:spPr>
          <a:xfrm>
            <a:off x="320040" y="2898648"/>
            <a:ext cx="102978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664208" y="2523744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2468880" y="2542032"/>
            <a:ext cx="6382512" cy="219456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2514600" y="2542032"/>
            <a:ext cx="6345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MOFU – warm audience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664208" y="2834640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Shape 42"/>
          <p:cNvSpPr/>
          <p:nvPr/>
        </p:nvSpPr>
        <p:spPr>
          <a:xfrm>
            <a:off x="2468880" y="2852928"/>
            <a:ext cx="3968496" cy="219456"/>
          </a:xfrm>
          <a:prstGeom prst="rect">
            <a:avLst/>
          </a:prstGeom>
          <a:solidFill>
            <a:srgbClr val="E8608A"/>
          </a:solidFill>
          <a:ln w="6350">
            <a:solidFill>
              <a:srgbClr val="E8608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2514600" y="28529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Ads – próbka gratis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1664208" y="3145536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/>
          <p:cNvSpPr/>
          <p:nvPr/>
        </p:nvSpPr>
        <p:spPr>
          <a:xfrm>
            <a:off x="3273552" y="3163824"/>
            <a:ext cx="4773168" cy="219456"/>
          </a:xfrm>
          <a:prstGeom prst="rect">
            <a:avLst/>
          </a:prstGeom>
          <a:solidFill>
            <a:srgbClr val="F09EC0"/>
          </a:solidFill>
          <a:ln w="6350">
            <a:solidFill>
              <a:srgbClr val="F09EC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319272" y="3163824"/>
            <a:ext cx="47365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– benefits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56032" y="3529584"/>
            <a:ext cx="1267968" cy="6583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>
              <a:highlight>
                <a:srgbClr val="FFFF00"/>
              </a:highlight>
            </a:endParaRPr>
          </a:p>
        </p:txBody>
      </p:sp>
      <p:sp>
        <p:nvSpPr>
          <p:cNvPr id="50" name="Text 48"/>
          <p:cNvSpPr/>
          <p:nvPr/>
        </p:nvSpPr>
        <p:spPr>
          <a:xfrm>
            <a:off x="320040" y="3767328"/>
            <a:ext cx="83384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664208" y="3547872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Shape 50"/>
          <p:cNvSpPr/>
          <p:nvPr/>
        </p:nvSpPr>
        <p:spPr>
          <a:xfrm>
            <a:off x="3273552" y="3566160"/>
            <a:ext cx="5577840" cy="219456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319272" y="3566160"/>
            <a:ext cx="5541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Product Ads BOFU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664208" y="3858768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Shape 53"/>
          <p:cNvSpPr/>
          <p:nvPr/>
        </p:nvSpPr>
        <p:spPr>
          <a:xfrm>
            <a:off x="3273552" y="3877056"/>
            <a:ext cx="5577840" cy="219456"/>
          </a:xfrm>
          <a:prstGeom prst="rect">
            <a:avLst/>
          </a:prstGeom>
          <a:solidFill>
            <a:srgbClr val="D44000"/>
          </a:solidFill>
          <a:ln w="6350">
            <a:solidFill>
              <a:srgbClr val="D44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/>
          <p:cNvSpPr/>
          <p:nvPr/>
        </p:nvSpPr>
        <p:spPr>
          <a:xfrm>
            <a:off x="3319272" y="3877056"/>
            <a:ext cx="55412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koszyk+LP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56032" y="4242816"/>
            <a:ext cx="1267968" cy="658368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>
              <a:highlight>
                <a:srgbClr val="FFFF00"/>
              </a:highlight>
            </a:endParaRPr>
          </a:p>
        </p:txBody>
      </p:sp>
      <p:sp>
        <p:nvSpPr>
          <p:cNvPr id="58" name="Text 56"/>
          <p:cNvSpPr/>
          <p:nvPr/>
        </p:nvSpPr>
        <p:spPr>
          <a:xfrm>
            <a:off x="320040" y="4480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664208" y="4261104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Shape 58"/>
          <p:cNvSpPr/>
          <p:nvPr/>
        </p:nvSpPr>
        <p:spPr>
          <a:xfrm>
            <a:off x="4882896" y="4279392"/>
            <a:ext cx="3968496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4928616" y="427939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Audience – klienci CRM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664208" y="4572000"/>
            <a:ext cx="7223760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Shape 61"/>
          <p:cNvSpPr/>
          <p:nvPr/>
        </p:nvSpPr>
        <p:spPr>
          <a:xfrm>
            <a:off x="5687568" y="4590288"/>
            <a:ext cx="3163824" cy="219456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Text 62"/>
          <p:cNvSpPr/>
          <p:nvPr/>
        </p:nvSpPr>
        <p:spPr>
          <a:xfrm>
            <a:off x="5733288" y="4590288"/>
            <a:ext cx="312724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Lookalike 3%</a:t>
            </a:r>
            <a:endParaRPr lang="en-US" sz="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0"/>
          </a:xfrm>
          <a:prstGeom prst="rect">
            <a:avLst/>
          </a:prstGeom>
          <a:solidFill>
            <a:srgbClr val="050505"/>
          </a:solidFill>
          <a:ln w="635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VOLTÉ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4754880" cy="36576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502920" y="2212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LEJEK MARKETINGOWY – TIKTOK ADS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TopView  |  In-Feed Ads  |  Spark Ads  |  TikTok Creator Marketplace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0292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IN-FEED ADS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Natywny feed, 9:16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00F2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29184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184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postów organicznych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4041648"/>
            <a:ext cx="2606040" cy="749808"/>
          </a:xfrm>
          <a:prstGeom prst="rect">
            <a:avLst/>
          </a:prstGeom>
          <a:solidFill>
            <a:srgbClr val="111111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080760" y="411480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TOPVIEW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4407408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Pierwszy spot po otwarciu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DLACZEGO TIKTOK DLA VOLTÉ?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930380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jest TG1 i TG3. I dlaczego native content wygrywa.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92608" y="1298448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92608" y="1298448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429768" y="14447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14,5M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29768" y="19568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użytkowników TikTok w Polsce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45536" y="1298448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145536" y="1298448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82696" y="14447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82696" y="19568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użytkowników 18–34 lat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8464" y="1298448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5998464" y="1298448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6135624" y="14447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#FoodTok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135624" y="195681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 mld wyświetleń na PL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2414016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92608" y="2414016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29768" y="25603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#FitnessTok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29768" y="3072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900M wyświetleń – PL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45536" y="2414016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3145536" y="2414016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282696" y="25603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min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282696" y="3072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średni czas/dzień na TikTok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98464" y="2414016"/>
            <a:ext cx="2743200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5998464" y="2414016"/>
            <a:ext cx="2743200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135624" y="25603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wins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135624" y="307238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UGC-style konwertuje 3× lepiej niż branded</a:t>
            </a:r>
            <a:endParaRPr lang="en-US" sz="9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6F156944-30C0-5120-25DA-F536CDD33AAE}"/>
              </a:ext>
            </a:extLst>
          </p:cNvPr>
          <p:cNvSpPr/>
          <p:nvPr/>
        </p:nvSpPr>
        <p:spPr>
          <a:xfrm>
            <a:off x="292608" y="3602736"/>
            <a:ext cx="8558784" cy="1225296"/>
          </a:xfrm>
          <a:prstGeom prst="rect">
            <a:avLst/>
          </a:prstGeom>
          <a:solidFill>
            <a:srgbClr val="000000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A0A990F8-805D-B5F9-6903-A00E594802F2}"/>
              </a:ext>
            </a:extLst>
          </p:cNvPr>
          <p:cNvSpPr/>
          <p:nvPr/>
        </p:nvSpPr>
        <p:spPr>
          <a:xfrm>
            <a:off x="457200" y="367588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TIKTOK JEST KLUCZOWY DLA VOLTÉ</a:t>
            </a:r>
            <a:endParaRPr lang="en-US" sz="900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623D1CCC-DD73-081A-9EC2-B605E4231EF9}"/>
              </a:ext>
            </a:extLst>
          </p:cNvPr>
          <p:cNvSpPr/>
          <p:nvPr/>
        </p:nvSpPr>
        <p:spPr>
          <a:xfrm>
            <a:off x="457200" y="393192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TG1 (kobiety 25–40, fitness lifestyle) spędza avg. 80 min/dzień na TikTok – to jest ich główne medium</a:t>
            </a:r>
            <a:endParaRPr lang="en-US" sz="8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C668947F-0DAB-CA1D-8989-4BCDE7F3CC7C}"/>
              </a:ext>
            </a:extLst>
          </p:cNvPr>
          <p:cNvSpPr/>
          <p:nvPr/>
        </p:nvSpPr>
        <p:spPr>
          <a:xfrm>
            <a:off x="457200" y="4096512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#cleaneating, #zerocukru, #napojbialowy – organiczne hashtagi z milionami wyświetleń</a:t>
            </a:r>
            <a:endParaRPr lang="en-US" sz="80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86C4BA4E-A3C4-DB08-CDB7-C42892FFE584}"/>
              </a:ext>
            </a:extLst>
          </p:cNvPr>
          <p:cNvSpPr/>
          <p:nvPr/>
        </p:nvSpPr>
        <p:spPr>
          <a:xfrm>
            <a:off x="457200" y="4261104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UGC 'blind test' i 'reakcja na smak' generują viral reach bez dużego budżetu</a:t>
            </a:r>
            <a:endParaRPr lang="en-US" sz="80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A116A122-D58B-6287-A673-F548959B7767}"/>
              </a:ext>
            </a:extLst>
          </p:cNvPr>
          <p:cNvSpPr/>
          <p:nvPr/>
        </p:nvSpPr>
        <p:spPr>
          <a:xfrm>
            <a:off x="457200" y="4425696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Algorytm TikTok demokratyzuje zasięg – nowa marka może dotrzeć do 500k organicznie</a:t>
            </a:r>
            <a:endParaRPr lang="en-US" sz="80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6F05AE1B-7C46-3C71-C96C-D625F6F56DF8}"/>
              </a:ext>
            </a:extLst>
          </p:cNvPr>
          <p:cNvSpPr/>
          <p:nvPr/>
        </p:nvSpPr>
        <p:spPr>
          <a:xfrm>
            <a:off x="457200" y="459028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 Ads: boost własnych postów influencerów = paid reach przy zachowaniu autentyczności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LEJEK TIKTOK ADS – ETAPY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wirusowego zasięgu do zakupu.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60704"/>
            <a:ext cx="4224528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224528" cy="32918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TOFU – DISCOVERY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74720" y="1133856"/>
            <a:ext cx="95097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74720" y="113385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30%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Video Views + Brand Awareness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84048" y="1664208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In-Feed Ads 9:16, 9–60 sek. – hook w 1. sek.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TopView 3–5 sek. na otwarcie apki (launch M3)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Challenge: #VoltujSieZNami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Marketplace: 5 nano/micro influencerów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596896"/>
            <a:ext cx="4041648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20624" y="2633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Views &gt;500k | VTR &gt;40% | CPV &lt;0,05 zł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718304" y="1060704"/>
            <a:ext cx="4224528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718304" y="1060704"/>
            <a:ext cx="4224528" cy="329184"/>
          </a:xfrm>
          <a:prstGeom prst="rect">
            <a:avLst/>
          </a:prstGeom>
          <a:solidFill>
            <a:srgbClr val="00F2EA"/>
          </a:solidFill>
          <a:ln w="6350">
            <a:solidFill>
              <a:srgbClr val="00F2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828032" y="11247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MOFU – ENGAGEMENT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18704" y="1133856"/>
            <a:ext cx="95097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918704" y="113385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35%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28032" y="146304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Engagement + Profile Visits + Follows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28032" y="1664208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Ads: boost postów influencerów (@pilates.z.magda)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Duet/Stitch z popularnymi fitness TikTokerami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engagement: odpowiedź na komentarz video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showcase: 'Mój drink po treningu' format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09744" y="2596896"/>
            <a:ext cx="4041648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4864608" y="26334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&gt;6% | Follows wzrost +20%/mies. | Spark CTR &gt;2%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4320" y="3072384"/>
            <a:ext cx="4224528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4224528" cy="329184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84048" y="3136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BOFU – CONVERSION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3145536"/>
            <a:ext cx="95097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3474720" y="31455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25%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47472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Click-to-Shop + Landing Page Traffic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" y="3675888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In-Feed z przyciskiem 'Kup teraz' → sklep D2C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Shop (jeśli dostępny w PL – roadmap)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Retargeting: oglądnęli video &gt;75%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Showcase: automatyczne dopasowanie produktu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608576"/>
            <a:ext cx="4041648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20624" y="46451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&gt;2,5% | CPO &lt;35 zł | ROAS &gt;2,5x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18304" y="3072384"/>
            <a:ext cx="4224528" cy="190195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4718304" y="3072384"/>
            <a:ext cx="4224528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828032" y="31363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– CONTENT ENGINE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918704" y="3145536"/>
            <a:ext cx="95097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7918704" y="3145536"/>
            <a:ext cx="950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10%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474720"/>
            <a:ext cx="40050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Cel: User Generated Content – tanie skalowanie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28032" y="3675888"/>
            <a:ext cx="40050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UGC: 'Pokaż swój drink po treningu z Volté'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najlepszych UGC na oficjalnym profilu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Creator Fund: motywacja do tworzenia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Konkurs: 'Najlepszy TikTok z Volté wygrywa 6-pak'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09744" y="4608576"/>
            <a:ext cx="4041648" cy="31089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864608" y="46451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&gt;100/mies. od M3 | Viral coefficient &gt;1,2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FORMATY I KREACJE – TIKTOK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wygląda dobry TikTok Volté. Zasady kreacji.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863193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104241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ZŁOTA ZASADA TIKTOK: NATIVE FIRST. Reklama musi wyglądać jak organiczny post – inaczej użytkownicy scrollują.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316736"/>
            <a:ext cx="4242816" cy="1810512"/>
          </a:xfrm>
          <a:prstGeom prst="rect">
            <a:avLst/>
          </a:prstGeom>
          <a:solidFill>
            <a:srgbClr val="FFEBEE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316736"/>
            <a:ext cx="4242816" cy="292608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65760" y="13624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IN-FEED AD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9–60 SEK.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w 1. sekundzie: pytanie, zaskoczenie lub akcja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Napisy obowiązkowe (80% ogląda bez dźwięku)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Muzyka z TikTok Sound Library (nie własna)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wyglądaj jak reklama – wyglądaj jak user post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Zakończ mocnym CTA: 'Link w bio' lub button 'Kup'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2523744"/>
            <a:ext cx="405993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02336" y="2560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'Sprawdziłam napój białkowy który nie smakuje mlekiem 🤯' [3 sek.] → otwiera puszkę → smakuje → reakcja zaskoczenia → 'Volté. Link w bio.'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92608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0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VTR &gt;40% (15s) | CTR &gt;2,5% | CPV &lt;0,06 zł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81728" y="1316736"/>
            <a:ext cx="4242816" cy="1810512"/>
          </a:xfrm>
          <a:prstGeom prst="rect">
            <a:avLst/>
          </a:prstGeom>
          <a:solidFill>
            <a:srgbClr val="E0FFFE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4681728" y="1316736"/>
            <a:ext cx="4242816" cy="292608"/>
          </a:xfrm>
          <a:prstGeom prst="rect">
            <a:avLst/>
          </a:prstGeom>
          <a:solidFill>
            <a:srgbClr val="00F2EA"/>
          </a:solidFill>
          <a:ln w="6350">
            <a:solidFill>
              <a:srgbClr val="00F2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791456" y="1362456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(BOOST)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1664208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autentycznych postów influencerów (nie branded)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@pilates.z.magda, @siłownia_lifestyle – ich naturalne posty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Zachowuje likes/komentarze oryginalnego posta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Możesz targetować: zainteresowania, lookalike, custom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Znacznie wyższe CTR niż In-Feed (2–4×)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73168" y="2523744"/>
            <a:ext cx="405993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828032" y="25603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Post @pilates.z.magda: 'Mój drink po pilatesie 🍋' z naturalnym tagiem Volté → Spark Ads boost → Reach ×10 przy 500 zł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91456" y="292608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0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&gt;4% | ER &gt;8% | CPM &lt;20 zł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3182112"/>
            <a:ext cx="4242816" cy="190195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256032" y="3182112"/>
            <a:ext cx="4242816" cy="29260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65760" y="32278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TOPVIEW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SEK.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529584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Pierwszy spot po otwarciu aplikacji – 100% uwagi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3–5 sekund – musi być uderzające wizualnie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audio na start (autoplay bez dźwięku)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Użyj przy launchu (M3) i Żabka launch (M5)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Ograniczona dostępność – zarezerwuj z wyprzedzeniem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389120"/>
            <a:ext cx="405993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02336" y="44256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Otwarcie apki → pełny ekran: puszka Volté otwiera się wolno → napisy: 'Zero cukru. Teraz w Żabce.' → logo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47914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100% otwarć | CPM ~60 zł | Brand recall +15pp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81728" y="3182112"/>
            <a:ext cx="4242816" cy="190195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4681728" y="3182112"/>
            <a:ext cx="4242816" cy="29260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4791456" y="3227832"/>
            <a:ext cx="40050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</a:t>
            </a:r>
            <a:endParaRPr lang="en-US" sz="9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3529584"/>
            <a:ext cx="4005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#VoltujSieZNami – challenge z tańcem lub sportem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video od 2–3 influencerów Tier 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Nagroda: 1 miesięczny zapas Volté dla 3 zwycięzców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Organiczne UGC generowane przez fanów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Zbierasz bazę UGC do reutilizacji w Spark Ads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73168" y="4389120"/>
            <a:ext cx="4059936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4828032" y="44256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EX: Zadanie: 'Nagraj swój trening i wypij Volté na końcu. Tag #VoltujSieZNami' → CEL: 500+ filmów od użytkowników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91456" y="47914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&gt;300 filmów | Zasięg organiczny &gt;2M | Koszt: nagrody ~300 zł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CONTENT CALENDAR – TIKTOK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publikujemy każdego tygodnia.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2048256" cy="3547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2048256" cy="329184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PONIEDZIAŁEK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1883664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Edukacja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'Czym jest clear whey i dlaczego nie smakuje mlekiem?' – edukacyjny, 30–45 sek.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3438144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#cleaWhey #bialko #volte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posty organiczne/tydz.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+ 2× Spark Ads boost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+ 1× UGC repost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50592" y="1261872"/>
            <a:ext cx="2048256" cy="3547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2450592" y="1261872"/>
            <a:ext cx="2048256" cy="32918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542032" y="12984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ŚRODA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42032" y="1627632"/>
            <a:ext cx="1883664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542032" y="1627632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42032" y="1901952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'Mój drink po treningu pilates' – UGC style, pokazuje produkt w naturalnym kontekście.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42032" y="3438144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#pilates #trening #fitnessmotywacja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542032" y="3749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posty organiczne/tydz.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+ 2× Spark Ads boost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+ 1× UGC repost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26864" y="1261872"/>
            <a:ext cx="2048256" cy="3547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4626864" y="1261872"/>
            <a:ext cx="2048256" cy="32918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4718304" y="12984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PIĄTEK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8304" y="1627632"/>
            <a:ext cx="1883664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4718304" y="1627632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Entertainment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18304" y="1901952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'Reakcja na ślepy test: Volté vs. klasyczny shake mleczny' – suspens + zaskoczenie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18304" y="3438144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#blindtest #szokujące #napojbialowy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18304" y="3749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posty organiczne/tydz.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+ 2× Spark Ads boost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+ 1× UGC repost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803136" y="1261872"/>
            <a:ext cx="2048256" cy="354787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6803136" y="1261872"/>
            <a:ext cx="2048256" cy="329184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6894576" y="1298448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SOBOTA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94576" y="1627632"/>
            <a:ext cx="1883664" cy="219456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6894576" y="1627632"/>
            <a:ext cx="18836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Oferta / CTA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94576" y="1901952"/>
            <a:ext cx="18836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'Tylko ten weekend: -15% na 6-pak. Link w bio.' – krótki, produkt, pilność.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94576" y="3438144"/>
            <a:ext cx="1883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#wyprzedaz #promocja #volte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894576" y="3749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posty organiczne/tydz.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+ 2× Spark Ads boost</a:t>
            </a:r>
            <a:endParaRPr lang="en-US" sz="7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+ 1× UGC repost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58784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420624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RYTM: 4 paid posts/tydz. + 3 organic/tydz. + 1–2 Spark Ads boost/tydz. = 8–9 filmów tygodniowo na koncie Volté. Content Manager: 3 000 zł/mies.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BUDŻET I KPI – TIKTOK ADS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wydajemy i czego oczekujemy.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6334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KATEGORIA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907792" y="1261872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907792" y="12618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959352" y="1261872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959352" y="12618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010912" y="1261872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010912" y="12618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062472" y="1261872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62472" y="1261872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114032" y="1261872"/>
            <a:ext cx="110642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7114032" y="1261872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6032" y="1572768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29184" y="15727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In-Feed Ads (awareness/conversion)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907792" y="1572768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2907792" y="157276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959352" y="1572768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959352" y="157276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10912" y="1572768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5010912" y="157276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62472" y="1572768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6062472" y="157276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14032" y="1572768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7114032" y="157276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20 000 zł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1810512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29184" y="181051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 (boost influencerów)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907792" y="1810512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2907792" y="181051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959352" y="1810512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959352" y="181051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10912" y="1810512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5010912" y="181051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62472" y="1810512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6062472" y="181051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zł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14032" y="1810512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7114032" y="1810512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9000 zł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6032" y="2048256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329184" y="20482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TopView (launch M3 i M5)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07792" y="2048256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2907792" y="2048256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959352" y="2048256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3959352" y="2048256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010912" y="2048256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5010912" y="2048256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4000 zł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62472" y="2048256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6062472" y="2048256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114032" y="2048256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7114032" y="2048256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zł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56032" y="2286000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29184" y="2286000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Challenge #VoltujSieZNami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907792" y="2286000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2907792" y="2286000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959352" y="2286000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3959352" y="2286000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10912" y="2286000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5010912" y="2286000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62472" y="2286000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6062472" y="2286000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114032" y="2286000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7114032" y="2286000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56032" y="2523744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329184" y="25237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Creator Marketplace (UGC)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907792" y="2523744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2907792" y="2523744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959352" y="2523744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/>
          <p:cNvSpPr/>
          <p:nvPr/>
        </p:nvSpPr>
        <p:spPr>
          <a:xfrm>
            <a:off x="3959352" y="2523744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5010912" y="2523744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5010912" y="2523744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062472" y="2523744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6062472" y="2523744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114032" y="2523744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/>
          <p:cNvSpPr/>
          <p:nvPr/>
        </p:nvSpPr>
        <p:spPr>
          <a:xfrm>
            <a:off x="7114032" y="2523744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6032" y="2761488"/>
            <a:ext cx="26334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/>
          <p:cNvSpPr/>
          <p:nvPr/>
        </p:nvSpPr>
        <p:spPr>
          <a:xfrm>
            <a:off x="329184" y="276148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Retargeting (video viewers 75%+)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907792" y="2761488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/>
          <p:cNvSpPr/>
          <p:nvPr/>
        </p:nvSpPr>
        <p:spPr>
          <a:xfrm>
            <a:off x="2907792" y="276148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3959352" y="2761488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/>
          <p:cNvSpPr/>
          <p:nvPr/>
        </p:nvSpPr>
        <p:spPr>
          <a:xfrm>
            <a:off x="3959352" y="276148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010912" y="2761488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/>
          <p:cNvSpPr/>
          <p:nvPr/>
        </p:nvSpPr>
        <p:spPr>
          <a:xfrm>
            <a:off x="5010912" y="276148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6062472" y="2761488"/>
            <a:ext cx="1033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/>
          <p:cNvSpPr/>
          <p:nvPr/>
        </p:nvSpPr>
        <p:spPr>
          <a:xfrm>
            <a:off x="6062472" y="2761488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zł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114032" y="2761488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/>
          <p:cNvSpPr/>
          <p:nvPr/>
        </p:nvSpPr>
        <p:spPr>
          <a:xfrm>
            <a:off x="7114032" y="2761488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5000 zł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56032" y="2999232"/>
            <a:ext cx="26334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/>
          <p:cNvSpPr/>
          <p:nvPr/>
        </p:nvSpPr>
        <p:spPr>
          <a:xfrm>
            <a:off x="329184" y="2999232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Testy A/B kreacji (rezerwa)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907792" y="2999232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9"/>
          <p:cNvSpPr/>
          <p:nvPr/>
        </p:nvSpPr>
        <p:spPr>
          <a:xfrm>
            <a:off x="2907792" y="299923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959352" y="2999232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/>
          <p:cNvSpPr/>
          <p:nvPr/>
        </p:nvSpPr>
        <p:spPr>
          <a:xfrm>
            <a:off x="3959352" y="299923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010912" y="2999232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3"/>
          <p:cNvSpPr/>
          <p:nvPr/>
        </p:nvSpPr>
        <p:spPr>
          <a:xfrm>
            <a:off x="5010912" y="299923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6062472" y="2999232"/>
            <a:ext cx="1033272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/>
          <p:cNvSpPr/>
          <p:nvPr/>
        </p:nvSpPr>
        <p:spPr>
          <a:xfrm>
            <a:off x="6062472" y="2999232"/>
            <a:ext cx="1033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zł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7114032" y="2999232"/>
            <a:ext cx="1106424" cy="2377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9" name="Text 97"/>
          <p:cNvSpPr/>
          <p:nvPr/>
        </p:nvSpPr>
        <p:spPr>
          <a:xfrm>
            <a:off x="7114032" y="2999232"/>
            <a:ext cx="11064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zł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56032" y="3236976"/>
            <a:ext cx="26334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/>
          <p:cNvSpPr/>
          <p:nvPr/>
        </p:nvSpPr>
        <p:spPr>
          <a:xfrm>
            <a:off x="329184" y="32369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TikTok Ads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2907792" y="3236976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1"/>
          <p:cNvSpPr/>
          <p:nvPr/>
        </p:nvSpPr>
        <p:spPr>
          <a:xfrm>
            <a:off x="2907792" y="3236976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zł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959352" y="3236976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/>
          <p:cNvSpPr/>
          <p:nvPr/>
        </p:nvSpPr>
        <p:spPr>
          <a:xfrm>
            <a:off x="3959352" y="3236976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15 500 zł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5010912" y="3236976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5"/>
          <p:cNvSpPr/>
          <p:nvPr/>
        </p:nvSpPr>
        <p:spPr>
          <a:xfrm>
            <a:off x="5010912" y="3236976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18 500 zł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062472" y="3236976"/>
            <a:ext cx="1033272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/>
          <p:cNvSpPr/>
          <p:nvPr/>
        </p:nvSpPr>
        <p:spPr>
          <a:xfrm>
            <a:off x="6062472" y="3236976"/>
            <a:ext cx="1033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12 500 zł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114032" y="3236976"/>
            <a:ext cx="110642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1" name="Text 109"/>
          <p:cNvSpPr/>
          <p:nvPr/>
        </p:nvSpPr>
        <p:spPr>
          <a:xfrm>
            <a:off x="7114032" y="3236976"/>
            <a:ext cx="1106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47 500 zł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56032" y="3607309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3" name="Text 111"/>
          <p:cNvSpPr/>
          <p:nvPr/>
        </p:nvSpPr>
        <p:spPr>
          <a:xfrm>
            <a:off x="365760" y="3662173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VTR (15s)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365760" y="3845053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2000" dirty="0"/>
          </a:p>
        </p:txBody>
      </p:sp>
      <p:sp>
        <p:nvSpPr>
          <p:cNvPr id="115" name="Text 113"/>
          <p:cNvSpPr/>
          <p:nvPr/>
        </p:nvSpPr>
        <p:spPr>
          <a:xfrm>
            <a:off x="365760" y="4101085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play-through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3136392" y="3607309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7" name="Text 115"/>
          <p:cNvSpPr/>
          <p:nvPr/>
        </p:nvSpPr>
        <p:spPr>
          <a:xfrm>
            <a:off x="3246120" y="3662173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CPV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3246120" y="3845053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&lt;0,06 zł</a:t>
            </a:r>
            <a:endParaRPr lang="en-US" sz="2000" dirty="0"/>
          </a:p>
        </p:txBody>
      </p:sp>
      <p:sp>
        <p:nvSpPr>
          <p:cNvPr id="119" name="Text 117"/>
          <p:cNvSpPr/>
          <p:nvPr/>
        </p:nvSpPr>
        <p:spPr>
          <a:xfrm>
            <a:off x="3246120" y="4101085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view</a:t>
            </a:r>
            <a:endParaRPr lang="en-US" sz="750" dirty="0"/>
          </a:p>
        </p:txBody>
      </p:sp>
      <p:sp>
        <p:nvSpPr>
          <p:cNvPr id="120" name="Shape 118"/>
          <p:cNvSpPr/>
          <p:nvPr/>
        </p:nvSpPr>
        <p:spPr>
          <a:xfrm>
            <a:off x="6016752" y="3621025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1" name="Text 119"/>
          <p:cNvSpPr/>
          <p:nvPr/>
        </p:nvSpPr>
        <p:spPr>
          <a:xfrm>
            <a:off x="6126480" y="3675889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CTR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6126480" y="3858769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&gt;4%</a:t>
            </a:r>
            <a:endParaRPr lang="en-US" sz="2000" dirty="0"/>
          </a:p>
        </p:txBody>
      </p:sp>
      <p:sp>
        <p:nvSpPr>
          <p:cNvPr id="123" name="Text 121"/>
          <p:cNvSpPr/>
          <p:nvPr/>
        </p:nvSpPr>
        <p:spPr>
          <a:xfrm>
            <a:off x="6126480" y="4114801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influencerów</a:t>
            </a:r>
            <a:endParaRPr lang="en-US" sz="750" dirty="0"/>
          </a:p>
        </p:txBody>
      </p:sp>
      <p:sp>
        <p:nvSpPr>
          <p:cNvPr id="124" name="Shape 122"/>
          <p:cNvSpPr/>
          <p:nvPr/>
        </p:nvSpPr>
        <p:spPr>
          <a:xfrm>
            <a:off x="256032" y="4357117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5" name="Text 123"/>
          <p:cNvSpPr/>
          <p:nvPr/>
        </p:nvSpPr>
        <p:spPr>
          <a:xfrm>
            <a:off x="365760" y="4411981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365760" y="4594861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&lt;35 zł</a:t>
            </a:r>
            <a:endParaRPr lang="en-US" sz="2000" dirty="0"/>
          </a:p>
        </p:txBody>
      </p:sp>
      <p:sp>
        <p:nvSpPr>
          <p:cNvPr id="127" name="Text 125"/>
          <p:cNvSpPr/>
          <p:nvPr/>
        </p:nvSpPr>
        <p:spPr>
          <a:xfrm>
            <a:off x="365760" y="4850893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BOFU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3136392" y="4363441"/>
            <a:ext cx="274320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9" name="Text 127"/>
          <p:cNvSpPr/>
          <p:nvPr/>
        </p:nvSpPr>
        <p:spPr>
          <a:xfrm>
            <a:off x="3246120" y="4418305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</a:t>
            </a:r>
            <a:endParaRPr lang="en-US" sz="800" dirty="0"/>
          </a:p>
        </p:txBody>
      </p:sp>
      <p:sp>
        <p:nvSpPr>
          <p:cNvPr id="130" name="Text 128"/>
          <p:cNvSpPr/>
          <p:nvPr/>
        </p:nvSpPr>
        <p:spPr>
          <a:xfrm>
            <a:off x="3246120" y="4601185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&gt;100/mies.</a:t>
            </a:r>
            <a:endParaRPr lang="en-US" sz="2000" dirty="0"/>
          </a:p>
        </p:txBody>
      </p:sp>
      <p:sp>
        <p:nvSpPr>
          <p:cNvPr id="131" name="Text 129"/>
          <p:cNvSpPr/>
          <p:nvPr/>
        </p:nvSpPr>
        <p:spPr>
          <a:xfrm>
            <a:off x="3246120" y="4857217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Fazy 2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6016752" y="4370833"/>
            <a:ext cx="27432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3" name="Text 131"/>
          <p:cNvSpPr/>
          <p:nvPr/>
        </p:nvSpPr>
        <p:spPr>
          <a:xfrm>
            <a:off x="6126480" y="4425697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 9M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6126480" y="4608577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47 500 zł</a:t>
            </a:r>
            <a:endParaRPr lang="en-US" sz="1600" dirty="0"/>
          </a:p>
        </p:txBody>
      </p:sp>
      <p:sp>
        <p:nvSpPr>
          <p:cNvPr id="135" name="Text 133"/>
          <p:cNvSpPr/>
          <p:nvPr/>
        </p:nvSpPr>
        <p:spPr>
          <a:xfrm>
            <a:off x="6126480" y="4864609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łącznie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SYNERGIA META + TIKTOK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oba kanały współpracują w lejku Volté.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6048"/>
            <a:ext cx="2816352" cy="15057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146048"/>
            <a:ext cx="2816352" cy="292608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2009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KREACJA: TikTok → Meta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4048" y="1325054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Najlepsze TikToki (VTR &gt;50%) → repurpose jako Reels na IG. Oszczędność produkcji -60%. Native TikTok wygląda autentycznie na IG Reels.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18688" y="1146048"/>
            <a:ext cx="2816352" cy="15057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Shape 7"/>
          <p:cNvSpPr/>
          <p:nvPr/>
        </p:nvSpPr>
        <p:spPr>
          <a:xfrm>
            <a:off x="3218688" y="1146048"/>
            <a:ext cx="2816352" cy="292608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328416" y="1200912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TikTok viewers → Meta retargeting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28416" y="1325054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Eksport danych z TikTok Pixel → Custom Audience na Meta. Ktoś oglądał 75% TikToka → retargetujemy go Dynamic Ads na Facebooku z kodem rabatowym.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3300" y="2804701"/>
            <a:ext cx="2816352" cy="16093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3243300" y="2804701"/>
            <a:ext cx="2816352" cy="292608"/>
          </a:xfrm>
          <a:prstGeom prst="rect">
            <a:avLst/>
          </a:prstGeom>
          <a:solidFill>
            <a:srgbClr val="00F2EA"/>
          </a:solidFill>
          <a:ln w="6350">
            <a:solidFill>
              <a:srgbClr val="00F2EA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353028" y="2859565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INFLUENCER: Organic → Spark → Meta Boost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53028" y="3188749"/>
            <a:ext cx="26151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publikuje organicznie → Spark Ads na TikTok → Screenshot/repurpose na IG Stories i FB → Lookalike z engagementu na obu platformach.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804701"/>
            <a:ext cx="2816352" cy="16093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74320" y="2804701"/>
            <a:ext cx="2816352" cy="29260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84048" y="2859565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BUDŻET: TikTok TOFU, Meta BOFU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4048" y="3188749"/>
            <a:ext cx="26151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jest tańszy w CPM na cold audience (TOFU). Meta jest skuteczniejszy w retargetingu i konwersji (BOFU). Rozdziel role: TikTok buduje świadomość, Meta zamyka sprzedaż.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44768" y="1159892"/>
            <a:ext cx="2816352" cy="15057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6144768" y="1159892"/>
            <a:ext cx="2816352" cy="292608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6254496" y="121475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MIERZENIE: Cross-platform attribution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54496" y="1338898"/>
            <a:ext cx="2615184" cy="1426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UTM parameters + GA4 multi-touch attribution. Model: TikTok = first touch, Meta = last touch. Nie oceniaj TikToka ROAS'em – mierz brand lift i assisted conversions.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63056" y="2804701"/>
            <a:ext cx="2816352" cy="16093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6163056" y="2804701"/>
            <a:ext cx="2816352" cy="29260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6272784" y="2859565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TESTY: A/B między platformami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272784" y="3188749"/>
            <a:ext cx="2615184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sam hook, dwa formaty: vertical 9:16 na TikTok vs. square 1:1 na Meta. Zwycięski hook skaluj budżetem na obu. Cykl testowy: 2 tygodnie.</a:t>
            </a:r>
            <a:endParaRPr lang="en-US" sz="85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6B620829-1088-815A-8B8A-3648589B918E}"/>
              </a:ext>
            </a:extLst>
          </p:cNvPr>
          <p:cNvSpPr/>
          <p:nvPr/>
        </p:nvSpPr>
        <p:spPr>
          <a:xfrm>
            <a:off x="256032" y="4748784"/>
            <a:ext cx="8558784" cy="29260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3326D277-F02D-D226-A393-0EBEB68FAE80}"/>
              </a:ext>
            </a:extLst>
          </p:cNvPr>
          <p:cNvSpPr/>
          <p:nvPr/>
        </p:nvSpPr>
        <p:spPr>
          <a:xfrm>
            <a:off x="402336" y="47945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ŁĄCZNY BUDŻET META + TIKTOK: 153 000 zł / 9 mies. | META: 105 500 zł | TIKTOK: 47 500 zł | Stosunek: 70% Meta / 30% TikTok (rekomendowany start)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48256"/>
            <a:ext cx="4754880" cy="36576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MARKETING - PELNY PLAN DZIALAN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Strategia  |  Baza kont  |  Briefy  |  Harmonogram  |  Budzet  |  KPI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kont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4462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+ micro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influencerow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4462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budzet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9M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Tiery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4462272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 Micro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Nano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 Rezerwa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STRATEGIA INFLUENCER MARKETINGU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nano i micro. Nie mega.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60704"/>
            <a:ext cx="8723376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02336" y="11155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FILOZOFIA: AUTENTYCZNOSC &gt; ZASIEG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1316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to nowa marka premium. Zaufanie buduje sie przez autentyczne polecenia - nie przez celebrytow. Nano-influencer z 10k i ER 9% ma wiekszy wplyw na zakup niz mega-influencer z 1M i ER 0,8%.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865376"/>
            <a:ext cx="2834640" cy="3090672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256032" y="1865376"/>
            <a:ext cx="2834640" cy="34747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(&gt;500k)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ZALETY: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2633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Duzy zasieg jednorazowy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Szybka swiadomosc marki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WADY: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" y="3273552"/>
            <a:ext cx="2633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&lt;1%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autentycznosci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20k+ za post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Juz ma kontrakt z rywalen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7472" y="4626864"/>
            <a:ext cx="2670048" cy="25603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384048" y="46451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VOLTE: NIE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865376"/>
            <a:ext cx="2834640" cy="3090672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3200400" y="1865376"/>
            <a:ext cx="2834640" cy="34747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310128" y="190195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(30k-150k)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2860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ZALETY: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310128" y="2487168"/>
            <a:ext cx="2633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2-5%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Nisza fitness/wellness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Profesjonalny content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Dlugot. relacja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10128" y="36576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WADY: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10128" y="3858768"/>
            <a:ext cx="2633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Wyzszy koszt niz nano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Mniej elastyczny brief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4626864"/>
            <a:ext cx="2670048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328416" y="46451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VOLTE: TAK - Tier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44768" y="1865376"/>
            <a:ext cx="2834640" cy="3090672"/>
          </a:xfrm>
          <a:prstGeom prst="rect">
            <a:avLst/>
          </a:prstGeom>
          <a:solidFill>
            <a:srgbClr val="FDE8F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6144768" y="1865376"/>
            <a:ext cx="2834640" cy="347472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6254496" y="1901952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(5k-30k)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2860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ZALETY: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254496" y="2487168"/>
            <a:ext cx="26334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6-12%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Silna spolecznosc lokalna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 i autentyczny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Elastyczny brief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54496" y="3657600"/>
            <a:ext cx="263347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WADY: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254496" y="3858768"/>
            <a:ext cx="2633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Maly zasieg jednostkowy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Wymaga koordynacji wielu kont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36208" y="4626864"/>
            <a:ext cx="2670048" cy="256032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6272784" y="464515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 VOLTE: TAK - Tier B (PRIORYTET)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BAZA KONT - TIER A MICRO (30k-150k)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Ambasadorzy marki. Dlugoterminowa relacja.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4242816" cy="19751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4242816" cy="32918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@codziennie_fit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73552" y="1106424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273552" y="110642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AMBASADOR 9 MIES.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347472" y="1444752"/>
            <a:ext cx="82296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YT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207008" y="1444752"/>
            <a:ext cx="109728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1207008" y="14447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TG1+TG2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340864" y="1444752"/>
            <a:ext cx="100584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2340864" y="1444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142 000 fol.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3383280" y="1444752"/>
            <a:ext cx="713232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3383280" y="14447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3,2% ER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65760" y="171907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3 500 zl/mies.  |  Kod: VOLTE_MARTA15  |  Start: M2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19202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2x Reel/mies. + 4x Stories + 1x YT mention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65760" y="2103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Trenerka AWF Wroclaw. Zaangazowanie kobiet 25-40. Idealna TG1.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2395728"/>
            <a:ext cx="405993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84048" y="2432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'Volte po treningu zamiast shake'a mlecznego. Naturalne. Lekkie.'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| Marta Kruk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81728" y="1042416"/>
            <a:ext cx="4242816" cy="19751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681728" y="1042416"/>
            <a:ext cx="4242816" cy="329184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791456" y="109728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@qczaj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99248" y="1106424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7699248" y="110642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JEDNORAZOWA (launch)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773168" y="1444752"/>
            <a:ext cx="82296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4773168" y="14447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+ TikTok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632704" y="1444752"/>
            <a:ext cx="109728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5632704" y="144475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766560" y="1444752"/>
            <a:ext cx="100584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6766560" y="14447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~500 000 fol.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808976" y="1444752"/>
            <a:ext cx="713232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7808976" y="144475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2,1% ER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91456" y="171907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8 000 zl  |  Kod: VOLTE_Q  |  Start: M3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91456" y="192024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1x Reel IG + 1x TikTok + Stories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91456" y="2103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Trener, duze zaangazowanie mezczyzn 25-40. Urban Achievers TG2.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73168" y="2395728"/>
            <a:ext cx="405993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4809744" y="24323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'Clear whey - lepsza forma bialka. Testuje Volte.'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91456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| Maciej Qczaj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" y="3145536"/>
            <a:ext cx="4242816" cy="19751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41"/>
          <p:cNvSpPr/>
          <p:nvPr/>
        </p:nvSpPr>
        <p:spPr>
          <a:xfrm>
            <a:off x="256032" y="3145536"/>
            <a:ext cx="4242816" cy="329184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365760" y="3200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@fitwariatka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73552" y="3209544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3273552" y="320954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JEDNORAZOWA (launch)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47472" y="3547872"/>
            <a:ext cx="82296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347472" y="35478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207008" y="3547872"/>
            <a:ext cx="109728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1207008" y="3547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2340864" y="3547872"/>
            <a:ext cx="100584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Text 50"/>
          <p:cNvSpPr/>
          <p:nvPr/>
        </p:nvSpPr>
        <p:spPr>
          <a:xfrm>
            <a:off x="2340864" y="35478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~540 000 fol.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3383280" y="3547872"/>
            <a:ext cx="713232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3383280" y="354787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2,0% ER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365760" y="38221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6 000 zl  |  Kod: VOLTE_FIT10  |  Start: M3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65760" y="40233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1x post feed + 3x Stories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65760" y="42062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2 dzieci. Sprawdzic konflikt kategorii SFD. Serce TG1.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47472" y="4498848"/>
            <a:ext cx="405993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384048" y="45354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'Bialko bez mlecznego posmaku - probuje Volte.'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65760" y="4846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| Dorota Fitwariatka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81728" y="3145536"/>
            <a:ext cx="4242816" cy="19751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Shape 60"/>
          <p:cNvSpPr/>
          <p:nvPr/>
        </p:nvSpPr>
        <p:spPr>
          <a:xfrm>
            <a:off x="4681728" y="3145536"/>
            <a:ext cx="4242816" cy="32918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4791456" y="3200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@anna_karcz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699248" y="3209544"/>
            <a:ext cx="115214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7699248" y="3209544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AMBASADOR 3 MIES.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773168" y="3547872"/>
            <a:ext cx="82296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4773168" y="354787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5632704" y="3547872"/>
            <a:ext cx="109728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/>
          <p:cNvSpPr/>
          <p:nvPr/>
        </p:nvSpPr>
        <p:spPr>
          <a:xfrm>
            <a:off x="5632704" y="35478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TG1+TG3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766560" y="3547872"/>
            <a:ext cx="1005840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6766560" y="35478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~45 000 fol.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7808976" y="3547872"/>
            <a:ext cx="713232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7808976" y="354787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5,8% ER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4791456" y="3822192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1 800 zl/mies.  |  Kod: VOLTE_ANNA10  |  Start: M2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791456" y="4023360"/>
            <a:ext cx="4023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2x Reel/mies. + 4x Stories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4791456" y="420624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Bardzo wysoki ER 5,8%. Clean label i wellbeing - idealne. Niszowa i autentyczna.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773168" y="4498848"/>
            <a:ext cx="4059936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8" name="Text 76"/>
          <p:cNvSpPr/>
          <p:nvPr/>
        </p:nvSpPr>
        <p:spPr>
          <a:xfrm>
            <a:off x="4809744" y="45354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'Naturalny zamiennik energetykow. Zero cukru. Czysty sklad.'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791456" y="484632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Krakow | Anna Karcz</a:t>
            </a:r>
            <a:endParaRPr lang="en-US" sz="7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02B / BAZA KONT - TIER B NANO (5k-30k)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Autentycznosc i UGC. Serce kampanii.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1865376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56032" y="1042416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/ IMIE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139696" y="1042416"/>
            <a:ext cx="60350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139696" y="1042416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761488" y="1042416"/>
            <a:ext cx="475488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2761488" y="1042416"/>
            <a:ext cx="475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55264" y="1042416"/>
            <a:ext cx="694944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255264" y="1042416"/>
            <a:ext cx="694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FOLLW.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968496" y="1042416"/>
            <a:ext cx="54864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968496" y="10424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MIASTO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35424" y="1042416"/>
            <a:ext cx="1280160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535424" y="104241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 WSPOLPRACY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33872" y="1042416"/>
            <a:ext cx="1225296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5833872" y="1042416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077456" y="1042416"/>
            <a:ext cx="950976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077456" y="1042416"/>
            <a:ext cx="9509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/ START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046720" y="1042416"/>
            <a:ext cx="676656" cy="2743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046720" y="1042416"/>
            <a:ext cx="676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1353312"/>
            <a:ext cx="863193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292608" y="14081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@pilates.z.magda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76272" y="14081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IG+TT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98064" y="1408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8,4%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291840" y="14081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~18k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05072" y="14081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0" y="14081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AMBASADOR 6M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70448" y="14081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zl/mies.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114032" y="14081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VOLTE_PILATES12 / M1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083296" y="14081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" y="1810512"/>
            <a:ext cx="86319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292608" y="18653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0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@silownia_lifestyle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176272" y="18653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TT+IG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2798064" y="18653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9,1%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291840" y="18653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005072" y="18653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0" y="18653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6M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870448" y="18653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zl/mies.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7114032" y="18653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VOLTE_GYM10 / M2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083296" y="1865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56032" y="2267712"/>
            <a:ext cx="863193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292608" y="23225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@biegam_i_jem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176272" y="23225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798064" y="23225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7,2%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91840" y="23225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~22k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005072" y="23225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72000" y="23225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JEDNORAZOWA+AFF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870448" y="23225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 zl + 8%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14032" y="23225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VOLTE_BIEG10 / M4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8083296" y="23225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TG2+3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56032" y="2724912"/>
            <a:ext cx="86319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292608" y="27797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C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@jooga.co.dzien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176272" y="27797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IG+TT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798064" y="27797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11,2%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291840" y="27797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~9,5k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4005072" y="27797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GDA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572000" y="27797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5870448" y="27797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 6 szt/mies.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7114032" y="27797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VOLTE_YOGA / M1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8083296" y="27797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56032" y="3182112"/>
            <a:ext cx="863193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292608" y="32369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0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@dance_fit_kasia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176272" y="32369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TT+IG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798064" y="32369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10,5%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3291840" y="32369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~11k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4005072" y="32369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4572000" y="32369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870448" y="32369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 6 szt/mies.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7114032" y="32369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VOLTE_DANCE / M2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083296" y="32369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56032" y="3639312"/>
            <a:ext cx="86319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292608" y="36941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@proteinowy_kucharz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176272" y="36941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2798064" y="36941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8,8%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3291840" y="36941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~16,5k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4005072" y="36941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572000" y="36941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RETAINER+AFF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5870448" y="36941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zl/mies. + 8%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7114032" y="36941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VOLTE_KUCHARZ / M4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083296" y="36941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TG2+3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256032" y="4096512"/>
            <a:ext cx="8631936" cy="42062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/>
          <p:cNvSpPr/>
          <p:nvPr/>
        </p:nvSpPr>
        <p:spPr>
          <a:xfrm>
            <a:off x="292608" y="41513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@zdrowo_i_smacznie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2176272" y="41513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2798064" y="41513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6,3%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3291840" y="41513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~27k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005072" y="41513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KRK</a:t>
            </a:r>
            <a:endParaRPr lang="en-US" sz="750" dirty="0"/>
          </a:p>
        </p:txBody>
      </p:sp>
      <p:sp>
        <p:nvSpPr>
          <p:cNvPr id="88" name="Text 86"/>
          <p:cNvSpPr/>
          <p:nvPr/>
        </p:nvSpPr>
        <p:spPr>
          <a:xfrm>
            <a:off x="4572000" y="41513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JEDNORAZOWA+AFF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5870448" y="41513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zl + 8%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7114032" y="41513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VOLTE_ZDROW / M5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083296" y="4151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256032" y="4553712"/>
            <a:ext cx="8631936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/>
          <p:cNvSpPr/>
          <p:nvPr/>
        </p:nvSpPr>
        <p:spPr>
          <a:xfrm>
            <a:off x="292608" y="460857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@urban_run_wwa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2176272" y="4608576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</a:t>
            </a:r>
            <a:endParaRPr lang="en-US" sz="750" dirty="0"/>
          </a:p>
        </p:txBody>
      </p:sp>
      <p:sp>
        <p:nvSpPr>
          <p:cNvPr id="95" name="Text 93"/>
          <p:cNvSpPr/>
          <p:nvPr/>
        </p:nvSpPr>
        <p:spPr>
          <a:xfrm>
            <a:off x="2798064" y="4608576"/>
            <a:ext cx="4389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9,4%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3291840" y="46085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~7,8k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4005072" y="4608576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WAW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4572000" y="4608576"/>
            <a:ext cx="1243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5870448" y="46085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 4 szt/mies.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7114032" y="460857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VOLTE_RUN / M5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8083296" y="46085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</a:t>
            </a:r>
            <a:endParaRPr lang="en-US" sz="7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02C / BAZA KONT - TIER C REZERWA + CHECKLIST WERYFIKACJI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 rezerwowe i jak sprawdzamy kazde konto.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12618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 - REZERWA / FAZA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499616"/>
            <a:ext cx="8631936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47472" y="153619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@oskar_wojciechowski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697480" y="1536192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Biohacking / Nauka. IG ~35k, ER 7,8%. Edukacyjny content o clear whey.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78040" y="153619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1 200 zl jednoraz.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78040" y="168249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(M7)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032" y="1920240"/>
            <a:ext cx="8631936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47472" y="195681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@trening_kobiet_pl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97480" y="1956816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kobiet, IG ~19k, ER 6,9%. Konto grupowe. Zasieg TG1 w Krakowie.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78040" y="195681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7178040" y="210312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(M7)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8631936" cy="36576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47472" y="237744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@eatyx_official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377440"/>
            <a:ext cx="4389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Cross-promo (marka). IG ~25k. Giveaway wymiana zasiegiem.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78040" y="237744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zl (wymiana)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178040" y="252374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4 - ostrozne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56032" y="2816352"/>
            <a:ext cx="863193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47472" y="28163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WERYFIKACJI - zanim wyslesz brief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3054096"/>
            <a:ext cx="2834640" cy="20848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2834640" cy="256032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47472" y="3090672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PODSTAWOWE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47472" y="3364992"/>
            <a:ext cx="2670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Followersow: min. 5 000 aktywnych (nie zakupionych)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(engagement rate): &gt;5% nano, &gt;2,5% micro - weryfikacja HypeAuditor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Stosunek followersow do sledzen: obserwuje &lt;30% tego co sam ma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Wzrost organiczny: brak naglych skokow (+5k w 1 dzien = podejrzane)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0" y="3054096"/>
            <a:ext cx="2834640" cy="20848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3200400" y="3054096"/>
            <a:ext cx="2834640" cy="25603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291840" y="3090672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TRESC I WIZERUNEK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91840" y="3364992"/>
            <a:ext cx="2670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Niszawosc: czy konto jest spojne tematycznie (fitness / wellness / zywienie)?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Autentycznosc: czy mowi o produktach ktore rzeczywiscie uzywa?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kontrowersji: sprawdz ostatnie 50 postow i komentarze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konfliktu: czy promuje bezposrednich konkurentow Volte?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44768" y="3054096"/>
            <a:ext cx="2834640" cy="208483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6144768" y="3054096"/>
            <a:ext cx="2834640" cy="256032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6236208" y="3090672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WYMOGI PRAWNE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36208" y="3364992"/>
            <a:ext cx="267004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Oznaczanie reklam: czy regularnie uzywa #reklama lub #wspolpraca?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promowania substancji zakazanych lub tresci sprzecznych z prawem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Pelnoletnosc: wymagane dla suplementow diety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Umowa: wymagana przed kazda wspolpraca - bez umowy nie ma platnosci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MODELE WSPOLPRACY - ZASADY I WARUNKI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modele. Kazdy do innego celu i budzetu.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4242816" cy="195681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4242816" cy="3474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(AMBASADOR)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Konta: @codziennie_fit, @anna_karcz, @pilates.z.magda, @silownia_lifestyle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Staly miesieczny kontrakt. Influencer jest twarza Volte w swojej niszy przez 3-9 miesiecy.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500-3 500 zl/mies. zalezne od zasiegu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2x Reel + 4x Stories miesiecznie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Wylacznosc: zakaz promowania produktow clear whey i bialkowych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2651760"/>
            <a:ext cx="405993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84048" y="26883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ER &gt;5% | Min. zasieg = 30% followersow | Kod min. 50 uzyc/mies.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81728" y="1042416"/>
            <a:ext cx="4242816" cy="195681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Shape 11"/>
          <p:cNvSpPr/>
          <p:nvPr/>
        </p:nvSpPr>
        <p:spPr>
          <a:xfrm>
            <a:off x="4681728" y="1042416"/>
            <a:ext cx="4242816" cy="34747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4791456" y="1097280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JEDNORAZOWA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(LAUNCH BOOST)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91456" y="1463040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Konta: @qczaj, @fitwariatka, @zdrowo_i_smacznie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91456" y="164592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Pojedyncza kampania przy launchu marki, wejsciu do Zabki lub nowym smaku.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91456" y="1920240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650-8 000 zl (flat fee)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ustalane per umowa (1-3 posty)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wylacznosci - tylko w dniu i tydzien po publikacji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73168" y="2651760"/>
            <a:ext cx="4059936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809744" y="26883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Zasieg min. 40% followersow | CTR Stories &gt;3% | Kod min. 100 uzyc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56032" y="3127248"/>
            <a:ext cx="4242816" cy="195681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Shape 19"/>
          <p:cNvSpPr/>
          <p:nvPr/>
        </p:nvSpPr>
        <p:spPr>
          <a:xfrm>
            <a:off x="256032" y="3127248"/>
            <a:ext cx="4242816" cy="34747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Text 20"/>
          <p:cNvSpPr/>
          <p:nvPr/>
        </p:nvSpPr>
        <p:spPr>
          <a:xfrm>
            <a:off x="365760" y="318211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BARTER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(PRODUKT ZA CONTENT)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54787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Konta: @jooga.co.dzien, @dance_fit_kasia, @urban_run_wwa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7307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dostaje Volte (4-6 puszek/mies.) w zamian za naturalne posty i Stories.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40050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Koszt: 0 zl (tylko wartosc produktu ~60-90 zl/mies.)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Deliverables: min. 1 Reel + 2 Stories miesiecznie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wylacznosci - swobodny content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736592"/>
            <a:ext cx="4059936" cy="25603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84048" y="4773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Autentycznosc contentu | ER &gt;6% | Potencjal viral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681728" y="3127248"/>
            <a:ext cx="4242816" cy="195681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4681728" y="3127248"/>
            <a:ext cx="4242816" cy="347472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791456" y="3182112"/>
            <a:ext cx="40050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AFILIACJA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(PROWIZJA OD SPRZEDAZY)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91456" y="3547872"/>
            <a:ext cx="40050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Konta: @biegam_i_jem, @proteinowy_kucharz, @zdrowo_i_smacznie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791456" y="3730752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dostaje unikalny kod rabatowy. Zarabia prowizje 8% od kazdego uzycia.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91456" y="4005072"/>
            <a:ext cx="40050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Stawka: 500-900 zl + 8% od zamowien z kodu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unikalny na 9 miesiecy w CRM</a:t>
            </a:r>
            <a:endParaRPr lang="en-US" sz="8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Miesieczny raport: ile razy uzyto kodu, przychod, prowizja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4736592"/>
            <a:ext cx="4059936" cy="256032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4809744" y="4773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Min. 50 uzyc kodu/mies. | ROAS aff. &gt;4x | Konwersja z kodu &gt;3%</a:t>
            </a:r>
            <a:endParaRPr lang="en-US" sz="7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BRIEF INFLUENCERA - SZABLON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dostaje kazdy influencer przed wspolpraca.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941832"/>
            <a:ext cx="8631936" cy="237744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97840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Ponizszy brief jest wysylany PRZED podpisaniem umowy. Influencer akceptuje go jako warunek wspolpracy.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234440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234440"/>
            <a:ext cx="2834640" cy="256032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47472" y="1280160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MARCE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563624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to lekki napoj bialkowy (High Protein Water) - 10g bialka, 0 cukru, naturalne skladniki. Clear Whey - nie smakuje mlekiem, klarowny jak woda. Status: Suplement diety. Produkowany w Polsce, bialko z UE (grass-fed). Smaki: Lemon-Lime i Pink Grapefruit.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834640" cy="256032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NASZA PERSONA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91840" y="1563624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TG1: Kobieta 25-40, aktywna, joga/pilates/taniec/silownia. Szuka naturalnych produktow bez cukru. Nie chce pic gestego shake'a.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TG2: M/K 28-45, pracuje korporacyjnie, potrzebuje bialka w biegu.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TG3: 20-45, szuka zdrowego zamiennika sody lub energetyka.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44768" y="1234440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6144768" y="1234440"/>
            <a:ext cx="2834640" cy="256032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6236208" y="1280160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 MUSISZ PRZEKAZAC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36208" y="1563624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Volte NIE smakuje mlekiem (to klucz!)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Naturalne skladniki: stewia, erytrytol, bez sztucznych dodatkow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Lekki gaz - orzezwiajace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cukru, zero podatku cukrowego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Mozna kupic w Zabce [od Fazy 3]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" y="3191256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Shape 17"/>
          <p:cNvSpPr/>
          <p:nvPr/>
        </p:nvSpPr>
        <p:spPr>
          <a:xfrm>
            <a:off x="256032" y="3191256"/>
            <a:ext cx="2834640" cy="256032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47472" y="3236976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CZEGO NIE WOLNO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520440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porownuj z Freeway w Lidlu (nazwa marki)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mow 'smakuje jak Gatorade' - zmiana kategorii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obiecuj efektow zdrowotnych (wymog prawny suplementu)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uzywaj: 'leczy', 'lekarstwo', 'pomaga na'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promuj jednoczesnie bezposredniego konkurenta Volte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82112" y="3191256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Shape 21"/>
          <p:cNvSpPr/>
          <p:nvPr/>
        </p:nvSpPr>
        <p:spPr>
          <a:xfrm>
            <a:off x="3182112" y="3191256"/>
            <a:ext cx="2834640" cy="256032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Text 22"/>
          <p:cNvSpPr/>
          <p:nvPr/>
        </p:nvSpPr>
        <p:spPr>
          <a:xfrm>
            <a:off x="3273552" y="3236976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FORMAT CONTENTU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73552" y="3520440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Reels: 15-60 sek. | Stories: 4-6 kart z ankieta | TikTok: 15-60 sek. UGC-style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OBOWIAZKOWO: #reklama lub #wspolpraca (prawo PL)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OBOWIAZKOWO: tag @volteofficial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OBOWIAZKOWO: kod rabatowy widoczny w Stories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26480" y="3191256"/>
            <a:ext cx="2834640" cy="18288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6126480" y="3191256"/>
            <a:ext cx="2834640" cy="256032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6236208" y="3236976"/>
            <a:ext cx="2670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AKCEPTACJA I TERMINY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217920" y="3520440"/>
            <a:ext cx="267004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 do akceptacji: 5 dni przed publikacja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Nagrany material do akceptacji: 48h przed publikacja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2 rundy poprawek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 publikacji: screenshoty statystyk po 72h</a:t>
            </a:r>
            <a:endParaRPr lang="en-US" sz="8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 / rachunek: do 7 dni od publikacji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INFLUENCER MARKETINGU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publikuje kiedy. 9 miesiecy szczegolowo.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64208" y="1554480"/>
            <a:ext cx="159105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1700784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273552" y="1554480"/>
            <a:ext cx="159105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310128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882896" y="1554480"/>
            <a:ext cx="1591056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919472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395728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528816" y="155448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56033" y="1792224"/>
            <a:ext cx="1267968" cy="120700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20040" y="22677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64208" y="181051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2468880" y="1828800"/>
            <a:ext cx="6382512" cy="20116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2505456" y="1828800"/>
            <a:ext cx="634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@codziennie_fit - retainer ambasador 9M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664208" y="210312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/>
          <p:cNvSpPr/>
          <p:nvPr/>
        </p:nvSpPr>
        <p:spPr>
          <a:xfrm>
            <a:off x="2468880" y="2121408"/>
            <a:ext cx="2359152" cy="201168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2505456" y="212140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@anna_karcz - retainer 3M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664208" y="239572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/>
          <p:cNvSpPr/>
          <p:nvPr/>
        </p:nvSpPr>
        <p:spPr>
          <a:xfrm>
            <a:off x="3273552" y="2414016"/>
            <a:ext cx="749808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/>
          <p:cNvSpPr/>
          <p:nvPr/>
        </p:nvSpPr>
        <p:spPr>
          <a:xfrm>
            <a:off x="3310128" y="241401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@qczaj - launch jednorazowa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664208" y="268833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Shape 40"/>
          <p:cNvSpPr/>
          <p:nvPr/>
        </p:nvSpPr>
        <p:spPr>
          <a:xfrm>
            <a:off x="3273552" y="2706624"/>
            <a:ext cx="749808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3310128" y="270662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@fitwariatka - launch jednorazowa</a:t>
            </a:r>
            <a:endParaRPr lang="en-US" sz="650" dirty="0"/>
          </a:p>
        </p:txBody>
      </p:sp>
      <p:sp>
        <p:nvSpPr>
          <p:cNvPr id="44" name="Shape 42"/>
          <p:cNvSpPr/>
          <p:nvPr/>
        </p:nvSpPr>
        <p:spPr>
          <a:xfrm>
            <a:off x="256033" y="3035808"/>
            <a:ext cx="1267968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320040" y="33649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BARTER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664208" y="305409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/>
          <p:cNvSpPr/>
          <p:nvPr/>
        </p:nvSpPr>
        <p:spPr>
          <a:xfrm>
            <a:off x="1664208" y="3072384"/>
            <a:ext cx="3163824" cy="201168"/>
          </a:xfrm>
          <a:prstGeom prst="rect">
            <a:avLst/>
          </a:prstGeom>
          <a:solidFill>
            <a:srgbClr val="5C8A5C"/>
          </a:solidFill>
          <a:ln w="6350">
            <a:solidFill>
              <a:srgbClr val="5C8A5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/>
          <p:cNvSpPr/>
          <p:nvPr/>
        </p:nvSpPr>
        <p:spPr>
          <a:xfrm>
            <a:off x="1700784" y="3072384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@jooga.co.dzien - barter start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664208" y="334670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/>
          <p:cNvSpPr/>
          <p:nvPr/>
        </p:nvSpPr>
        <p:spPr>
          <a:xfrm>
            <a:off x="2468880" y="3364992"/>
            <a:ext cx="2359152" cy="201168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2505456" y="3364992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@dance_fit_kasia - barter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664208" y="363931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Shape 51"/>
          <p:cNvSpPr/>
          <p:nvPr/>
        </p:nvSpPr>
        <p:spPr>
          <a:xfrm>
            <a:off x="4882896" y="3657600"/>
            <a:ext cx="2359152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4919472" y="3657600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@urban_run_wwa - barter geo Zabka</a:t>
            </a:r>
            <a:endParaRPr lang="en-US" sz="6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1F20-B5A5-124D-558B-2CAFCEAB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1B7BD7-D374-8CE9-FCB2-367569066E87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HARMONOGRAM INFLUENCER MARKETINGU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EAD743C-87A9-E139-70A7-2FE3098E8BB6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Kto publikuje kiedy. 9 miesiecy szczegolowo.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7D74D8-1E35-8C3B-6C57-854B9262AE11}"/>
              </a:ext>
            </a:extLst>
          </p:cNvPr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C0F2A9-6A67-D1B7-6720-1C26C2CD4AB3}"/>
              </a:ext>
            </a:extLst>
          </p:cNvPr>
          <p:cNvSpPr/>
          <p:nvPr/>
        </p:nvSpPr>
        <p:spPr>
          <a:xfrm>
            <a:off x="166420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1C57D79-B20C-4AD9-27A4-D51CD4327020}"/>
              </a:ext>
            </a:extLst>
          </p:cNvPr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06CFAE-DFFF-41F2-03D9-6FCC6B4B4B35}"/>
              </a:ext>
            </a:extLst>
          </p:cNvPr>
          <p:cNvSpPr/>
          <p:nvPr/>
        </p:nvSpPr>
        <p:spPr>
          <a:xfrm>
            <a:off x="246888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835148-A6F7-CE50-8378-35FC157B91A8}"/>
              </a:ext>
            </a:extLst>
          </p:cNvPr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FD3904-7B5F-359C-FB87-F8070990BB7F}"/>
              </a:ext>
            </a:extLst>
          </p:cNvPr>
          <p:cNvSpPr/>
          <p:nvPr/>
        </p:nvSpPr>
        <p:spPr>
          <a:xfrm>
            <a:off x="327355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6E6F0BD-AFBC-7F48-3FBF-DA21AF4AA198}"/>
              </a:ext>
            </a:extLst>
          </p:cNvPr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84A99E-B2B9-69AE-4264-E7BA6E40CFFC}"/>
              </a:ext>
            </a:extLst>
          </p:cNvPr>
          <p:cNvSpPr/>
          <p:nvPr/>
        </p:nvSpPr>
        <p:spPr>
          <a:xfrm>
            <a:off x="407822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CDFCE10-7CC4-EE1B-7831-E9BDE206FB02}"/>
              </a:ext>
            </a:extLst>
          </p:cNvPr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DB71164-B66A-18D4-1494-5FE58BAB815F}"/>
              </a:ext>
            </a:extLst>
          </p:cNvPr>
          <p:cNvSpPr/>
          <p:nvPr/>
        </p:nvSpPr>
        <p:spPr>
          <a:xfrm>
            <a:off x="4882896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E4B9BBF-87F9-49D4-77AD-70C5933515BB}"/>
              </a:ext>
            </a:extLst>
          </p:cNvPr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7AA6D5A-1019-5AF0-AF03-E29B7449C2D3}"/>
              </a:ext>
            </a:extLst>
          </p:cNvPr>
          <p:cNvSpPr/>
          <p:nvPr/>
        </p:nvSpPr>
        <p:spPr>
          <a:xfrm>
            <a:off x="5687568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FF7E051-B2F5-2620-E2B6-39D2A0AB0E3B}"/>
              </a:ext>
            </a:extLst>
          </p:cNvPr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E212A12-C93A-D3E3-D647-1D959C4FEE11}"/>
              </a:ext>
            </a:extLst>
          </p:cNvPr>
          <p:cNvSpPr/>
          <p:nvPr/>
        </p:nvSpPr>
        <p:spPr>
          <a:xfrm>
            <a:off x="6492240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FBFE0C6-7DD1-51E5-7417-63C3045F7C84}"/>
              </a:ext>
            </a:extLst>
          </p:cNvPr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AFCC8B7-18E3-E822-229D-ED1A0FA634A8}"/>
              </a:ext>
            </a:extLst>
          </p:cNvPr>
          <p:cNvSpPr/>
          <p:nvPr/>
        </p:nvSpPr>
        <p:spPr>
          <a:xfrm>
            <a:off x="7296912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527B48C-EFE5-2F56-E7A4-7CC82D6FE393}"/>
              </a:ext>
            </a:extLst>
          </p:cNvPr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AEB51B5-70A5-C288-F29C-6C6D46CBF8D4}"/>
              </a:ext>
            </a:extLst>
          </p:cNvPr>
          <p:cNvSpPr/>
          <p:nvPr/>
        </p:nvSpPr>
        <p:spPr>
          <a:xfrm>
            <a:off x="8101584" y="126187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E4304C0-CC43-247F-DFE0-2F2ED291F5A6}"/>
              </a:ext>
            </a:extLst>
          </p:cNvPr>
          <p:cNvSpPr/>
          <p:nvPr/>
        </p:nvSpPr>
        <p:spPr>
          <a:xfrm>
            <a:off x="1664208" y="1554480"/>
            <a:ext cx="1591056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EC3E1AE-9B47-95FB-4227-86F4C58F34A6}"/>
              </a:ext>
            </a:extLst>
          </p:cNvPr>
          <p:cNvSpPr/>
          <p:nvPr/>
        </p:nvSpPr>
        <p:spPr>
          <a:xfrm>
            <a:off x="1700784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6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82E8DE6-96A5-930B-979C-513768EA998E}"/>
              </a:ext>
            </a:extLst>
          </p:cNvPr>
          <p:cNvSpPr/>
          <p:nvPr/>
        </p:nvSpPr>
        <p:spPr>
          <a:xfrm>
            <a:off x="3273552" y="1554480"/>
            <a:ext cx="159105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9E2F68A-BB48-A887-19A5-D11E81307F0D}"/>
              </a:ext>
            </a:extLst>
          </p:cNvPr>
          <p:cNvSpPr/>
          <p:nvPr/>
        </p:nvSpPr>
        <p:spPr>
          <a:xfrm>
            <a:off x="3310128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6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14EF872A-8365-78F9-8C73-875227C56EB1}"/>
              </a:ext>
            </a:extLst>
          </p:cNvPr>
          <p:cNvSpPr/>
          <p:nvPr/>
        </p:nvSpPr>
        <p:spPr>
          <a:xfrm>
            <a:off x="4882896" y="1554480"/>
            <a:ext cx="1591056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8EFFAB0-7FCC-CD15-AF73-24E455BDD48B}"/>
              </a:ext>
            </a:extLst>
          </p:cNvPr>
          <p:cNvSpPr/>
          <p:nvPr/>
        </p:nvSpPr>
        <p:spPr>
          <a:xfrm>
            <a:off x="4919472" y="1554480"/>
            <a:ext cx="1536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6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EB2F216-D575-648E-17FC-04EB0B25C468}"/>
              </a:ext>
            </a:extLst>
          </p:cNvPr>
          <p:cNvSpPr/>
          <p:nvPr/>
        </p:nvSpPr>
        <p:spPr>
          <a:xfrm>
            <a:off x="6492240" y="1554480"/>
            <a:ext cx="2395728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9D754A0-7C0D-3D07-70F2-ECDAAA44FB52}"/>
              </a:ext>
            </a:extLst>
          </p:cNvPr>
          <p:cNvSpPr/>
          <p:nvPr/>
        </p:nvSpPr>
        <p:spPr>
          <a:xfrm>
            <a:off x="6528816" y="1554480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65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FC463CC-99F2-BBCE-7835-6EC6F4D8A2BD}"/>
              </a:ext>
            </a:extLst>
          </p:cNvPr>
          <p:cNvSpPr/>
          <p:nvPr/>
        </p:nvSpPr>
        <p:spPr>
          <a:xfrm>
            <a:off x="256033" y="1810512"/>
            <a:ext cx="1267968" cy="1499616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D47124B-101D-37BA-1E40-B418F2008EA6}"/>
              </a:ext>
            </a:extLst>
          </p:cNvPr>
          <p:cNvSpPr/>
          <p:nvPr/>
        </p:nvSpPr>
        <p:spPr>
          <a:xfrm>
            <a:off x="320040" y="24323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PLATNE</a:t>
            </a:r>
            <a:endParaRPr lang="en-US" sz="7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E2A0C42-9B4D-7465-FC31-8F2C5A1210AB}"/>
              </a:ext>
            </a:extLst>
          </p:cNvPr>
          <p:cNvSpPr/>
          <p:nvPr/>
        </p:nvSpPr>
        <p:spPr>
          <a:xfrm>
            <a:off x="1664208" y="182880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B23E137-0A03-D3D1-A118-6CC6E91B56D6}"/>
              </a:ext>
            </a:extLst>
          </p:cNvPr>
          <p:cNvSpPr/>
          <p:nvPr/>
        </p:nvSpPr>
        <p:spPr>
          <a:xfrm>
            <a:off x="1664208" y="1847088"/>
            <a:ext cx="4773168" cy="20116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6649FA33-8825-9F0F-AC8D-6754647A5AF4}"/>
              </a:ext>
            </a:extLst>
          </p:cNvPr>
          <p:cNvSpPr/>
          <p:nvPr/>
        </p:nvSpPr>
        <p:spPr>
          <a:xfrm>
            <a:off x="1700784" y="1847088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@pilates.z.magda - retainer 6M</a:t>
            </a:r>
            <a:endParaRPr lang="en-US" sz="6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09AF303C-0C89-FB9D-C67E-E43BE773BB9A}"/>
              </a:ext>
            </a:extLst>
          </p:cNvPr>
          <p:cNvSpPr/>
          <p:nvPr/>
        </p:nvSpPr>
        <p:spPr>
          <a:xfrm>
            <a:off x="1664208" y="212140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0E8029A9-77A7-356F-D290-52304CCB1C31}"/>
              </a:ext>
            </a:extLst>
          </p:cNvPr>
          <p:cNvSpPr/>
          <p:nvPr/>
        </p:nvSpPr>
        <p:spPr>
          <a:xfrm>
            <a:off x="2468880" y="2139696"/>
            <a:ext cx="4773168" cy="201168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60B8495E-B274-088E-9625-66AB2393E242}"/>
              </a:ext>
            </a:extLst>
          </p:cNvPr>
          <p:cNvSpPr/>
          <p:nvPr/>
        </p:nvSpPr>
        <p:spPr>
          <a:xfrm>
            <a:off x="2505456" y="2139696"/>
            <a:ext cx="4736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@silownia_lifestyle - retainer 6M</a:t>
            </a:r>
            <a:endParaRPr lang="en-US" sz="6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223CF9B-9F91-3D1D-533D-985EE5EFC188}"/>
              </a:ext>
            </a:extLst>
          </p:cNvPr>
          <p:cNvSpPr/>
          <p:nvPr/>
        </p:nvSpPr>
        <p:spPr>
          <a:xfrm>
            <a:off x="1664208" y="241401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B9A81F1-2DEF-8D04-93C1-7505CD6539C0}"/>
              </a:ext>
            </a:extLst>
          </p:cNvPr>
          <p:cNvSpPr/>
          <p:nvPr/>
        </p:nvSpPr>
        <p:spPr>
          <a:xfrm>
            <a:off x="4078224" y="2432304"/>
            <a:ext cx="1554480" cy="201168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9CD012D4-7AC5-19C5-74B7-EA45E3F4D008}"/>
              </a:ext>
            </a:extLst>
          </p:cNvPr>
          <p:cNvSpPr/>
          <p:nvPr/>
        </p:nvSpPr>
        <p:spPr>
          <a:xfrm>
            <a:off x="4114800" y="2432304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@biegam_i_jem - jednorazowa+aff.</a:t>
            </a:r>
            <a:endParaRPr lang="en-US" sz="6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1455A8FE-FDFE-19B3-D8D2-9C053365B132}"/>
              </a:ext>
            </a:extLst>
          </p:cNvPr>
          <p:cNvSpPr/>
          <p:nvPr/>
        </p:nvSpPr>
        <p:spPr>
          <a:xfrm>
            <a:off x="1664208" y="270662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C8608667-6158-80EF-C68D-48B2330CA69C}"/>
              </a:ext>
            </a:extLst>
          </p:cNvPr>
          <p:cNvSpPr/>
          <p:nvPr/>
        </p:nvSpPr>
        <p:spPr>
          <a:xfrm>
            <a:off x="4078224" y="2724912"/>
            <a:ext cx="3163824" cy="201168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A6077AA6-A324-85D3-03BC-ED74146875A4}"/>
              </a:ext>
            </a:extLst>
          </p:cNvPr>
          <p:cNvSpPr/>
          <p:nvPr/>
        </p:nvSpPr>
        <p:spPr>
          <a:xfrm>
            <a:off x="4114800" y="2724912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@proteinowy_kucharz - ret.+aff.</a:t>
            </a:r>
            <a:endParaRPr lang="en-US" sz="650" dirty="0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91F340F-9CA5-9130-5295-E529B646E3F8}"/>
              </a:ext>
            </a:extLst>
          </p:cNvPr>
          <p:cNvSpPr/>
          <p:nvPr/>
        </p:nvSpPr>
        <p:spPr>
          <a:xfrm>
            <a:off x="1664208" y="299923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E2697C2C-4F81-1C4F-CD62-489268410931}"/>
              </a:ext>
            </a:extLst>
          </p:cNvPr>
          <p:cNvSpPr/>
          <p:nvPr/>
        </p:nvSpPr>
        <p:spPr>
          <a:xfrm>
            <a:off x="4882896" y="3017520"/>
            <a:ext cx="1554480" cy="201168"/>
          </a:xfrm>
          <a:prstGeom prst="rect">
            <a:avLst/>
          </a:prstGeom>
          <a:solidFill>
            <a:srgbClr val="4A7C59"/>
          </a:solidFill>
          <a:ln w="635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42552A27-5B49-E6B6-4C38-23D30434B077}"/>
              </a:ext>
            </a:extLst>
          </p:cNvPr>
          <p:cNvSpPr/>
          <p:nvPr/>
        </p:nvSpPr>
        <p:spPr>
          <a:xfrm>
            <a:off x="4919472" y="3017520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@zdrowo_i_smacznie - jedn.+aff.</a:t>
            </a:r>
            <a:endParaRPr lang="en-US" sz="65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E0325279-5EAF-6A16-8FA0-396834D0B052}"/>
              </a:ext>
            </a:extLst>
          </p:cNvPr>
          <p:cNvSpPr/>
          <p:nvPr/>
        </p:nvSpPr>
        <p:spPr>
          <a:xfrm>
            <a:off x="256033" y="3346704"/>
            <a:ext cx="1267968" cy="62179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1D9749F5-0C95-51F7-2417-7529A889D46A}"/>
              </a:ext>
            </a:extLst>
          </p:cNvPr>
          <p:cNvSpPr/>
          <p:nvPr/>
        </p:nvSpPr>
        <p:spPr>
          <a:xfrm>
            <a:off x="320040" y="3529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REZERWA</a:t>
            </a:r>
            <a:endParaRPr lang="en-US" sz="75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3B55C9E9-F544-596D-87FD-FC87C41CD77E}"/>
              </a:ext>
            </a:extLst>
          </p:cNvPr>
          <p:cNvSpPr/>
          <p:nvPr/>
        </p:nvSpPr>
        <p:spPr>
          <a:xfrm>
            <a:off x="1664208" y="336499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3638FC20-72D6-1933-33C7-3CA9820F4C64}"/>
              </a:ext>
            </a:extLst>
          </p:cNvPr>
          <p:cNvSpPr/>
          <p:nvPr/>
        </p:nvSpPr>
        <p:spPr>
          <a:xfrm>
            <a:off x="6492240" y="3383280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6" name="Text 74">
            <a:extLst>
              <a:ext uri="{FF2B5EF4-FFF2-40B4-BE49-F238E27FC236}">
                <a16:creationId xmlns:a16="http://schemas.microsoft.com/office/drawing/2014/main" id="{BF945C7C-062B-EE1B-A3C7-688AA466E178}"/>
              </a:ext>
            </a:extLst>
          </p:cNvPr>
          <p:cNvSpPr/>
          <p:nvPr/>
        </p:nvSpPr>
        <p:spPr>
          <a:xfrm>
            <a:off x="6528816" y="3383280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@oskar_wojciechowski - jednorazowa</a:t>
            </a:r>
            <a:endParaRPr lang="en-US" sz="650" dirty="0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9E99B954-F8CD-5D24-FC10-F4FD67648CA5}"/>
              </a:ext>
            </a:extLst>
          </p:cNvPr>
          <p:cNvSpPr/>
          <p:nvPr/>
        </p:nvSpPr>
        <p:spPr>
          <a:xfrm>
            <a:off x="1664208" y="365760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8606EB65-7FBF-0D19-00AB-D229EFF83688}"/>
              </a:ext>
            </a:extLst>
          </p:cNvPr>
          <p:cNvSpPr/>
          <p:nvPr/>
        </p:nvSpPr>
        <p:spPr>
          <a:xfrm>
            <a:off x="6492240" y="3675888"/>
            <a:ext cx="2359152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5F3ABD58-E980-5F32-08D6-3EB47507B275}"/>
              </a:ext>
            </a:extLst>
          </p:cNvPr>
          <p:cNvSpPr/>
          <p:nvPr/>
        </p:nvSpPr>
        <p:spPr>
          <a:xfrm>
            <a:off x="6528816" y="3675888"/>
            <a:ext cx="23225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@trening_kobiet_pl - barter</a:t>
            </a:r>
            <a:endParaRPr lang="en-US" sz="65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18BAA1A3-497B-FA29-D439-5A24B11584B3}"/>
              </a:ext>
            </a:extLst>
          </p:cNvPr>
          <p:cNvSpPr/>
          <p:nvPr/>
        </p:nvSpPr>
        <p:spPr>
          <a:xfrm>
            <a:off x="256033" y="4005072"/>
            <a:ext cx="1267968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BB4C9CF9-143E-2A49-A4AC-837E97A296B9}"/>
              </a:ext>
            </a:extLst>
          </p:cNvPr>
          <p:cNvSpPr/>
          <p:nvPr/>
        </p:nvSpPr>
        <p:spPr>
          <a:xfrm>
            <a:off x="320040" y="433425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DZIALANIA</a:t>
            </a:r>
            <a:endParaRPr lang="en-US" sz="7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DODAT.</a:t>
            </a:r>
            <a:endParaRPr lang="en-US" sz="75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F3DD7A6E-E3C5-3856-59BC-9D9E60A490EB}"/>
              </a:ext>
            </a:extLst>
          </p:cNvPr>
          <p:cNvSpPr/>
          <p:nvPr/>
        </p:nvSpPr>
        <p:spPr>
          <a:xfrm>
            <a:off x="1664208" y="402336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9BA6609F-60FC-7D6B-58E8-CB3F1D398C71}"/>
              </a:ext>
            </a:extLst>
          </p:cNvPr>
          <p:cNvSpPr/>
          <p:nvPr/>
        </p:nvSpPr>
        <p:spPr>
          <a:xfrm>
            <a:off x="3273552" y="4041648"/>
            <a:ext cx="5577840" cy="201168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C5839705-6FAD-AF8C-21D4-03AE6A953DFF}"/>
              </a:ext>
            </a:extLst>
          </p:cNvPr>
          <p:cNvSpPr/>
          <p:nvPr/>
        </p:nvSpPr>
        <p:spPr>
          <a:xfrm>
            <a:off x="3310128" y="4041648"/>
            <a:ext cx="5541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Kampania UGC #VoltujSieZNami</a:t>
            </a:r>
            <a:endParaRPr lang="en-US" sz="650" dirty="0"/>
          </a:p>
        </p:txBody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A2B60644-E641-E768-F84E-1ECCC96ABBF5}"/>
              </a:ext>
            </a:extLst>
          </p:cNvPr>
          <p:cNvSpPr/>
          <p:nvPr/>
        </p:nvSpPr>
        <p:spPr>
          <a:xfrm>
            <a:off x="1664208" y="431596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8EF619E3-9683-E056-5B0E-1914058A5D08}"/>
              </a:ext>
            </a:extLst>
          </p:cNvPr>
          <p:cNvSpPr/>
          <p:nvPr/>
        </p:nvSpPr>
        <p:spPr>
          <a:xfrm>
            <a:off x="2468880" y="4334256"/>
            <a:ext cx="6382512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140C6D38-61D7-E00E-4A7E-D2572000BDA8}"/>
              </a:ext>
            </a:extLst>
          </p:cNvPr>
          <p:cNvSpPr/>
          <p:nvPr/>
        </p:nvSpPr>
        <p:spPr>
          <a:xfrm>
            <a:off x="2505456" y="4334256"/>
            <a:ext cx="634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UGC na oficjalnym profilu</a:t>
            </a:r>
            <a:endParaRPr lang="en-US" sz="65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375AF561-BAAF-1284-9290-32780A7083C8}"/>
              </a:ext>
            </a:extLst>
          </p:cNvPr>
          <p:cNvSpPr/>
          <p:nvPr/>
        </p:nvSpPr>
        <p:spPr>
          <a:xfrm>
            <a:off x="1664208" y="460857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B0534A57-598A-D896-3C50-71FAAA5BDD64}"/>
              </a:ext>
            </a:extLst>
          </p:cNvPr>
          <p:cNvSpPr/>
          <p:nvPr/>
        </p:nvSpPr>
        <p:spPr>
          <a:xfrm>
            <a:off x="1664208" y="4626864"/>
            <a:ext cx="7187184" cy="201168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CFD910FF-4E2A-C309-8558-F9563A9C4F8F}"/>
              </a:ext>
            </a:extLst>
          </p:cNvPr>
          <p:cNvSpPr/>
          <p:nvPr/>
        </p:nvSpPr>
        <p:spPr>
          <a:xfrm>
            <a:off x="1700784" y="4626864"/>
            <a:ext cx="7150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HypeAuditor - monitoring ER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39283245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DFE3C-34B2-7EA9-365D-C8D9FE1E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436A75-12E0-8110-5E59-82F05A54363F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BUDZET INFLUENCER MARKETINGU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9E45C9-717A-0F24-C8D9-5F6C952CF8E7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zl na 9 miesiecy. Konto po koncie.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46B7F7A-13AF-89F6-FBFC-FF9909610972}"/>
              </a:ext>
            </a:extLst>
          </p:cNvPr>
          <p:cNvSpPr/>
          <p:nvPr/>
        </p:nvSpPr>
        <p:spPr>
          <a:xfrm>
            <a:off x="256032" y="1261872"/>
            <a:ext cx="2615184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B689D3-DD10-6597-8E8F-2786E720A121}"/>
              </a:ext>
            </a:extLst>
          </p:cNvPr>
          <p:cNvSpPr/>
          <p:nvPr/>
        </p:nvSpPr>
        <p:spPr>
          <a:xfrm>
            <a:off x="256032" y="12618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/ HANDLE</a:t>
            </a:r>
            <a:endParaRPr lang="en-US" sz="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8EB32E-57BC-10DA-4FCD-F2C9C9C5C859}"/>
              </a:ext>
            </a:extLst>
          </p:cNvPr>
          <p:cNvSpPr/>
          <p:nvPr/>
        </p:nvSpPr>
        <p:spPr>
          <a:xfrm>
            <a:off x="2889504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575E532-4FD1-D144-41DA-647EB0702E12}"/>
              </a:ext>
            </a:extLst>
          </p:cNvPr>
          <p:cNvSpPr/>
          <p:nvPr/>
        </p:nvSpPr>
        <p:spPr>
          <a:xfrm>
            <a:off x="2889504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M1-M2</a:t>
            </a:r>
            <a:endParaRPr lang="en-US" sz="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189DAB-6B83-9DF9-8D59-6431F0346101}"/>
              </a:ext>
            </a:extLst>
          </p:cNvPr>
          <p:cNvSpPr/>
          <p:nvPr/>
        </p:nvSpPr>
        <p:spPr>
          <a:xfrm>
            <a:off x="3913632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957CF00-B2C8-35F0-5771-E1301FC8C607}"/>
              </a:ext>
            </a:extLst>
          </p:cNvPr>
          <p:cNvSpPr/>
          <p:nvPr/>
        </p:nvSpPr>
        <p:spPr>
          <a:xfrm>
            <a:off x="3913632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M3-M4</a:t>
            </a:r>
            <a:endParaRPr lang="en-US" sz="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D9222BE-DE14-7176-B352-B75711F9282A}"/>
              </a:ext>
            </a:extLst>
          </p:cNvPr>
          <p:cNvSpPr/>
          <p:nvPr/>
        </p:nvSpPr>
        <p:spPr>
          <a:xfrm>
            <a:off x="4937760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DAE33B-8BA8-F045-661F-C11FB158ECBF}"/>
              </a:ext>
            </a:extLst>
          </p:cNvPr>
          <p:cNvSpPr/>
          <p:nvPr/>
        </p:nvSpPr>
        <p:spPr>
          <a:xfrm>
            <a:off x="4937760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M5-M6</a:t>
            </a:r>
            <a:endParaRPr lang="en-US" sz="7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5F9B546-5D73-E249-336E-1FE947881565}"/>
              </a:ext>
            </a:extLst>
          </p:cNvPr>
          <p:cNvSpPr/>
          <p:nvPr/>
        </p:nvSpPr>
        <p:spPr>
          <a:xfrm>
            <a:off x="5961888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B791A3C-38D8-1B29-A111-97B71D363291}"/>
              </a:ext>
            </a:extLst>
          </p:cNvPr>
          <p:cNvSpPr/>
          <p:nvPr/>
        </p:nvSpPr>
        <p:spPr>
          <a:xfrm>
            <a:off x="5961888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M7-M9</a:t>
            </a:r>
            <a:endParaRPr lang="en-US" sz="7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237235E-AF35-3A5E-B431-4C23C7E4C98A}"/>
              </a:ext>
            </a:extLst>
          </p:cNvPr>
          <p:cNvSpPr/>
          <p:nvPr/>
        </p:nvSpPr>
        <p:spPr>
          <a:xfrm>
            <a:off x="6986016" y="1261872"/>
            <a:ext cx="1115568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A01CF8-5849-C6F2-53BA-A3EAB6DFA443}"/>
              </a:ext>
            </a:extLst>
          </p:cNvPr>
          <p:cNvSpPr/>
          <p:nvPr/>
        </p:nvSpPr>
        <p:spPr>
          <a:xfrm>
            <a:off x="6986016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333E599-0B8A-EB34-47D8-17851FED607C}"/>
              </a:ext>
            </a:extLst>
          </p:cNvPr>
          <p:cNvSpPr/>
          <p:nvPr/>
        </p:nvSpPr>
        <p:spPr>
          <a:xfrm>
            <a:off x="256032" y="1572768"/>
            <a:ext cx="8631936" cy="18288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0338B39-3C7E-840E-8B05-1A57D9FFF59B}"/>
              </a:ext>
            </a:extLst>
          </p:cNvPr>
          <p:cNvSpPr/>
          <p:nvPr/>
        </p:nvSpPr>
        <p:spPr>
          <a:xfrm>
            <a:off x="347472" y="157276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A - MICRO INFLUENCERZY</a:t>
            </a:r>
            <a:endParaRPr lang="en-US" sz="7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67B9872-619D-94A5-BCD3-89F7A7103F81}"/>
              </a:ext>
            </a:extLst>
          </p:cNvPr>
          <p:cNvSpPr/>
          <p:nvPr/>
        </p:nvSpPr>
        <p:spPr>
          <a:xfrm>
            <a:off x="256032" y="1755648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A56D49-B5E6-F3DA-649D-C7C0DD576128}"/>
              </a:ext>
            </a:extLst>
          </p:cNvPr>
          <p:cNvSpPr/>
          <p:nvPr/>
        </p:nvSpPr>
        <p:spPr>
          <a:xfrm>
            <a:off x="310896" y="17556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@codziennie_fit (retainer 9M)</a:t>
            </a:r>
            <a:endParaRPr lang="en-US" sz="7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9E5FE7A-6AB7-17E4-3E02-7E7A8C2EA8E5}"/>
              </a:ext>
            </a:extLst>
          </p:cNvPr>
          <p:cNvSpPr/>
          <p:nvPr/>
        </p:nvSpPr>
        <p:spPr>
          <a:xfrm>
            <a:off x="2889504" y="17556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4B7999D-4868-469C-2F68-E58DBB7BB63E}"/>
              </a:ext>
            </a:extLst>
          </p:cNvPr>
          <p:cNvSpPr/>
          <p:nvPr/>
        </p:nvSpPr>
        <p:spPr>
          <a:xfrm>
            <a:off x="2889504" y="17556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zl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A6ED39E-D0CE-80E3-46B3-25E6B4FB95E9}"/>
              </a:ext>
            </a:extLst>
          </p:cNvPr>
          <p:cNvSpPr/>
          <p:nvPr/>
        </p:nvSpPr>
        <p:spPr>
          <a:xfrm>
            <a:off x="3913632" y="17556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FE6FFA4B-61DC-6551-AACD-4E4CAD5D722E}"/>
              </a:ext>
            </a:extLst>
          </p:cNvPr>
          <p:cNvSpPr/>
          <p:nvPr/>
        </p:nvSpPr>
        <p:spPr>
          <a:xfrm>
            <a:off x="3913632" y="17556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zl</a:t>
            </a:r>
            <a:endParaRPr lang="en-US" sz="7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280763B-509B-2946-3FAF-37AD70B67B71}"/>
              </a:ext>
            </a:extLst>
          </p:cNvPr>
          <p:cNvSpPr/>
          <p:nvPr/>
        </p:nvSpPr>
        <p:spPr>
          <a:xfrm>
            <a:off x="4937760" y="17556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2A26FFA-D1F3-9AEE-6D95-F5EB5FF370B5}"/>
              </a:ext>
            </a:extLst>
          </p:cNvPr>
          <p:cNvSpPr/>
          <p:nvPr/>
        </p:nvSpPr>
        <p:spPr>
          <a:xfrm>
            <a:off x="4937760" y="17556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7000 zl</a:t>
            </a:r>
            <a:endParaRPr lang="en-US" sz="7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CDB0FD6-5077-D940-0DAD-7AFA04942EE2}"/>
              </a:ext>
            </a:extLst>
          </p:cNvPr>
          <p:cNvSpPr/>
          <p:nvPr/>
        </p:nvSpPr>
        <p:spPr>
          <a:xfrm>
            <a:off x="5961888" y="17556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2EBAA26-85A2-90AA-A70E-33754838FB2C}"/>
              </a:ext>
            </a:extLst>
          </p:cNvPr>
          <p:cNvSpPr/>
          <p:nvPr/>
        </p:nvSpPr>
        <p:spPr>
          <a:xfrm>
            <a:off x="5961888" y="17556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10 500 zl</a:t>
            </a:r>
            <a:endParaRPr lang="en-US" sz="75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FDF95F7-208F-2B64-C070-5858BA7E0BC9}"/>
              </a:ext>
            </a:extLst>
          </p:cNvPr>
          <p:cNvSpPr/>
          <p:nvPr/>
        </p:nvSpPr>
        <p:spPr>
          <a:xfrm>
            <a:off x="6986016" y="1755648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9EF55DF-9433-8B1D-5E67-FD1ABE81313E}"/>
              </a:ext>
            </a:extLst>
          </p:cNvPr>
          <p:cNvSpPr/>
          <p:nvPr/>
        </p:nvSpPr>
        <p:spPr>
          <a:xfrm>
            <a:off x="6986016" y="175564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31 500 zl</a:t>
            </a:r>
            <a:endParaRPr lang="en-US" sz="7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C0A3E5E-4BCA-29BF-2ED2-51A82D355E63}"/>
              </a:ext>
            </a:extLst>
          </p:cNvPr>
          <p:cNvSpPr/>
          <p:nvPr/>
        </p:nvSpPr>
        <p:spPr>
          <a:xfrm>
            <a:off x="256032" y="1984248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99BF5AF-BF80-0EC8-F851-E74A9EF4DFBA}"/>
              </a:ext>
            </a:extLst>
          </p:cNvPr>
          <p:cNvSpPr/>
          <p:nvPr/>
        </p:nvSpPr>
        <p:spPr>
          <a:xfrm>
            <a:off x="310896" y="19842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@anna_karcz (retainer 3M)</a:t>
            </a:r>
            <a:endParaRPr lang="en-US" sz="7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770D77D0-130A-53AF-C297-2AF18EEF74EF}"/>
              </a:ext>
            </a:extLst>
          </p:cNvPr>
          <p:cNvSpPr/>
          <p:nvPr/>
        </p:nvSpPr>
        <p:spPr>
          <a:xfrm>
            <a:off x="2889504" y="19842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728A009-9199-09E2-2B19-6B6E54AD2664}"/>
              </a:ext>
            </a:extLst>
          </p:cNvPr>
          <p:cNvSpPr/>
          <p:nvPr/>
        </p:nvSpPr>
        <p:spPr>
          <a:xfrm>
            <a:off x="2889504" y="1984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 zl</a:t>
            </a:r>
            <a:endParaRPr lang="en-US" sz="75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7D4DA48-B78A-EFF1-DB9F-9B49E929CAF8}"/>
              </a:ext>
            </a:extLst>
          </p:cNvPr>
          <p:cNvSpPr/>
          <p:nvPr/>
        </p:nvSpPr>
        <p:spPr>
          <a:xfrm>
            <a:off x="3913632" y="19842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B959EE3-19E0-03F8-13B0-92AA938D6BDF}"/>
              </a:ext>
            </a:extLst>
          </p:cNvPr>
          <p:cNvSpPr/>
          <p:nvPr/>
        </p:nvSpPr>
        <p:spPr>
          <a:xfrm>
            <a:off x="3913632" y="1984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3600 zl</a:t>
            </a:r>
            <a:endParaRPr lang="en-US" sz="7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B486400-CA54-8340-E106-1D3FC9D92EA6}"/>
              </a:ext>
            </a:extLst>
          </p:cNvPr>
          <p:cNvSpPr/>
          <p:nvPr/>
        </p:nvSpPr>
        <p:spPr>
          <a:xfrm>
            <a:off x="4937760" y="19842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0931FE1-48E5-B778-1707-906E6A2FB910}"/>
              </a:ext>
            </a:extLst>
          </p:cNvPr>
          <p:cNvSpPr/>
          <p:nvPr/>
        </p:nvSpPr>
        <p:spPr>
          <a:xfrm>
            <a:off x="4937760" y="1984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69D3B49-2EA4-411C-A252-BAC655993AB1}"/>
              </a:ext>
            </a:extLst>
          </p:cNvPr>
          <p:cNvSpPr/>
          <p:nvPr/>
        </p:nvSpPr>
        <p:spPr>
          <a:xfrm>
            <a:off x="5961888" y="19842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C8C739EB-823F-CB94-15C8-6D8768AB20CB}"/>
              </a:ext>
            </a:extLst>
          </p:cNvPr>
          <p:cNvSpPr/>
          <p:nvPr/>
        </p:nvSpPr>
        <p:spPr>
          <a:xfrm>
            <a:off x="5961888" y="19842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A70CA401-A892-8A84-BAE2-EFA119A44BE8}"/>
              </a:ext>
            </a:extLst>
          </p:cNvPr>
          <p:cNvSpPr/>
          <p:nvPr/>
        </p:nvSpPr>
        <p:spPr>
          <a:xfrm>
            <a:off x="6986016" y="1984248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5AA3731F-2663-0306-9209-46FFF128D71C}"/>
              </a:ext>
            </a:extLst>
          </p:cNvPr>
          <p:cNvSpPr/>
          <p:nvPr/>
        </p:nvSpPr>
        <p:spPr>
          <a:xfrm>
            <a:off x="6986016" y="198424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7200 zl</a:t>
            </a:r>
            <a:endParaRPr lang="en-US" sz="75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FC6902D-9762-38F8-82E6-C9510EEB53FF}"/>
              </a:ext>
            </a:extLst>
          </p:cNvPr>
          <p:cNvSpPr/>
          <p:nvPr/>
        </p:nvSpPr>
        <p:spPr>
          <a:xfrm>
            <a:off x="256032" y="2212848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B492B7-705C-FA1B-1C59-34B84C632ECE}"/>
              </a:ext>
            </a:extLst>
          </p:cNvPr>
          <p:cNvSpPr/>
          <p:nvPr/>
        </p:nvSpPr>
        <p:spPr>
          <a:xfrm>
            <a:off x="310896" y="22128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@qczaj (jednorazowa F2)</a:t>
            </a:r>
            <a:endParaRPr lang="en-US" sz="7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16EA431-3635-B5EF-0D81-12956B0E9E86}"/>
              </a:ext>
            </a:extLst>
          </p:cNvPr>
          <p:cNvSpPr/>
          <p:nvPr/>
        </p:nvSpPr>
        <p:spPr>
          <a:xfrm>
            <a:off x="2889504" y="22128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C93279E-47F2-FC67-41D4-FE9A32D6D63B}"/>
              </a:ext>
            </a:extLst>
          </p:cNvPr>
          <p:cNvSpPr/>
          <p:nvPr/>
        </p:nvSpPr>
        <p:spPr>
          <a:xfrm>
            <a:off x="2889504" y="22128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70800BE-3F1A-BD8D-AE98-CAC0D1C82C07}"/>
              </a:ext>
            </a:extLst>
          </p:cNvPr>
          <p:cNvSpPr/>
          <p:nvPr/>
        </p:nvSpPr>
        <p:spPr>
          <a:xfrm>
            <a:off x="3913632" y="22128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7CC9748D-0B3D-8CCB-C0B2-9A301E74071D}"/>
              </a:ext>
            </a:extLst>
          </p:cNvPr>
          <p:cNvSpPr/>
          <p:nvPr/>
        </p:nvSpPr>
        <p:spPr>
          <a:xfrm>
            <a:off x="3913632" y="22128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zl</a:t>
            </a:r>
            <a:endParaRPr lang="en-US" sz="75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59AC51F-F730-2923-65FD-7147FCC17633}"/>
              </a:ext>
            </a:extLst>
          </p:cNvPr>
          <p:cNvSpPr/>
          <p:nvPr/>
        </p:nvSpPr>
        <p:spPr>
          <a:xfrm>
            <a:off x="4937760" y="22128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D53EF993-2D79-E992-EFA0-A718540D72B5}"/>
              </a:ext>
            </a:extLst>
          </p:cNvPr>
          <p:cNvSpPr/>
          <p:nvPr/>
        </p:nvSpPr>
        <p:spPr>
          <a:xfrm>
            <a:off x="4937760" y="22128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645F94CE-61E4-B25D-12BB-2DFCC0E6CF23}"/>
              </a:ext>
            </a:extLst>
          </p:cNvPr>
          <p:cNvSpPr/>
          <p:nvPr/>
        </p:nvSpPr>
        <p:spPr>
          <a:xfrm>
            <a:off x="5961888" y="221284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2FCEA43-7A3C-4250-4751-301507812B10}"/>
              </a:ext>
            </a:extLst>
          </p:cNvPr>
          <p:cNvSpPr/>
          <p:nvPr/>
        </p:nvSpPr>
        <p:spPr>
          <a:xfrm>
            <a:off x="5961888" y="22128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DB0F701-6E25-33F2-2171-DCA6135AAD4C}"/>
              </a:ext>
            </a:extLst>
          </p:cNvPr>
          <p:cNvSpPr/>
          <p:nvPr/>
        </p:nvSpPr>
        <p:spPr>
          <a:xfrm>
            <a:off x="6986016" y="2212848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CE81607-3953-3D2F-4FCC-E0371BF5F132}"/>
              </a:ext>
            </a:extLst>
          </p:cNvPr>
          <p:cNvSpPr/>
          <p:nvPr/>
        </p:nvSpPr>
        <p:spPr>
          <a:xfrm>
            <a:off x="6986016" y="221284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 zl</a:t>
            </a:r>
            <a:endParaRPr lang="en-US" sz="75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49D165F-084D-A352-DA4D-5626E6191DB2}"/>
              </a:ext>
            </a:extLst>
          </p:cNvPr>
          <p:cNvSpPr/>
          <p:nvPr/>
        </p:nvSpPr>
        <p:spPr>
          <a:xfrm>
            <a:off x="256032" y="2441448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4DCA7110-A81C-F576-DFBF-FEDD143060FD}"/>
              </a:ext>
            </a:extLst>
          </p:cNvPr>
          <p:cNvSpPr/>
          <p:nvPr/>
        </p:nvSpPr>
        <p:spPr>
          <a:xfrm>
            <a:off x="310896" y="2441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@fitwariatka (jednorazowa F2)</a:t>
            </a:r>
            <a:endParaRPr lang="en-US" sz="75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04DC7B5-7AFD-BCFB-E1AA-84A4E9997EB3}"/>
              </a:ext>
            </a:extLst>
          </p:cNvPr>
          <p:cNvSpPr/>
          <p:nvPr/>
        </p:nvSpPr>
        <p:spPr>
          <a:xfrm>
            <a:off x="2889504" y="24414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42CDD3EE-9A8A-2FC5-CF71-9F8512D601E7}"/>
              </a:ext>
            </a:extLst>
          </p:cNvPr>
          <p:cNvSpPr/>
          <p:nvPr/>
        </p:nvSpPr>
        <p:spPr>
          <a:xfrm>
            <a:off x="2889504" y="24414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3DED5963-CF3C-DA38-EFDA-CCD3A17D6819}"/>
              </a:ext>
            </a:extLst>
          </p:cNvPr>
          <p:cNvSpPr/>
          <p:nvPr/>
        </p:nvSpPr>
        <p:spPr>
          <a:xfrm>
            <a:off x="3913632" y="24414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31E6DFA8-8BE1-E263-BBA7-FB99EAF7DF1C}"/>
              </a:ext>
            </a:extLst>
          </p:cNvPr>
          <p:cNvSpPr/>
          <p:nvPr/>
        </p:nvSpPr>
        <p:spPr>
          <a:xfrm>
            <a:off x="3913632" y="24414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 zl</a:t>
            </a:r>
            <a:endParaRPr lang="en-US" sz="7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ECB33F6-2972-176F-FAF3-993F47D76661}"/>
              </a:ext>
            </a:extLst>
          </p:cNvPr>
          <p:cNvSpPr/>
          <p:nvPr/>
        </p:nvSpPr>
        <p:spPr>
          <a:xfrm>
            <a:off x="4937760" y="24414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3FAFB2DC-B704-AB84-5593-2AD3B3E5A6E0}"/>
              </a:ext>
            </a:extLst>
          </p:cNvPr>
          <p:cNvSpPr/>
          <p:nvPr/>
        </p:nvSpPr>
        <p:spPr>
          <a:xfrm>
            <a:off x="4937760" y="24414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A0E6885-433B-06A6-473E-8252D0788B8B}"/>
              </a:ext>
            </a:extLst>
          </p:cNvPr>
          <p:cNvSpPr/>
          <p:nvPr/>
        </p:nvSpPr>
        <p:spPr>
          <a:xfrm>
            <a:off x="5961888" y="244144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1425BB0-665A-8AC5-02B6-C673DA00970A}"/>
              </a:ext>
            </a:extLst>
          </p:cNvPr>
          <p:cNvSpPr/>
          <p:nvPr/>
        </p:nvSpPr>
        <p:spPr>
          <a:xfrm>
            <a:off x="5961888" y="244144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8D864BBC-6859-A7F4-E3B2-D34E3ABB4624}"/>
              </a:ext>
            </a:extLst>
          </p:cNvPr>
          <p:cNvSpPr/>
          <p:nvPr/>
        </p:nvSpPr>
        <p:spPr>
          <a:xfrm>
            <a:off x="6986016" y="2441448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738CB1A2-D6D7-B4BE-7225-B5C2654001AC}"/>
              </a:ext>
            </a:extLst>
          </p:cNvPr>
          <p:cNvSpPr/>
          <p:nvPr/>
        </p:nvSpPr>
        <p:spPr>
          <a:xfrm>
            <a:off x="6986016" y="244144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6000 zl</a:t>
            </a:r>
            <a:endParaRPr lang="en-US" sz="75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724216D-5691-3A00-64D0-4B8F9C980FF1}"/>
              </a:ext>
            </a:extLst>
          </p:cNvPr>
          <p:cNvSpPr/>
          <p:nvPr/>
        </p:nvSpPr>
        <p:spPr>
          <a:xfrm>
            <a:off x="256032" y="2670048"/>
            <a:ext cx="8631936" cy="18288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CF01B35B-49CE-4CD3-1E7B-CC07F641347A}"/>
              </a:ext>
            </a:extLst>
          </p:cNvPr>
          <p:cNvSpPr/>
          <p:nvPr/>
        </p:nvSpPr>
        <p:spPr>
          <a:xfrm>
            <a:off x="347472" y="2670048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- NANO PLATNE</a:t>
            </a:r>
            <a:endParaRPr lang="en-US" sz="7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622A033C-59DE-637A-D247-48EF4B563DFD}"/>
              </a:ext>
            </a:extLst>
          </p:cNvPr>
          <p:cNvSpPr/>
          <p:nvPr/>
        </p:nvSpPr>
        <p:spPr>
          <a:xfrm>
            <a:off x="256032" y="2852928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A2E85ECA-6735-DC50-4115-04FA4709FA6A}"/>
              </a:ext>
            </a:extLst>
          </p:cNvPr>
          <p:cNvSpPr/>
          <p:nvPr/>
        </p:nvSpPr>
        <p:spPr>
          <a:xfrm>
            <a:off x="310896" y="28529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@pilates.z.magda (ret. 6M)</a:t>
            </a:r>
            <a:endParaRPr lang="en-US" sz="75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0A4C7A57-4778-4A9C-D706-44EBB460A9D8}"/>
              </a:ext>
            </a:extLst>
          </p:cNvPr>
          <p:cNvSpPr/>
          <p:nvPr/>
        </p:nvSpPr>
        <p:spPr>
          <a:xfrm>
            <a:off x="2889504" y="28529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ED69CC0A-F284-0F76-FE88-93A96FB24EDA}"/>
              </a:ext>
            </a:extLst>
          </p:cNvPr>
          <p:cNvSpPr/>
          <p:nvPr/>
        </p:nvSpPr>
        <p:spPr>
          <a:xfrm>
            <a:off x="2889504" y="28529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 zl</a:t>
            </a:r>
            <a:endParaRPr lang="en-US" sz="75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0118374F-F1C7-58B6-3F7C-8D2DDD45F065}"/>
              </a:ext>
            </a:extLst>
          </p:cNvPr>
          <p:cNvSpPr/>
          <p:nvPr/>
        </p:nvSpPr>
        <p:spPr>
          <a:xfrm>
            <a:off x="3913632" y="28529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35EC4C3E-7215-3A9B-23E1-E1585CF10274}"/>
              </a:ext>
            </a:extLst>
          </p:cNvPr>
          <p:cNvSpPr/>
          <p:nvPr/>
        </p:nvSpPr>
        <p:spPr>
          <a:xfrm>
            <a:off x="3913632" y="28529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 zl</a:t>
            </a:r>
            <a:endParaRPr lang="en-US" sz="75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F26DEF7-CDE9-B601-E29D-F70CB7852E11}"/>
              </a:ext>
            </a:extLst>
          </p:cNvPr>
          <p:cNvSpPr/>
          <p:nvPr/>
        </p:nvSpPr>
        <p:spPr>
          <a:xfrm>
            <a:off x="4937760" y="28529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BDA66FF4-77C1-BD56-D8B2-35585F11E0CA}"/>
              </a:ext>
            </a:extLst>
          </p:cNvPr>
          <p:cNvSpPr/>
          <p:nvPr/>
        </p:nvSpPr>
        <p:spPr>
          <a:xfrm>
            <a:off x="4937760" y="28529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1400 zl</a:t>
            </a:r>
            <a:endParaRPr lang="en-US" sz="75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906B6C22-B1D0-BF5F-191F-65D6A6F92803}"/>
              </a:ext>
            </a:extLst>
          </p:cNvPr>
          <p:cNvSpPr/>
          <p:nvPr/>
        </p:nvSpPr>
        <p:spPr>
          <a:xfrm>
            <a:off x="5961888" y="28529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6703C917-8189-8439-6750-85D2235A1481}"/>
              </a:ext>
            </a:extLst>
          </p:cNvPr>
          <p:cNvSpPr/>
          <p:nvPr/>
        </p:nvSpPr>
        <p:spPr>
          <a:xfrm>
            <a:off x="5961888" y="28529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72DE8C40-460A-26AB-A8D5-0D770F175D11}"/>
              </a:ext>
            </a:extLst>
          </p:cNvPr>
          <p:cNvSpPr/>
          <p:nvPr/>
        </p:nvSpPr>
        <p:spPr>
          <a:xfrm>
            <a:off x="6986016" y="2852928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F5013F10-290F-50E6-C433-98498195C6CB}"/>
              </a:ext>
            </a:extLst>
          </p:cNvPr>
          <p:cNvSpPr/>
          <p:nvPr/>
        </p:nvSpPr>
        <p:spPr>
          <a:xfrm>
            <a:off x="6986016" y="285292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4200 zl</a:t>
            </a:r>
            <a:endParaRPr lang="en-US" sz="75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13FB91EF-EE6F-EE51-2FA8-6A36F3071F07}"/>
              </a:ext>
            </a:extLst>
          </p:cNvPr>
          <p:cNvSpPr/>
          <p:nvPr/>
        </p:nvSpPr>
        <p:spPr>
          <a:xfrm>
            <a:off x="256032" y="3081528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4E8F50DC-260A-C30B-D2F0-C6FD18FB8122}"/>
              </a:ext>
            </a:extLst>
          </p:cNvPr>
          <p:cNvSpPr/>
          <p:nvPr/>
        </p:nvSpPr>
        <p:spPr>
          <a:xfrm>
            <a:off x="310896" y="30815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0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@silownia_lifestyle (ret. 6M)</a:t>
            </a:r>
            <a:endParaRPr lang="en-US" sz="75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89528F26-0477-E0F2-67CA-509657274FC3}"/>
              </a:ext>
            </a:extLst>
          </p:cNvPr>
          <p:cNvSpPr/>
          <p:nvPr/>
        </p:nvSpPr>
        <p:spPr>
          <a:xfrm>
            <a:off x="2889504" y="30815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26B1759E-1510-24E7-584E-67E21DE91E5C}"/>
              </a:ext>
            </a:extLst>
          </p:cNvPr>
          <p:cNvSpPr/>
          <p:nvPr/>
        </p:nvSpPr>
        <p:spPr>
          <a:xfrm>
            <a:off x="2889504" y="30815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zl</a:t>
            </a:r>
            <a:endParaRPr lang="en-US" sz="75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17EBB4DB-AE4E-E00B-83EA-D3E6BA097CC4}"/>
              </a:ext>
            </a:extLst>
          </p:cNvPr>
          <p:cNvSpPr/>
          <p:nvPr/>
        </p:nvSpPr>
        <p:spPr>
          <a:xfrm>
            <a:off x="3913632" y="30815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4B2D2BF8-62D1-D8C2-0019-033CB9D61E85}"/>
              </a:ext>
            </a:extLst>
          </p:cNvPr>
          <p:cNvSpPr/>
          <p:nvPr/>
        </p:nvSpPr>
        <p:spPr>
          <a:xfrm>
            <a:off x="3913632" y="30815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zl</a:t>
            </a:r>
            <a:endParaRPr lang="en-US" sz="75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5E08237-B3EF-C825-BF9A-46D0D7AF4FA3}"/>
              </a:ext>
            </a:extLst>
          </p:cNvPr>
          <p:cNvSpPr/>
          <p:nvPr/>
        </p:nvSpPr>
        <p:spPr>
          <a:xfrm>
            <a:off x="4937760" y="30815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C6E57618-CBE7-7AB7-9DAE-7C7D949C7BE4}"/>
              </a:ext>
            </a:extLst>
          </p:cNvPr>
          <p:cNvSpPr/>
          <p:nvPr/>
        </p:nvSpPr>
        <p:spPr>
          <a:xfrm>
            <a:off x="4937760" y="30815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zl</a:t>
            </a:r>
            <a:endParaRPr lang="en-US" sz="75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B4D39A19-698D-B3FB-45EE-46E90C868D10}"/>
              </a:ext>
            </a:extLst>
          </p:cNvPr>
          <p:cNvSpPr/>
          <p:nvPr/>
        </p:nvSpPr>
        <p:spPr>
          <a:xfrm>
            <a:off x="5961888" y="30815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3ED24E4D-65E2-968F-5434-B50DF938C94E}"/>
              </a:ext>
            </a:extLst>
          </p:cNvPr>
          <p:cNvSpPr/>
          <p:nvPr/>
        </p:nvSpPr>
        <p:spPr>
          <a:xfrm>
            <a:off x="5961888" y="30815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90" name="Shape 88">
            <a:extLst>
              <a:ext uri="{FF2B5EF4-FFF2-40B4-BE49-F238E27FC236}">
                <a16:creationId xmlns:a16="http://schemas.microsoft.com/office/drawing/2014/main" id="{7BE6C5A7-FBD0-57FF-9678-55760A7F7518}"/>
              </a:ext>
            </a:extLst>
          </p:cNvPr>
          <p:cNvSpPr/>
          <p:nvPr/>
        </p:nvSpPr>
        <p:spPr>
          <a:xfrm>
            <a:off x="6986016" y="3081528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5E43AF16-1D01-121F-BD3C-2882B85D7E96}"/>
              </a:ext>
            </a:extLst>
          </p:cNvPr>
          <p:cNvSpPr/>
          <p:nvPr/>
        </p:nvSpPr>
        <p:spPr>
          <a:xfrm>
            <a:off x="6986016" y="308152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 zl</a:t>
            </a:r>
            <a:endParaRPr lang="en-US" sz="750" dirty="0"/>
          </a:p>
        </p:txBody>
      </p:sp>
      <p:sp>
        <p:nvSpPr>
          <p:cNvPr id="92" name="Shape 90">
            <a:extLst>
              <a:ext uri="{FF2B5EF4-FFF2-40B4-BE49-F238E27FC236}">
                <a16:creationId xmlns:a16="http://schemas.microsoft.com/office/drawing/2014/main" id="{9A594A5B-361F-80E7-357E-9B0C58DFC46F}"/>
              </a:ext>
            </a:extLst>
          </p:cNvPr>
          <p:cNvSpPr/>
          <p:nvPr/>
        </p:nvSpPr>
        <p:spPr>
          <a:xfrm>
            <a:off x="256032" y="3310128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254F55BA-0AA4-8D97-9959-A53B574F86C4}"/>
              </a:ext>
            </a:extLst>
          </p:cNvPr>
          <p:cNvSpPr/>
          <p:nvPr/>
        </p:nvSpPr>
        <p:spPr>
          <a:xfrm>
            <a:off x="310896" y="33101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@biegam_i_jem (jedn.+aff.)</a:t>
            </a:r>
            <a:endParaRPr lang="en-US" sz="750" dirty="0"/>
          </a:p>
        </p:txBody>
      </p:sp>
      <p:sp>
        <p:nvSpPr>
          <p:cNvPr id="94" name="Shape 92">
            <a:extLst>
              <a:ext uri="{FF2B5EF4-FFF2-40B4-BE49-F238E27FC236}">
                <a16:creationId xmlns:a16="http://schemas.microsoft.com/office/drawing/2014/main" id="{DD1119EC-3FCA-4400-C894-8DA9E203FD54}"/>
              </a:ext>
            </a:extLst>
          </p:cNvPr>
          <p:cNvSpPr/>
          <p:nvPr/>
        </p:nvSpPr>
        <p:spPr>
          <a:xfrm>
            <a:off x="2889504" y="33101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56A7B315-E506-695C-6B82-463C57133876}"/>
              </a:ext>
            </a:extLst>
          </p:cNvPr>
          <p:cNvSpPr/>
          <p:nvPr/>
        </p:nvSpPr>
        <p:spPr>
          <a:xfrm>
            <a:off x="2889504" y="3310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96" name="Shape 94">
            <a:extLst>
              <a:ext uri="{FF2B5EF4-FFF2-40B4-BE49-F238E27FC236}">
                <a16:creationId xmlns:a16="http://schemas.microsoft.com/office/drawing/2014/main" id="{61DF008D-2BAE-615A-70A1-2BCBCEEF14AC}"/>
              </a:ext>
            </a:extLst>
          </p:cNvPr>
          <p:cNvSpPr/>
          <p:nvPr/>
        </p:nvSpPr>
        <p:spPr>
          <a:xfrm>
            <a:off x="3913632" y="33101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B49E2BC4-5989-545D-9010-CD82819F30BF}"/>
              </a:ext>
            </a:extLst>
          </p:cNvPr>
          <p:cNvSpPr/>
          <p:nvPr/>
        </p:nvSpPr>
        <p:spPr>
          <a:xfrm>
            <a:off x="3913632" y="3310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98" name="Shape 96">
            <a:extLst>
              <a:ext uri="{FF2B5EF4-FFF2-40B4-BE49-F238E27FC236}">
                <a16:creationId xmlns:a16="http://schemas.microsoft.com/office/drawing/2014/main" id="{E93CE44B-AB42-FF76-67AB-F749399E95F7}"/>
              </a:ext>
            </a:extLst>
          </p:cNvPr>
          <p:cNvSpPr/>
          <p:nvPr/>
        </p:nvSpPr>
        <p:spPr>
          <a:xfrm>
            <a:off x="4937760" y="33101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A012508E-FB70-DB73-5457-922BB8DD9252}"/>
              </a:ext>
            </a:extLst>
          </p:cNvPr>
          <p:cNvSpPr/>
          <p:nvPr/>
        </p:nvSpPr>
        <p:spPr>
          <a:xfrm>
            <a:off x="4937760" y="3310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 zl</a:t>
            </a:r>
            <a:endParaRPr lang="en-US" sz="75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A390153C-E580-0CA5-B55F-99C7AA0177A2}"/>
              </a:ext>
            </a:extLst>
          </p:cNvPr>
          <p:cNvSpPr/>
          <p:nvPr/>
        </p:nvSpPr>
        <p:spPr>
          <a:xfrm>
            <a:off x="5961888" y="33101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72E74933-44C6-BE39-4593-36AC6DC15A4D}"/>
              </a:ext>
            </a:extLst>
          </p:cNvPr>
          <p:cNvSpPr/>
          <p:nvPr/>
        </p:nvSpPr>
        <p:spPr>
          <a:xfrm>
            <a:off x="5961888" y="33101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02" name="Shape 100">
            <a:extLst>
              <a:ext uri="{FF2B5EF4-FFF2-40B4-BE49-F238E27FC236}">
                <a16:creationId xmlns:a16="http://schemas.microsoft.com/office/drawing/2014/main" id="{44423E60-DAD9-180B-7CC6-F1EC2E0FB494}"/>
              </a:ext>
            </a:extLst>
          </p:cNvPr>
          <p:cNvSpPr/>
          <p:nvPr/>
        </p:nvSpPr>
        <p:spPr>
          <a:xfrm>
            <a:off x="6986016" y="3310128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B72CD52F-2CFD-5730-FE1E-892EB4BB98D7}"/>
              </a:ext>
            </a:extLst>
          </p:cNvPr>
          <p:cNvSpPr/>
          <p:nvPr/>
        </p:nvSpPr>
        <p:spPr>
          <a:xfrm>
            <a:off x="6986016" y="331012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 zl</a:t>
            </a:r>
            <a:endParaRPr lang="en-US" sz="750" dirty="0"/>
          </a:p>
        </p:txBody>
      </p:sp>
      <p:sp>
        <p:nvSpPr>
          <p:cNvPr id="104" name="Shape 102">
            <a:extLst>
              <a:ext uri="{FF2B5EF4-FFF2-40B4-BE49-F238E27FC236}">
                <a16:creationId xmlns:a16="http://schemas.microsoft.com/office/drawing/2014/main" id="{F84E3D98-6277-B124-C711-1DBD1F7AF7DA}"/>
              </a:ext>
            </a:extLst>
          </p:cNvPr>
          <p:cNvSpPr/>
          <p:nvPr/>
        </p:nvSpPr>
        <p:spPr>
          <a:xfrm>
            <a:off x="256032" y="3538728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>
            <a:extLst>
              <a:ext uri="{FF2B5EF4-FFF2-40B4-BE49-F238E27FC236}">
                <a16:creationId xmlns:a16="http://schemas.microsoft.com/office/drawing/2014/main" id="{51EDE8B6-8EF3-3BCA-C4A0-DD41ACA17829}"/>
              </a:ext>
            </a:extLst>
          </p:cNvPr>
          <p:cNvSpPr/>
          <p:nvPr/>
        </p:nvSpPr>
        <p:spPr>
          <a:xfrm>
            <a:off x="310896" y="3538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@proteinowy_kucharz (ret.+aff)</a:t>
            </a:r>
            <a:endParaRPr lang="en-US" sz="750" dirty="0"/>
          </a:p>
        </p:txBody>
      </p:sp>
      <p:sp>
        <p:nvSpPr>
          <p:cNvPr id="106" name="Shape 104">
            <a:extLst>
              <a:ext uri="{FF2B5EF4-FFF2-40B4-BE49-F238E27FC236}">
                <a16:creationId xmlns:a16="http://schemas.microsoft.com/office/drawing/2014/main" id="{67342292-4582-F982-BCA5-0BFBB5A1B80F}"/>
              </a:ext>
            </a:extLst>
          </p:cNvPr>
          <p:cNvSpPr/>
          <p:nvPr/>
        </p:nvSpPr>
        <p:spPr>
          <a:xfrm>
            <a:off x="2889504" y="35387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7" name="Text 105">
            <a:extLst>
              <a:ext uri="{FF2B5EF4-FFF2-40B4-BE49-F238E27FC236}">
                <a16:creationId xmlns:a16="http://schemas.microsoft.com/office/drawing/2014/main" id="{D2020FBB-F7FE-B266-CD2E-BEBF7610BB29}"/>
              </a:ext>
            </a:extLst>
          </p:cNvPr>
          <p:cNvSpPr/>
          <p:nvPr/>
        </p:nvSpPr>
        <p:spPr>
          <a:xfrm>
            <a:off x="2889504" y="3538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08" name="Shape 106">
            <a:extLst>
              <a:ext uri="{FF2B5EF4-FFF2-40B4-BE49-F238E27FC236}">
                <a16:creationId xmlns:a16="http://schemas.microsoft.com/office/drawing/2014/main" id="{7BAB85B5-DC42-4B38-6D8E-FBA999C4144F}"/>
              </a:ext>
            </a:extLst>
          </p:cNvPr>
          <p:cNvSpPr/>
          <p:nvPr/>
        </p:nvSpPr>
        <p:spPr>
          <a:xfrm>
            <a:off x="3913632" y="35387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>
            <a:extLst>
              <a:ext uri="{FF2B5EF4-FFF2-40B4-BE49-F238E27FC236}">
                <a16:creationId xmlns:a16="http://schemas.microsoft.com/office/drawing/2014/main" id="{172470F1-5B13-1D2A-8A83-179A7448F233}"/>
              </a:ext>
            </a:extLst>
          </p:cNvPr>
          <p:cNvSpPr/>
          <p:nvPr/>
        </p:nvSpPr>
        <p:spPr>
          <a:xfrm>
            <a:off x="3913632" y="3538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10" name="Shape 108">
            <a:extLst>
              <a:ext uri="{FF2B5EF4-FFF2-40B4-BE49-F238E27FC236}">
                <a16:creationId xmlns:a16="http://schemas.microsoft.com/office/drawing/2014/main" id="{D3125108-7FA1-31A5-A405-89C592E1D255}"/>
              </a:ext>
            </a:extLst>
          </p:cNvPr>
          <p:cNvSpPr/>
          <p:nvPr/>
        </p:nvSpPr>
        <p:spPr>
          <a:xfrm>
            <a:off x="4937760" y="35387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DCB3E25D-A8FD-A6C6-30D2-39343B13A1B9}"/>
              </a:ext>
            </a:extLst>
          </p:cNvPr>
          <p:cNvSpPr/>
          <p:nvPr/>
        </p:nvSpPr>
        <p:spPr>
          <a:xfrm>
            <a:off x="4937760" y="3538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zl</a:t>
            </a:r>
            <a:endParaRPr lang="en-US" sz="750" dirty="0"/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0C580DB9-B4CC-535E-5E05-768B062433AA}"/>
              </a:ext>
            </a:extLst>
          </p:cNvPr>
          <p:cNvSpPr/>
          <p:nvPr/>
        </p:nvSpPr>
        <p:spPr>
          <a:xfrm>
            <a:off x="5961888" y="3538728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3" name="Text 111">
            <a:extLst>
              <a:ext uri="{FF2B5EF4-FFF2-40B4-BE49-F238E27FC236}">
                <a16:creationId xmlns:a16="http://schemas.microsoft.com/office/drawing/2014/main" id="{CCAC9752-7E41-7505-2BB6-878095D276E8}"/>
              </a:ext>
            </a:extLst>
          </p:cNvPr>
          <p:cNvSpPr/>
          <p:nvPr/>
        </p:nvSpPr>
        <p:spPr>
          <a:xfrm>
            <a:off x="5961888" y="35387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zl</a:t>
            </a:r>
            <a:endParaRPr lang="en-US" sz="750" dirty="0"/>
          </a:p>
        </p:txBody>
      </p:sp>
      <p:sp>
        <p:nvSpPr>
          <p:cNvPr id="114" name="Shape 112">
            <a:extLst>
              <a:ext uri="{FF2B5EF4-FFF2-40B4-BE49-F238E27FC236}">
                <a16:creationId xmlns:a16="http://schemas.microsoft.com/office/drawing/2014/main" id="{AC8A5DEC-1B33-695A-C774-485EDDD01F92}"/>
              </a:ext>
            </a:extLst>
          </p:cNvPr>
          <p:cNvSpPr/>
          <p:nvPr/>
        </p:nvSpPr>
        <p:spPr>
          <a:xfrm>
            <a:off x="6986016" y="3538728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5" name="Text 113">
            <a:extLst>
              <a:ext uri="{FF2B5EF4-FFF2-40B4-BE49-F238E27FC236}">
                <a16:creationId xmlns:a16="http://schemas.microsoft.com/office/drawing/2014/main" id="{AC54C3C9-7EA7-94D1-66C1-F4FFA6B084A2}"/>
              </a:ext>
            </a:extLst>
          </p:cNvPr>
          <p:cNvSpPr/>
          <p:nvPr/>
        </p:nvSpPr>
        <p:spPr>
          <a:xfrm>
            <a:off x="6986016" y="353872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2400 zl</a:t>
            </a:r>
            <a:endParaRPr lang="en-US" sz="750" dirty="0"/>
          </a:p>
        </p:txBody>
      </p:sp>
      <p:sp>
        <p:nvSpPr>
          <p:cNvPr id="116" name="Shape 114">
            <a:extLst>
              <a:ext uri="{FF2B5EF4-FFF2-40B4-BE49-F238E27FC236}">
                <a16:creationId xmlns:a16="http://schemas.microsoft.com/office/drawing/2014/main" id="{73FE6AE3-921D-2129-119D-786FC5A0175C}"/>
              </a:ext>
            </a:extLst>
          </p:cNvPr>
          <p:cNvSpPr/>
          <p:nvPr/>
        </p:nvSpPr>
        <p:spPr>
          <a:xfrm>
            <a:off x="256032" y="3767328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7" name="Text 115">
            <a:extLst>
              <a:ext uri="{FF2B5EF4-FFF2-40B4-BE49-F238E27FC236}">
                <a16:creationId xmlns:a16="http://schemas.microsoft.com/office/drawing/2014/main" id="{D2044C0E-A598-3821-1DDF-E1231AAE91B7}"/>
              </a:ext>
            </a:extLst>
          </p:cNvPr>
          <p:cNvSpPr/>
          <p:nvPr/>
        </p:nvSpPr>
        <p:spPr>
          <a:xfrm>
            <a:off x="310896" y="37673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4A7C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@zdrowo_i_smacznie (jedn.+aff)</a:t>
            </a:r>
            <a:endParaRPr lang="en-US" sz="750" dirty="0"/>
          </a:p>
        </p:txBody>
      </p:sp>
      <p:sp>
        <p:nvSpPr>
          <p:cNvPr id="118" name="Shape 116">
            <a:extLst>
              <a:ext uri="{FF2B5EF4-FFF2-40B4-BE49-F238E27FC236}">
                <a16:creationId xmlns:a16="http://schemas.microsoft.com/office/drawing/2014/main" id="{823CFBAB-E914-3FDB-F5A5-A968F8CC1AE9}"/>
              </a:ext>
            </a:extLst>
          </p:cNvPr>
          <p:cNvSpPr/>
          <p:nvPr/>
        </p:nvSpPr>
        <p:spPr>
          <a:xfrm>
            <a:off x="2889504" y="37673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9" name="Text 117">
            <a:extLst>
              <a:ext uri="{FF2B5EF4-FFF2-40B4-BE49-F238E27FC236}">
                <a16:creationId xmlns:a16="http://schemas.microsoft.com/office/drawing/2014/main" id="{A930926C-FEF0-867C-49D9-B71A702AC337}"/>
              </a:ext>
            </a:extLst>
          </p:cNvPr>
          <p:cNvSpPr/>
          <p:nvPr/>
        </p:nvSpPr>
        <p:spPr>
          <a:xfrm>
            <a:off x="2889504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20" name="Shape 118">
            <a:extLst>
              <a:ext uri="{FF2B5EF4-FFF2-40B4-BE49-F238E27FC236}">
                <a16:creationId xmlns:a16="http://schemas.microsoft.com/office/drawing/2014/main" id="{D6743B46-B224-389E-A67C-3F13E281C291}"/>
              </a:ext>
            </a:extLst>
          </p:cNvPr>
          <p:cNvSpPr/>
          <p:nvPr/>
        </p:nvSpPr>
        <p:spPr>
          <a:xfrm>
            <a:off x="3913632" y="37673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1" name="Text 119">
            <a:extLst>
              <a:ext uri="{FF2B5EF4-FFF2-40B4-BE49-F238E27FC236}">
                <a16:creationId xmlns:a16="http://schemas.microsoft.com/office/drawing/2014/main" id="{BBFA82BC-9F98-E90D-7B0A-DB3A587E43C6}"/>
              </a:ext>
            </a:extLst>
          </p:cNvPr>
          <p:cNvSpPr/>
          <p:nvPr/>
        </p:nvSpPr>
        <p:spPr>
          <a:xfrm>
            <a:off x="3913632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22" name="Shape 120">
            <a:extLst>
              <a:ext uri="{FF2B5EF4-FFF2-40B4-BE49-F238E27FC236}">
                <a16:creationId xmlns:a16="http://schemas.microsoft.com/office/drawing/2014/main" id="{11EF2605-57A9-AD7A-B3A0-80551D0A8DD2}"/>
              </a:ext>
            </a:extLst>
          </p:cNvPr>
          <p:cNvSpPr/>
          <p:nvPr/>
        </p:nvSpPr>
        <p:spPr>
          <a:xfrm>
            <a:off x="4937760" y="37673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3" name="Text 121">
            <a:extLst>
              <a:ext uri="{FF2B5EF4-FFF2-40B4-BE49-F238E27FC236}">
                <a16:creationId xmlns:a16="http://schemas.microsoft.com/office/drawing/2014/main" id="{B49C107E-B8FA-55AF-2321-4BAD8001B9F8}"/>
              </a:ext>
            </a:extLst>
          </p:cNvPr>
          <p:cNvSpPr/>
          <p:nvPr/>
        </p:nvSpPr>
        <p:spPr>
          <a:xfrm>
            <a:off x="4937760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zl</a:t>
            </a:r>
            <a:endParaRPr lang="en-US" sz="750" dirty="0"/>
          </a:p>
        </p:txBody>
      </p:sp>
      <p:sp>
        <p:nvSpPr>
          <p:cNvPr id="124" name="Shape 122">
            <a:extLst>
              <a:ext uri="{FF2B5EF4-FFF2-40B4-BE49-F238E27FC236}">
                <a16:creationId xmlns:a16="http://schemas.microsoft.com/office/drawing/2014/main" id="{7988445A-EFB3-A46C-5218-82FD921304A5}"/>
              </a:ext>
            </a:extLst>
          </p:cNvPr>
          <p:cNvSpPr/>
          <p:nvPr/>
        </p:nvSpPr>
        <p:spPr>
          <a:xfrm>
            <a:off x="5961888" y="3767328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5" name="Text 123">
            <a:extLst>
              <a:ext uri="{FF2B5EF4-FFF2-40B4-BE49-F238E27FC236}">
                <a16:creationId xmlns:a16="http://schemas.microsoft.com/office/drawing/2014/main" id="{76AFDA25-313C-3B67-BFCB-CE2023EBF504}"/>
              </a:ext>
            </a:extLst>
          </p:cNvPr>
          <p:cNvSpPr/>
          <p:nvPr/>
        </p:nvSpPr>
        <p:spPr>
          <a:xfrm>
            <a:off x="5961888" y="37673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26" name="Shape 124">
            <a:extLst>
              <a:ext uri="{FF2B5EF4-FFF2-40B4-BE49-F238E27FC236}">
                <a16:creationId xmlns:a16="http://schemas.microsoft.com/office/drawing/2014/main" id="{840339C7-2C40-1000-C826-DF8669B42D3E}"/>
              </a:ext>
            </a:extLst>
          </p:cNvPr>
          <p:cNvSpPr/>
          <p:nvPr/>
        </p:nvSpPr>
        <p:spPr>
          <a:xfrm>
            <a:off x="6986016" y="3767328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7" name="Text 125">
            <a:extLst>
              <a:ext uri="{FF2B5EF4-FFF2-40B4-BE49-F238E27FC236}">
                <a16:creationId xmlns:a16="http://schemas.microsoft.com/office/drawing/2014/main" id="{2F0C52D7-875C-2E56-ED5A-C3A455DFE535}"/>
              </a:ext>
            </a:extLst>
          </p:cNvPr>
          <p:cNvSpPr/>
          <p:nvPr/>
        </p:nvSpPr>
        <p:spPr>
          <a:xfrm>
            <a:off x="6986016" y="3767328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zl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31202402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BUDZET INFLUENCER MARKETINGU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zl na 9 miesiecy. Konto po koncie.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615184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 / HANDLE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889504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889504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1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M1-M2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913632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913632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2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M3-M4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37760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937760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3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M5-M6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961888" y="1261872"/>
            <a:ext cx="1005840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961888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FAZA 4</a:t>
            </a:r>
            <a:endParaRPr lang="en-US" sz="7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M7-M9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986016" y="1261872"/>
            <a:ext cx="1115568" cy="27432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986016" y="126187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50" dirty="0"/>
          </a:p>
        </p:txBody>
      </p:sp>
      <p:sp>
        <p:nvSpPr>
          <p:cNvPr id="128" name="Shape 126"/>
          <p:cNvSpPr/>
          <p:nvPr/>
        </p:nvSpPr>
        <p:spPr>
          <a:xfrm>
            <a:off x="256032" y="1536192"/>
            <a:ext cx="8631936" cy="18288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9" name="Text 127"/>
          <p:cNvSpPr/>
          <p:nvPr/>
        </p:nvSpPr>
        <p:spPr>
          <a:xfrm>
            <a:off x="347472" y="153619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B - NANO BARTER (wartosc produktu)</a:t>
            </a:r>
            <a:endParaRPr lang="en-US" sz="750" dirty="0"/>
          </a:p>
        </p:txBody>
      </p:sp>
      <p:sp>
        <p:nvSpPr>
          <p:cNvPr id="130" name="Shape 128"/>
          <p:cNvSpPr/>
          <p:nvPr/>
        </p:nvSpPr>
        <p:spPr>
          <a:xfrm>
            <a:off x="256032" y="1719072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1" name="Text 129"/>
          <p:cNvSpPr/>
          <p:nvPr/>
        </p:nvSpPr>
        <p:spPr>
          <a:xfrm>
            <a:off x="310896" y="17190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C8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@jooga.co.dzien (barter 4M)</a:t>
            </a:r>
            <a:endParaRPr lang="en-US" sz="750" dirty="0"/>
          </a:p>
        </p:txBody>
      </p:sp>
      <p:sp>
        <p:nvSpPr>
          <p:cNvPr id="132" name="Shape 130"/>
          <p:cNvSpPr/>
          <p:nvPr/>
        </p:nvSpPr>
        <p:spPr>
          <a:xfrm>
            <a:off x="2889504" y="17190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3" name="Text 131"/>
          <p:cNvSpPr/>
          <p:nvPr/>
        </p:nvSpPr>
        <p:spPr>
          <a:xfrm>
            <a:off x="2889504" y="17190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zl</a:t>
            </a:r>
            <a:endParaRPr lang="en-US" sz="750" dirty="0"/>
          </a:p>
        </p:txBody>
      </p:sp>
      <p:sp>
        <p:nvSpPr>
          <p:cNvPr id="134" name="Shape 132"/>
          <p:cNvSpPr/>
          <p:nvPr/>
        </p:nvSpPr>
        <p:spPr>
          <a:xfrm>
            <a:off x="3913632" y="17190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5" name="Text 133"/>
          <p:cNvSpPr/>
          <p:nvPr/>
        </p:nvSpPr>
        <p:spPr>
          <a:xfrm>
            <a:off x="3913632" y="17190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zl</a:t>
            </a:r>
            <a:endParaRPr lang="en-US" sz="750" dirty="0"/>
          </a:p>
        </p:txBody>
      </p:sp>
      <p:sp>
        <p:nvSpPr>
          <p:cNvPr id="136" name="Shape 134"/>
          <p:cNvSpPr/>
          <p:nvPr/>
        </p:nvSpPr>
        <p:spPr>
          <a:xfrm>
            <a:off x="4937760" y="17190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7" name="Text 135"/>
          <p:cNvSpPr/>
          <p:nvPr/>
        </p:nvSpPr>
        <p:spPr>
          <a:xfrm>
            <a:off x="4937760" y="17190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5961888" y="17190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9" name="Text 137"/>
          <p:cNvSpPr/>
          <p:nvPr/>
        </p:nvSpPr>
        <p:spPr>
          <a:xfrm>
            <a:off x="5961888" y="17190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40" name="Shape 138"/>
          <p:cNvSpPr/>
          <p:nvPr/>
        </p:nvSpPr>
        <p:spPr>
          <a:xfrm>
            <a:off x="6986016" y="1719072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1" name="Text 139"/>
          <p:cNvSpPr/>
          <p:nvPr/>
        </p:nvSpPr>
        <p:spPr>
          <a:xfrm>
            <a:off x="6986016" y="171907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 zl</a:t>
            </a:r>
            <a:endParaRPr lang="en-US" sz="750" dirty="0"/>
          </a:p>
        </p:txBody>
      </p:sp>
      <p:sp>
        <p:nvSpPr>
          <p:cNvPr id="142" name="Shape 140"/>
          <p:cNvSpPr/>
          <p:nvPr/>
        </p:nvSpPr>
        <p:spPr>
          <a:xfrm>
            <a:off x="256032" y="1947672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3" name="Text 141"/>
          <p:cNvSpPr/>
          <p:nvPr/>
        </p:nvSpPr>
        <p:spPr>
          <a:xfrm>
            <a:off x="310896" y="1947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FF0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@dance_fit_kasia (barter 3M)</a:t>
            </a:r>
            <a:endParaRPr lang="en-US" sz="750" dirty="0"/>
          </a:p>
        </p:txBody>
      </p:sp>
      <p:sp>
        <p:nvSpPr>
          <p:cNvPr id="144" name="Shape 142"/>
          <p:cNvSpPr/>
          <p:nvPr/>
        </p:nvSpPr>
        <p:spPr>
          <a:xfrm>
            <a:off x="2889504" y="194767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5" name="Text 143"/>
          <p:cNvSpPr/>
          <p:nvPr/>
        </p:nvSpPr>
        <p:spPr>
          <a:xfrm>
            <a:off x="2889504" y="1947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zl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3913632" y="194767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7" name="Text 145"/>
          <p:cNvSpPr/>
          <p:nvPr/>
        </p:nvSpPr>
        <p:spPr>
          <a:xfrm>
            <a:off x="3913632" y="1947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zl</a:t>
            </a:r>
            <a:endParaRPr lang="en-US" sz="750" dirty="0"/>
          </a:p>
        </p:txBody>
      </p:sp>
      <p:sp>
        <p:nvSpPr>
          <p:cNvPr id="148" name="Shape 146"/>
          <p:cNvSpPr/>
          <p:nvPr/>
        </p:nvSpPr>
        <p:spPr>
          <a:xfrm>
            <a:off x="4937760" y="194767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9" name="Text 147"/>
          <p:cNvSpPr/>
          <p:nvPr/>
        </p:nvSpPr>
        <p:spPr>
          <a:xfrm>
            <a:off x="4937760" y="1947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5961888" y="194767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1" name="Text 149"/>
          <p:cNvSpPr/>
          <p:nvPr/>
        </p:nvSpPr>
        <p:spPr>
          <a:xfrm>
            <a:off x="5961888" y="19476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6986016" y="1947672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3" name="Text 151"/>
          <p:cNvSpPr/>
          <p:nvPr/>
        </p:nvSpPr>
        <p:spPr>
          <a:xfrm>
            <a:off x="6986016" y="194767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 zl</a:t>
            </a:r>
            <a:endParaRPr lang="en-US" sz="750" dirty="0"/>
          </a:p>
        </p:txBody>
      </p:sp>
      <p:sp>
        <p:nvSpPr>
          <p:cNvPr id="154" name="Shape 152"/>
          <p:cNvSpPr/>
          <p:nvPr/>
        </p:nvSpPr>
        <p:spPr>
          <a:xfrm>
            <a:off x="256032" y="2176272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5" name="Text 153"/>
          <p:cNvSpPr/>
          <p:nvPr/>
        </p:nvSpPr>
        <p:spPr>
          <a:xfrm>
            <a:off x="310896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@urban_run_wwa (barter 2M)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2889504" y="21762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7" name="Text 155"/>
          <p:cNvSpPr/>
          <p:nvPr/>
        </p:nvSpPr>
        <p:spPr>
          <a:xfrm>
            <a:off x="2889504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3913632" y="21762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9" name="Text 157"/>
          <p:cNvSpPr/>
          <p:nvPr/>
        </p:nvSpPr>
        <p:spPr>
          <a:xfrm>
            <a:off x="3913632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4937760" y="21762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1" name="Text 159"/>
          <p:cNvSpPr/>
          <p:nvPr/>
        </p:nvSpPr>
        <p:spPr>
          <a:xfrm>
            <a:off x="4937760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zl</a:t>
            </a: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5961888" y="217627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3" name="Text 161"/>
          <p:cNvSpPr/>
          <p:nvPr/>
        </p:nvSpPr>
        <p:spPr>
          <a:xfrm>
            <a:off x="5961888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6986016" y="2176272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5" name="Text 163"/>
          <p:cNvSpPr/>
          <p:nvPr/>
        </p:nvSpPr>
        <p:spPr>
          <a:xfrm>
            <a:off x="6986016" y="217627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 zl</a:t>
            </a:r>
            <a:endParaRPr lang="en-US" sz="750" dirty="0"/>
          </a:p>
        </p:txBody>
      </p:sp>
      <p:sp>
        <p:nvSpPr>
          <p:cNvPr id="166" name="Shape 164"/>
          <p:cNvSpPr/>
          <p:nvPr/>
        </p:nvSpPr>
        <p:spPr>
          <a:xfrm>
            <a:off x="256032" y="2404872"/>
            <a:ext cx="8631936" cy="18288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7" name="Text 165"/>
          <p:cNvSpPr/>
          <p:nvPr/>
        </p:nvSpPr>
        <p:spPr>
          <a:xfrm>
            <a:off x="347472" y="240487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 - REZERWA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256032" y="2587752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9" name="Text 167"/>
          <p:cNvSpPr/>
          <p:nvPr/>
        </p:nvSpPr>
        <p:spPr>
          <a:xfrm>
            <a:off x="310896" y="2587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@oskar_wojciechowski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889504" y="258775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1" name="Text 169"/>
          <p:cNvSpPr/>
          <p:nvPr/>
        </p:nvSpPr>
        <p:spPr>
          <a:xfrm>
            <a:off x="2889504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72" name="Shape 170"/>
          <p:cNvSpPr/>
          <p:nvPr/>
        </p:nvSpPr>
        <p:spPr>
          <a:xfrm>
            <a:off x="3913632" y="258775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3" name="Text 171"/>
          <p:cNvSpPr/>
          <p:nvPr/>
        </p:nvSpPr>
        <p:spPr>
          <a:xfrm>
            <a:off x="3913632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4937760" y="258775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5" name="Text 173"/>
          <p:cNvSpPr/>
          <p:nvPr/>
        </p:nvSpPr>
        <p:spPr>
          <a:xfrm>
            <a:off x="4937760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76" name="Shape 174"/>
          <p:cNvSpPr/>
          <p:nvPr/>
        </p:nvSpPr>
        <p:spPr>
          <a:xfrm>
            <a:off x="5961888" y="258775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7" name="Text 175"/>
          <p:cNvSpPr/>
          <p:nvPr/>
        </p:nvSpPr>
        <p:spPr>
          <a:xfrm>
            <a:off x="5961888" y="25877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zl</a:t>
            </a:r>
            <a:endParaRPr lang="en-US" sz="750" dirty="0"/>
          </a:p>
        </p:txBody>
      </p:sp>
      <p:sp>
        <p:nvSpPr>
          <p:cNvPr id="178" name="Shape 176"/>
          <p:cNvSpPr/>
          <p:nvPr/>
        </p:nvSpPr>
        <p:spPr>
          <a:xfrm>
            <a:off x="6986016" y="2587752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9" name="Text 177"/>
          <p:cNvSpPr/>
          <p:nvPr/>
        </p:nvSpPr>
        <p:spPr>
          <a:xfrm>
            <a:off x="6986016" y="25877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 zl</a:t>
            </a:r>
            <a:endParaRPr lang="en-US" sz="750" dirty="0"/>
          </a:p>
        </p:txBody>
      </p:sp>
      <p:sp>
        <p:nvSpPr>
          <p:cNvPr id="180" name="Shape 178"/>
          <p:cNvSpPr/>
          <p:nvPr/>
        </p:nvSpPr>
        <p:spPr>
          <a:xfrm>
            <a:off x="256032" y="2816352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1" name="Text 179"/>
          <p:cNvSpPr/>
          <p:nvPr/>
        </p:nvSpPr>
        <p:spPr>
          <a:xfrm>
            <a:off x="310896" y="28163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@trening_kobiet_pl (barter)</a:t>
            </a:r>
            <a:endParaRPr lang="en-US" sz="750" dirty="0"/>
          </a:p>
        </p:txBody>
      </p:sp>
      <p:sp>
        <p:nvSpPr>
          <p:cNvPr id="182" name="Shape 180"/>
          <p:cNvSpPr/>
          <p:nvPr/>
        </p:nvSpPr>
        <p:spPr>
          <a:xfrm>
            <a:off x="2889504" y="281635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3" name="Text 181"/>
          <p:cNvSpPr/>
          <p:nvPr/>
        </p:nvSpPr>
        <p:spPr>
          <a:xfrm>
            <a:off x="2889504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913632" y="281635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5" name="Text 183"/>
          <p:cNvSpPr/>
          <p:nvPr/>
        </p:nvSpPr>
        <p:spPr>
          <a:xfrm>
            <a:off x="3913632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86" name="Shape 184"/>
          <p:cNvSpPr/>
          <p:nvPr/>
        </p:nvSpPr>
        <p:spPr>
          <a:xfrm>
            <a:off x="4937760" y="281635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7" name="Text 185"/>
          <p:cNvSpPr/>
          <p:nvPr/>
        </p:nvSpPr>
        <p:spPr>
          <a:xfrm>
            <a:off x="4937760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endParaRPr lang="en-US" sz="750" dirty="0"/>
          </a:p>
        </p:txBody>
      </p:sp>
      <p:sp>
        <p:nvSpPr>
          <p:cNvPr id="188" name="Shape 186"/>
          <p:cNvSpPr/>
          <p:nvPr/>
        </p:nvSpPr>
        <p:spPr>
          <a:xfrm>
            <a:off x="5961888" y="281635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9" name="Text 187"/>
          <p:cNvSpPr/>
          <p:nvPr/>
        </p:nvSpPr>
        <p:spPr>
          <a:xfrm>
            <a:off x="5961888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zl</a:t>
            </a:r>
            <a:endParaRPr lang="en-US" sz="750" dirty="0"/>
          </a:p>
        </p:txBody>
      </p:sp>
      <p:sp>
        <p:nvSpPr>
          <p:cNvPr id="190" name="Shape 188"/>
          <p:cNvSpPr/>
          <p:nvPr/>
        </p:nvSpPr>
        <p:spPr>
          <a:xfrm>
            <a:off x="6986016" y="2816352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1" name="Text 189"/>
          <p:cNvSpPr/>
          <p:nvPr/>
        </p:nvSpPr>
        <p:spPr>
          <a:xfrm>
            <a:off x="6986016" y="281635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 zl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256032" y="3044952"/>
            <a:ext cx="8631936" cy="182880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3" name="Text 191"/>
          <p:cNvSpPr/>
          <p:nvPr/>
        </p:nvSpPr>
        <p:spPr>
          <a:xfrm>
            <a:off x="347472" y="304495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KOSZTY OPERACYJNE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256032" y="3227832"/>
            <a:ext cx="2615184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5" name="Text 193"/>
          <p:cNvSpPr/>
          <p:nvPr/>
        </p:nvSpPr>
        <p:spPr>
          <a:xfrm>
            <a:off x="310896" y="32278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HypeAuditor (monitoring ER)</a:t>
            </a:r>
            <a:endParaRPr lang="en-US" sz="750" dirty="0"/>
          </a:p>
        </p:txBody>
      </p:sp>
      <p:sp>
        <p:nvSpPr>
          <p:cNvPr id="196" name="Shape 194"/>
          <p:cNvSpPr/>
          <p:nvPr/>
        </p:nvSpPr>
        <p:spPr>
          <a:xfrm>
            <a:off x="2889504" y="322783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7" name="Text 195"/>
          <p:cNvSpPr/>
          <p:nvPr/>
        </p:nvSpPr>
        <p:spPr>
          <a:xfrm>
            <a:off x="2889504" y="32278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198" name="Shape 196"/>
          <p:cNvSpPr/>
          <p:nvPr/>
        </p:nvSpPr>
        <p:spPr>
          <a:xfrm>
            <a:off x="3913632" y="322783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9" name="Text 197"/>
          <p:cNvSpPr/>
          <p:nvPr/>
        </p:nvSpPr>
        <p:spPr>
          <a:xfrm>
            <a:off x="3913632" y="32278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4937760" y="322783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1" name="Text 199"/>
          <p:cNvSpPr/>
          <p:nvPr/>
        </p:nvSpPr>
        <p:spPr>
          <a:xfrm>
            <a:off x="4937760" y="32278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5961888" y="3227832"/>
            <a:ext cx="1005840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3" name="Text 201"/>
          <p:cNvSpPr/>
          <p:nvPr/>
        </p:nvSpPr>
        <p:spPr>
          <a:xfrm>
            <a:off x="5961888" y="32278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204" name="Shape 202"/>
          <p:cNvSpPr/>
          <p:nvPr/>
        </p:nvSpPr>
        <p:spPr>
          <a:xfrm>
            <a:off x="6986016" y="3227832"/>
            <a:ext cx="1115568" cy="2286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5" name="Text 203"/>
          <p:cNvSpPr/>
          <p:nvPr/>
        </p:nvSpPr>
        <p:spPr>
          <a:xfrm>
            <a:off x="6986016" y="322783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zl</a:t>
            </a:r>
            <a:endParaRPr lang="en-US" sz="750" dirty="0"/>
          </a:p>
        </p:txBody>
      </p:sp>
      <p:sp>
        <p:nvSpPr>
          <p:cNvPr id="206" name="Shape 204"/>
          <p:cNvSpPr/>
          <p:nvPr/>
        </p:nvSpPr>
        <p:spPr>
          <a:xfrm>
            <a:off x="256032" y="3456432"/>
            <a:ext cx="2615184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7" name="Text 205"/>
          <p:cNvSpPr/>
          <p:nvPr/>
        </p:nvSpPr>
        <p:spPr>
          <a:xfrm>
            <a:off x="310896" y="345643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Logistyka probek i produktu</a:t>
            </a:r>
            <a:endParaRPr lang="en-US" sz="750" dirty="0"/>
          </a:p>
        </p:txBody>
      </p:sp>
      <p:sp>
        <p:nvSpPr>
          <p:cNvPr id="208" name="Shape 206"/>
          <p:cNvSpPr/>
          <p:nvPr/>
        </p:nvSpPr>
        <p:spPr>
          <a:xfrm>
            <a:off x="2889504" y="345643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9" name="Text 207"/>
          <p:cNvSpPr/>
          <p:nvPr/>
        </p:nvSpPr>
        <p:spPr>
          <a:xfrm>
            <a:off x="2889504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210" name="Shape 208"/>
          <p:cNvSpPr/>
          <p:nvPr/>
        </p:nvSpPr>
        <p:spPr>
          <a:xfrm>
            <a:off x="3913632" y="345643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1" name="Text 209"/>
          <p:cNvSpPr/>
          <p:nvPr/>
        </p:nvSpPr>
        <p:spPr>
          <a:xfrm>
            <a:off x="3913632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zl</a:t>
            </a:r>
            <a:endParaRPr lang="en-US" sz="750" dirty="0"/>
          </a:p>
        </p:txBody>
      </p:sp>
      <p:sp>
        <p:nvSpPr>
          <p:cNvPr id="212" name="Shape 210"/>
          <p:cNvSpPr/>
          <p:nvPr/>
        </p:nvSpPr>
        <p:spPr>
          <a:xfrm>
            <a:off x="4937760" y="345643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3" name="Text 211"/>
          <p:cNvSpPr/>
          <p:nvPr/>
        </p:nvSpPr>
        <p:spPr>
          <a:xfrm>
            <a:off x="4937760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zl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5961888" y="3456432"/>
            <a:ext cx="1005840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5" name="Text 213"/>
          <p:cNvSpPr/>
          <p:nvPr/>
        </p:nvSpPr>
        <p:spPr>
          <a:xfrm>
            <a:off x="5961888" y="345643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zl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6986016" y="3456432"/>
            <a:ext cx="1115568" cy="228600"/>
          </a:xfrm>
          <a:prstGeom prst="rect">
            <a:avLst/>
          </a:prstGeom>
          <a:solidFill>
            <a:srgbClr val="151515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7" name="Text 215"/>
          <p:cNvSpPr/>
          <p:nvPr/>
        </p:nvSpPr>
        <p:spPr>
          <a:xfrm>
            <a:off x="6986016" y="3456432"/>
            <a:ext cx="11155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zl</a:t>
            </a:r>
            <a:endParaRPr lang="en-US" sz="750" dirty="0"/>
          </a:p>
        </p:txBody>
      </p:sp>
      <p:sp>
        <p:nvSpPr>
          <p:cNvPr id="218" name="Shape 216"/>
          <p:cNvSpPr/>
          <p:nvPr/>
        </p:nvSpPr>
        <p:spPr>
          <a:xfrm>
            <a:off x="256032" y="3685032"/>
            <a:ext cx="2615184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9" name="Text 217"/>
          <p:cNvSpPr/>
          <p:nvPr/>
        </p:nvSpPr>
        <p:spPr>
          <a:xfrm>
            <a:off x="310896" y="36850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INFLUENCER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2889504" y="3685032"/>
            <a:ext cx="1005840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1" name="Text 219"/>
          <p:cNvSpPr/>
          <p:nvPr/>
        </p:nvSpPr>
        <p:spPr>
          <a:xfrm>
            <a:off x="2889504" y="3685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14 720 zl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3913632" y="3685032"/>
            <a:ext cx="1005840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3" name="Text 221"/>
          <p:cNvSpPr/>
          <p:nvPr/>
        </p:nvSpPr>
        <p:spPr>
          <a:xfrm>
            <a:off x="3913632" y="3685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28 540 zl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4937760" y="3685032"/>
            <a:ext cx="1005840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5" name="Text 223"/>
          <p:cNvSpPr/>
          <p:nvPr/>
        </p:nvSpPr>
        <p:spPr>
          <a:xfrm>
            <a:off x="4937760" y="3685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12 040 zl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5961888" y="3685032"/>
            <a:ext cx="1005840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7" name="Text 225"/>
          <p:cNvSpPr/>
          <p:nvPr/>
        </p:nvSpPr>
        <p:spPr>
          <a:xfrm>
            <a:off x="5961888" y="36850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14 010 zl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6986016" y="3685032"/>
            <a:ext cx="1115568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9" name="Text 227"/>
          <p:cNvSpPr/>
          <p:nvPr/>
        </p:nvSpPr>
        <p:spPr>
          <a:xfrm>
            <a:off x="6986016" y="3685032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48 450 zl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KPI I MIERZENIE - INFLUENCER MARKETING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mierzymy skutecznosc kazdego konta.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42416"/>
            <a:ext cx="4242816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042416"/>
            <a:ext cx="4242816" cy="274320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65760" y="1088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METRYKI CONTENTU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02336" y="141732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02336" y="157276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&gt;6% | Micro &gt;2,5%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11680" y="1463040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HypeAuditor - po kazdej publikacji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47472" y="1773936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402336" y="180136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posta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9568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30% followersow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011680" y="184708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Screenshoty statystyk od influencera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47472" y="2157984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402336" y="21854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VTR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02336" y="23408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TikTok/Reels &gt;40% do 15s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11680" y="22311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Meta lub TikTok Analytics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47472" y="2542032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02336" y="25694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CTR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336" y="272491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E13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Swipe-up/link &gt;3%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11680" y="2615184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Screenshoty panelu influencera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681728" y="1042416"/>
            <a:ext cx="4242816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4681728" y="1042416"/>
            <a:ext cx="4242816" cy="274320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791456" y="108813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METRYKI SPRZEDAZY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73168" y="1389888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4828032" y="141732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Uzycia kodu rabatowego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157276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&gt;50 uzyc/mies. nano | &gt;200 micro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437376" y="1463040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- tracking unikalnych kodow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73168" y="1773936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4828032" y="180136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Przychod z kodu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8032" y="19568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aff. &gt;4x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437376" y="184708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× przychod z zamowien z kodem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773168" y="2157984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4828032" y="218541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 przez influencera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23408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&lt;35 zl nano | &lt;55 zl micro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37376" y="223113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wspolpracy / liczba zamowien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73168" y="2542032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828032" y="256946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 ruchu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28032" y="272491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LP visit-to-purchase &gt;3%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437376" y="2615184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GA4 - UTM source=influencer_handle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56032" y="3072384"/>
            <a:ext cx="4242816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Shape 41"/>
          <p:cNvSpPr/>
          <p:nvPr/>
        </p:nvSpPr>
        <p:spPr>
          <a:xfrm>
            <a:off x="256032" y="3072384"/>
            <a:ext cx="4242816" cy="274320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365760" y="31181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METRYKI MARKI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" y="341985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402336" y="344728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mentions organic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02336" y="360273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Wzrost +20%/mies. od F2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2011680" y="3493008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Brand24 - monitoring #volte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47472" y="3803904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Text 48"/>
          <p:cNvSpPr/>
          <p:nvPr/>
        </p:nvSpPr>
        <p:spPr>
          <a:xfrm>
            <a:off x="402336" y="383133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wygenerowany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02336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50 mat./mies. od M3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011680" y="3877056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#VoltujSieZNami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47472" y="4187952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4" name="Text 52"/>
          <p:cNvSpPr/>
          <p:nvPr/>
        </p:nvSpPr>
        <p:spPr>
          <a:xfrm>
            <a:off x="402336" y="42153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Jakosc UGC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402336" y="437083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UGC &gt;7% (lepszy niz branded)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2011680" y="4261104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Porownanie engagement branded vs. UGC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47472" y="4572000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Text 56"/>
          <p:cNvSpPr/>
          <p:nvPr/>
        </p:nvSpPr>
        <p:spPr>
          <a:xfrm>
            <a:off x="402336" y="459943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voice nisze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402336" y="475488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08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Pilates/fitness PL &gt;5%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2011680" y="4645152"/>
            <a:ext cx="2359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Brand24 lub Mention.com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681728" y="3072384"/>
            <a:ext cx="4242816" cy="1920240"/>
          </a:xfrm>
          <a:prstGeom prst="rect">
            <a:avLst/>
          </a:prstGeom>
          <a:solidFill>
            <a:srgbClr val="FFEBEE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Shape 60"/>
          <p:cNvSpPr/>
          <p:nvPr/>
        </p:nvSpPr>
        <p:spPr>
          <a:xfrm>
            <a:off x="4681728" y="3072384"/>
            <a:ext cx="4242816" cy="274320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4791456" y="3118104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TRIGGERY DO DZIALANIA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773168" y="3419856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4828032" y="3447288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&lt; wartosci min.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828032" y="360273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Rozmowa o zmianie formatu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73168" y="3803904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8" name="Text 66"/>
          <p:cNvSpPr/>
          <p:nvPr/>
        </p:nvSpPr>
        <p:spPr>
          <a:xfrm>
            <a:off x="4828032" y="3831336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uzywany &lt; 20x/mies.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4828032" y="39867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 CTA w Stories lub zwieksz czestotliwosc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4773168" y="4187952"/>
            <a:ext cx="4059936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4828032" y="42153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screenshotow po 72h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828032" y="437083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Automatyczny reminder + wymog umowny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73168" y="4572000"/>
            <a:ext cx="4059936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4" name="Text 72"/>
          <p:cNvSpPr/>
          <p:nvPr/>
        </p:nvSpPr>
        <p:spPr>
          <a:xfrm>
            <a:off x="4828032" y="4599432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Komentarze negatywne &gt;5%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4828032" y="4754880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B7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Eskalacja: brief update lub zakonczenie wsp.</a:t>
            </a:r>
            <a:endParaRPr lang="en-US" sz="7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PROCES WSPOLPRACY - OD KONTAKTU DO PUBLIKACJI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Kazda wspolpraca przechodzi przez 8 krokow.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74320" y="1261872"/>
            <a:ext cx="1024128" cy="341840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2918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918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Wyszukaj w HypeAuditor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 ER, niszawosc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konfliktu z rywalen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1673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1371600" y="1261872"/>
            <a:ext cx="1024128" cy="341840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142646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WERYF.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42646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Pelna checklist (slajd 5)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Screenshoty statystyk 3 posty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Sprawdz SFD, Eatyx, BrainMax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41401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2468880" y="1261872"/>
            <a:ext cx="1024128" cy="341840"/>
          </a:xfrm>
          <a:prstGeom prst="rect">
            <a:avLst/>
          </a:prstGeom>
          <a:solidFill>
            <a:srgbClr val="0866FF"/>
          </a:solidFill>
          <a:ln w="6350">
            <a:solidFill>
              <a:srgbClr val="0866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252374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2374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 lub email max 5 zdan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 ujawniaj budzetu w DM1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Wyslij media kit Volte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1129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3566160" y="1261872"/>
            <a:ext cx="1024128" cy="341840"/>
          </a:xfrm>
          <a:prstGeom prst="rect">
            <a:avLst/>
          </a:prstGeom>
          <a:solidFill>
            <a:srgbClr val="B8860B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62102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2102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Zapytaj o stawki (nie ty 1.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ret/barter/aff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Ustal deliverables i harmonogram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0857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4663440" y="1261872"/>
            <a:ext cx="1024128" cy="341840"/>
          </a:xfrm>
          <a:prstGeom prst="rect">
            <a:avLst/>
          </a:prstGeom>
          <a:solidFill>
            <a:srgbClr val="B71C1C"/>
          </a:solidFill>
          <a:ln w="635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471830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UMOWA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1830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Wyslij umowe (wzor narzedzia)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Klauzu.: akceptacja 48h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Klauzula: 2 rundy poprawek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0585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6072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5760720" y="1261872"/>
            <a:ext cx="1024128" cy="341840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581558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81558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Wyslij pełny brief (slajd 7)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30 min - oczekiwania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Wyslij produkt 4-6 puszek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0313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Shape 33"/>
          <p:cNvSpPr/>
          <p:nvPr/>
        </p:nvSpPr>
        <p:spPr>
          <a:xfrm>
            <a:off x="6858000" y="1261872"/>
            <a:ext cx="1024128" cy="341840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Text 34"/>
          <p:cNvSpPr/>
          <p:nvPr/>
        </p:nvSpPr>
        <p:spPr>
          <a:xfrm>
            <a:off x="691286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AKCEPT.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1286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scenariusza od influenc.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Akceptacja 48h lub korekty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light = publikacja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900416" y="2651760"/>
            <a:ext cx="54864" cy="244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55280" y="1261872"/>
            <a:ext cx="1024128" cy="336956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Shape 38"/>
          <p:cNvSpPr/>
          <p:nvPr/>
        </p:nvSpPr>
        <p:spPr>
          <a:xfrm>
            <a:off x="7955280" y="1261872"/>
            <a:ext cx="1024128" cy="341840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8010144" y="1280160"/>
            <a:ext cx="932688" cy="3255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10144" y="1700784"/>
            <a:ext cx="932688" cy="2897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Screenshoty 72h po publikacji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Raport: reach, ER, uzycia kodu</a:t>
            </a:r>
            <a:endParaRPr lang="en-US" sz="850" dirty="0"/>
          </a:p>
          <a:p>
            <a:pPr>
              <a:lnSpc>
                <a:spcPct val="125000"/>
              </a:lnSpc>
              <a:buSzPct val="100000"/>
            </a:pP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Faktura = przelew 14 dni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693345"/>
            <a:ext cx="8558784" cy="211615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402336" y="4729921"/>
            <a:ext cx="8229600" cy="146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CZAS TRWANIA: Identyfikacja do Publikacji = 3-5 tygodni. Planuj z wyprzedzeniem! Barter jest szybszy (1-2 tygodnie).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UGC I AMPLIFIKACJA CONTENTU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</a:t>
            </a: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publikuje</a:t>
            </a: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My repurpose'ujemy. Budzet x3.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" y="1060704"/>
            <a:ext cx="8631936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109728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ZASADA: Jeden film influencera moze zyc na 6+ kanalach. UGC to najtanszy content. Repost wymaga zgody influencera (wpisanej w umowe).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2834640" cy="358444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56032" y="1371600"/>
            <a:ext cx="2834640" cy="29260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publikuje organicznie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347472" y="1719072"/>
            <a:ext cx="2670048" cy="5486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02336" y="1810512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 TikTok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2336" y="20299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posta influencera. CTR 4x wyzszy niz In-Feed.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2523744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Shape 12"/>
          <p:cNvSpPr/>
          <p:nvPr/>
        </p:nvSpPr>
        <p:spPr>
          <a:xfrm>
            <a:off x="347472" y="2523744"/>
            <a:ext cx="2670048" cy="5486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02336" y="2615184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Collab 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" y="28346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Reklama z konta influencera na Meta. Autentycznosc + paid reach.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3328416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Shape 16"/>
          <p:cNvSpPr/>
          <p:nvPr/>
        </p:nvSpPr>
        <p:spPr>
          <a:xfrm>
            <a:off x="347472" y="3328416"/>
            <a:ext cx="2670048" cy="5486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402336" y="341985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@volteofficial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2336" y="363931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+ Reel na oficjalnym profilu z tagiem. Bezplatne.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4133088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347472" y="4133088"/>
            <a:ext cx="2670048" cy="54864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02336" y="422452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 na LP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02336" y="44439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lub screenshot na landing page jako social proof.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0" y="1371600"/>
            <a:ext cx="2834640" cy="358444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3200400" y="1371600"/>
            <a:ext cx="2834640" cy="292608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3310128" y="1408176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KLIENT kupuje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publikuje UGC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1719072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Shape 27"/>
          <p:cNvSpPr/>
          <p:nvPr/>
        </p:nvSpPr>
        <p:spPr>
          <a:xfrm>
            <a:off x="3291840" y="1719072"/>
            <a:ext cx="2670048" cy="5486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3346704" y="1810512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Stories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46704" y="20299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Natychmiastowy repost z podziekowaniem. Buduje community.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91840" y="2523744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/>
          <p:cNvSpPr/>
          <p:nvPr/>
        </p:nvSpPr>
        <p:spPr>
          <a:xfrm>
            <a:off x="3291840" y="2523744"/>
            <a:ext cx="2670048" cy="5486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/>
          <p:cNvSpPr/>
          <p:nvPr/>
        </p:nvSpPr>
        <p:spPr>
          <a:xfrm>
            <a:off x="3346704" y="2615184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 'Opinie'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46704" y="28346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Staly Highlight na profilu IG z najlepszymi UGC.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91840" y="3328416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Shape 35"/>
          <p:cNvSpPr/>
          <p:nvPr/>
        </p:nvSpPr>
        <p:spPr>
          <a:xfrm>
            <a:off x="3291840" y="3328416"/>
            <a:ext cx="2670048" cy="5486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3346704" y="341985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Ads Meta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346704" y="363931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jako kreacja w Dynamic Product Ads - wyzszy CTR.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91840" y="4133088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Shape 39"/>
          <p:cNvSpPr/>
          <p:nvPr/>
        </p:nvSpPr>
        <p:spPr>
          <a:xfrm>
            <a:off x="3291840" y="4133088"/>
            <a:ext cx="2670048" cy="54864"/>
          </a:xfrm>
          <a:prstGeom prst="rect">
            <a:avLst/>
          </a:prstGeom>
          <a:solidFill>
            <a:srgbClr val="1B5E20"/>
          </a:solidFill>
          <a:ln w="635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3346704" y="422452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newsletter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46704" y="44439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'Co mowia o nas klienci' - sekcja w monthly email.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44768" y="1371600"/>
            <a:ext cx="2834640" cy="3584448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Shape 43"/>
          <p:cNvSpPr/>
          <p:nvPr/>
        </p:nvSpPr>
        <p:spPr>
          <a:xfrm>
            <a:off x="6144768" y="1371600"/>
            <a:ext cx="2834640" cy="292608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44"/>
          <p:cNvSpPr/>
          <p:nvPr/>
        </p:nvSpPr>
        <p:spPr>
          <a:xfrm>
            <a:off x="6254496" y="1408176"/>
            <a:ext cx="2633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</a:t>
            </a:r>
            <a:endParaRPr lang="en-US" sz="9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#VoltujSieZNami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236208" y="1719072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Shape 46"/>
          <p:cNvSpPr/>
          <p:nvPr/>
        </p:nvSpPr>
        <p:spPr>
          <a:xfrm>
            <a:off x="6236208" y="1719072"/>
            <a:ext cx="2670048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6291072" y="1810512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feed TikTok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91072" y="20299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najlepszych filmow challenge'u na oficjalnym profilu.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236208" y="2523744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2" name="Shape 50"/>
          <p:cNvSpPr/>
          <p:nvPr/>
        </p:nvSpPr>
        <p:spPr>
          <a:xfrm>
            <a:off x="6236208" y="2523744"/>
            <a:ext cx="2670048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6291072" y="2615184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Spark Ads z hashtagu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291072" y="28346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viral filmow - ogromny potencjal przy niskim budzecie.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236208" y="3328416"/>
            <a:ext cx="2670048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Shape 54"/>
          <p:cNvSpPr/>
          <p:nvPr/>
        </p:nvSpPr>
        <p:spPr>
          <a:xfrm>
            <a:off x="6236208" y="3328416"/>
            <a:ext cx="2670048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6291072" y="3419856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Konkurs miesiezny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291072" y="363931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Zwyciezca hashtagu dostaje 6-pak. Motywacja do tworzenia.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236208" y="4133088"/>
            <a:ext cx="2670048" cy="749808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0" name="Shape 58"/>
          <p:cNvSpPr/>
          <p:nvPr/>
        </p:nvSpPr>
        <p:spPr>
          <a:xfrm>
            <a:off x="6236208" y="4133088"/>
            <a:ext cx="2670048" cy="54864"/>
          </a:xfrm>
          <a:prstGeom prst="rect">
            <a:avLst/>
          </a:prstGeom>
          <a:solidFill>
            <a:srgbClr val="FF0050"/>
          </a:solidFill>
          <a:ln w="6350">
            <a:solidFill>
              <a:srgbClr val="FF005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6291072" y="4224528"/>
            <a:ext cx="2505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/ Media health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291072" y="444398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Hashtag jako dowod popularnosci dla dziennikarzy branzy.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6868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02920" y="2395728"/>
            <a:ext cx="4389120" cy="36576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kont. 3 modele. 1 cel: autentyczne polecenie.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12724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ZL  |  9 MIESIECY  |  NANO + MICRO  |  BARTER + RETAINER + AFILIACJA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3803904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kont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425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 + micro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3803904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0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48 000 zl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425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budzet 9M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3803904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309360" y="38953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&gt;5%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44256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ER (nano)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3035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9000" dirty="0"/>
          </a:p>
        </p:txBody>
      </p:sp>
      <p:sp>
        <p:nvSpPr>
          <p:cNvPr id="3" name="Shape 1"/>
          <p:cNvSpPr/>
          <p:nvPr/>
        </p:nvSpPr>
        <p:spPr>
          <a:xfrm>
            <a:off x="502920" y="2048256"/>
            <a:ext cx="4754880" cy="3657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194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SAMPLINGOWY – EVENTY I IMPREZY FITNESS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697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Biegi masowe | Targi fitness | Open days silowni | Eventy jogi | Festiwale zdrowia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50292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BIEGI MASOWE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44622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PKO Maraton, Bieg Powstania...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29184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TARGI FITNESS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44622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FitFest, BodyChallenge...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80760" y="4059936"/>
            <a:ext cx="2606040" cy="804672"/>
          </a:xfrm>
          <a:prstGeom prst="rect">
            <a:avLst/>
          </a:prstGeom>
          <a:solidFill>
            <a:srgbClr val="111111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080760" y="411480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EVENTY JOGI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PILATESU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446227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Festival, Pilates Day...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STRATEGIA SAMPLINGOWA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431819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Dlaczego sampling. Ile kosztuje probka. Ile zarabia.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971315"/>
            <a:ext cx="8631936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402336" y="1026179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FILOZOFIA SAMPLINGU: Pierwsza probka to inwestycja, nie koszt. Klient ktory sprobuje Volte i mu zasmakuje – kupuje sredni 4-6 razy w ciagu 3 miesiecy.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02336" y="1245635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samplingu: koszt 1 probki = ~3,50 zl (koszt produkcji + opakowanie). LTV klienta ktory wraca = 4 zakupy × 12,99 zl = 51,96 zl. ROI sampling = 14,8x przy 25% conversion rate.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" y="1684547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Shape 6"/>
          <p:cNvSpPr/>
          <p:nvPr/>
        </p:nvSpPr>
        <p:spPr>
          <a:xfrm>
            <a:off x="256032" y="1684547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84048" y="1775987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1: Schladzone i gotowe do picia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86883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Probka musi byc zimna. Ciepla puszka to zepsuta probka. Zawsze: lodowka, skrzynia z lodem lub wkla. Klient otwiera i pije – nie 'wezmie na pozniej'.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684547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3200400" y="1684547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3328416" y="1775987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2: Momento giusto – tuz po wysilku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28416" y="2086883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Timing: ZARAZ po metrze biegu, po zakonczeniu zajec, po finalnym cooldown. Nie przed. Organizm jest spragniony, otwarty, wdzieczny – najlepszy moment na probke.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44768" y="1684547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Shape 14"/>
          <p:cNvSpPr/>
          <p:nvPr/>
        </p:nvSpPr>
        <p:spPr>
          <a:xfrm>
            <a:off x="6144768" y="1684547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6272784" y="1775987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3: Human touch – nie hostessa, a ambasador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72784" y="2086883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Hostessa nie wie czym jest clear whey. Ambasador Volte (przeszkolony) odpowiada na pytania: 'Czemu nie smakuje mlekiem? 0 cukru to znaczy co?'. Przeszkolenie 2h.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403619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256032" y="3403619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384048" y="3495059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4: Kod QR i call-to-action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805955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Kazda probka = karteczka z kodem QR do sklepu D2C lub Allegro z kodem rabatowym -15% (ważny 48h). Zamiana probki w zakup w ciagu 48h – okno zakupowe po doswiadczeniu.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3403619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4" name="Shape 22"/>
          <p:cNvSpPr/>
          <p:nvPr/>
        </p:nvSpPr>
        <p:spPr>
          <a:xfrm>
            <a:off x="3200400" y="3403619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3328416" y="3495059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5: Zbierz dane – email lub tel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28416" y="3805955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wydaniu probki: 'Zostaw email – wysylamy -20% na pierwszy zakup online.' Cel: 20-30% osob zostawia dane. Budowanie listy CRM z eventu.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44768" y="3403619"/>
            <a:ext cx="2816352" cy="1609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/>
          <p:cNvSpPr/>
          <p:nvPr/>
        </p:nvSpPr>
        <p:spPr>
          <a:xfrm>
            <a:off x="6144768" y="3403619"/>
            <a:ext cx="54864" cy="1609344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272784" y="3495059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Zasada 6: Dokumentuj i twórz content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72784" y="3805955"/>
            <a:ext cx="2633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Kazdy sampling = sesja foto/video. Ambasador nagrywa: reakcje na smak, unboxing z torbysamplingowej, ludzie z puszka w reku. Materialy do SM i UGC.</a:t>
            </a:r>
            <a:endParaRPr lang="en-US" sz="8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KALENDARZ EVENTOW FITNESS W POLSCE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byc. Kiedy byc. Ile probek przygotowac.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8631936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47472" y="12618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MARZEC-KWIECIEN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347472" y="151790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Polmaraton Warszawski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| Bieg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017520" y="15179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17520" y="168249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~8 000 uczestnikow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407408" y="15179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407408" y="168249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szt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97296" y="15179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797296" y="168249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1 750 zl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187184" y="15179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187184" y="168249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 M5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6032" y="1938528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347472" y="19933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Krakow Half Marathon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" y="21945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Krakow | Bieg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017520" y="19933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017520" y="2157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~6 000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7408" y="19933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407408" y="2157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 szt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97296" y="19933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797296" y="2157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1 050 zl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87184" y="19933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87184" y="21579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2468880"/>
            <a:ext cx="8631936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347472" y="2468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56032" y="2670048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347472" y="27249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FitFest / Body Challenge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7472" y="292608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(EXPO) | Targi fitness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17520" y="27249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17520" y="28895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~5 000-10 000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07408" y="27249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407408" y="28895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szt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7296" y="27249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797296" y="28895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2 100 zl + stoisko 2-4k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187184" y="27249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187184" y="288950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Stoisko 3×2m lub sampling walk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6032" y="3145536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Text 40"/>
          <p:cNvSpPr/>
          <p:nvPr/>
        </p:nvSpPr>
        <p:spPr>
          <a:xfrm>
            <a:off x="347472" y="32004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Fest PL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7472" y="34015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/ Krakow | Festiwal jogi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017520" y="3200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017520" y="33649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~1 500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407408" y="3200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407408" y="33649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szt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97296" y="3200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97296" y="33649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zl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187184" y="32004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187184" y="33649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wody po zajeciach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56032" y="3675888"/>
            <a:ext cx="8631936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347472" y="367588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CZERWIEC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6032" y="3877056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347472" y="393192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PKO BP Maraton Warszawski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7472" y="4133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| Maraton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017520" y="39319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017520" y="40965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~10 000 uczestnikow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407408" y="39319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407408" y="40965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szt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797296" y="39319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797296" y="40965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2 800 zl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187184" y="39319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7187184" y="409651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 km 42 (klucz)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56032" y="4352544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Text 64"/>
          <p:cNvSpPr/>
          <p:nvPr/>
        </p:nvSpPr>
        <p:spPr>
          <a:xfrm>
            <a:off x="347472" y="440740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Marathon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47472" y="460857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| Maraton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017520" y="44074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017520" y="45720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~5 000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407408" y="44074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407408" y="45720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szt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797296" y="44074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797296" y="45720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1 400 zl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7187184" y="44074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187184" y="457200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56032" y="4882896"/>
            <a:ext cx="8631936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/>
          <p:cNvSpPr/>
          <p:nvPr/>
        </p:nvSpPr>
        <p:spPr>
          <a:xfrm>
            <a:off x="347472" y="48828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SIERPIEN-WRZESIEN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56032" y="5084064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/>
          <p:cNvSpPr/>
          <p:nvPr/>
        </p:nvSpPr>
        <p:spPr>
          <a:xfrm>
            <a:off x="347472" y="513892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Silesia Marathon / Katowice Bike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47472" y="5340096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Katowice | Sport multi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3017520" y="51389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017520" y="53035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~3 000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407408" y="51389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4407408" y="53035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szt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797296" y="51389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5797296" y="53035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zl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187184" y="513892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7187184" y="530352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startowy lub meta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256032" y="5559552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0" name="Text 88"/>
          <p:cNvSpPr/>
          <p:nvPr/>
        </p:nvSpPr>
        <p:spPr>
          <a:xfrm>
            <a:off x="347472" y="5614416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Eventy open day silowni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347472" y="5815584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miast | Open day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017520" y="561441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017520" y="57790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200-500/event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4407408" y="561441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4407408" y="57790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szt/event × 5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797296" y="561441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5797296" y="57790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zl × 5 = 1 750 zl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187184" y="561441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7187184" y="5779008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Wewnatrz clubs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256032" y="6126480"/>
            <a:ext cx="8631936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/>
          <p:cNvSpPr/>
          <p:nvPr/>
        </p:nvSpPr>
        <p:spPr>
          <a:xfrm>
            <a:off x="347472" y="6163056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LACZNIE: ~3 100 probek | ~12 000-15 000 zl (probki + stoiska + logistyka) | Est. konwersja: 20-25% = ~700 nowych klientow z eventow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17FF2-4FBE-3443-9458-F86279BFC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8D0FC5-BF02-8B73-209B-CD07E4429D74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KALENDARZ EVENTOW FITNESS W POLSCE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2F28AF0-A865-8F98-AC90-8D95E2089B7F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Gdzie byc. Kiedy byc. Ile probek przygotowac.</a:t>
            </a:r>
            <a:endParaRPr lang="en-US" sz="25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288E8410-C4CE-B278-129B-970DBF6DF556}"/>
              </a:ext>
            </a:extLst>
          </p:cNvPr>
          <p:cNvSpPr/>
          <p:nvPr/>
        </p:nvSpPr>
        <p:spPr>
          <a:xfrm>
            <a:off x="256032" y="1658552"/>
            <a:ext cx="8631936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EF75647F-8764-FB59-E587-F4E30D1B5739}"/>
              </a:ext>
            </a:extLst>
          </p:cNvPr>
          <p:cNvSpPr/>
          <p:nvPr/>
        </p:nvSpPr>
        <p:spPr>
          <a:xfrm>
            <a:off x="347472" y="165855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CZERWIEC</a:t>
            </a:r>
            <a:endParaRPr lang="en-US" sz="8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8833D23-9FC0-2F70-9131-D47F32F6755F}"/>
              </a:ext>
            </a:extLst>
          </p:cNvPr>
          <p:cNvSpPr/>
          <p:nvPr/>
        </p:nvSpPr>
        <p:spPr>
          <a:xfrm>
            <a:off x="256032" y="1859720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B264CBD-50BC-275D-1408-AB1ACB2CE78D}"/>
              </a:ext>
            </a:extLst>
          </p:cNvPr>
          <p:cNvSpPr/>
          <p:nvPr/>
        </p:nvSpPr>
        <p:spPr>
          <a:xfrm>
            <a:off x="347472" y="19145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PKO BP Maraton Warszawski</a:t>
            </a:r>
            <a:endParaRPr lang="en-US" sz="9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71B87345-0E9B-AF10-D572-3ECACB0A9CA9}"/>
              </a:ext>
            </a:extLst>
          </p:cNvPr>
          <p:cNvSpPr/>
          <p:nvPr/>
        </p:nvSpPr>
        <p:spPr>
          <a:xfrm>
            <a:off x="347472" y="2115752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Warszawa | Maraton</a:t>
            </a:r>
            <a:endParaRPr lang="en-US" sz="750" dirty="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0C5B77E-120A-FFC4-B4A6-5B2735D0195D}"/>
              </a:ext>
            </a:extLst>
          </p:cNvPr>
          <p:cNvSpPr/>
          <p:nvPr/>
        </p:nvSpPr>
        <p:spPr>
          <a:xfrm>
            <a:off x="3017520" y="19145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47D9CD89-8EA1-5882-2101-ACC9F82F6FEE}"/>
              </a:ext>
            </a:extLst>
          </p:cNvPr>
          <p:cNvSpPr/>
          <p:nvPr/>
        </p:nvSpPr>
        <p:spPr>
          <a:xfrm>
            <a:off x="3017520" y="207917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~10 000 uczestnikow</a:t>
            </a:r>
            <a:endParaRPr lang="en-US" sz="8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812D9B5B-84F2-9E6B-0C97-EDB3EC2B80DF}"/>
              </a:ext>
            </a:extLst>
          </p:cNvPr>
          <p:cNvSpPr/>
          <p:nvPr/>
        </p:nvSpPr>
        <p:spPr>
          <a:xfrm>
            <a:off x="4407408" y="19145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00F439A6-5820-DECD-81FE-7D93FE3D879A}"/>
              </a:ext>
            </a:extLst>
          </p:cNvPr>
          <p:cNvSpPr/>
          <p:nvPr/>
        </p:nvSpPr>
        <p:spPr>
          <a:xfrm>
            <a:off x="4407408" y="207917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szt</a:t>
            </a:r>
            <a:endParaRPr lang="en-US" sz="800" dirty="0"/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0E1F2552-EA31-1F82-9825-79135188F625}"/>
              </a:ext>
            </a:extLst>
          </p:cNvPr>
          <p:cNvSpPr/>
          <p:nvPr/>
        </p:nvSpPr>
        <p:spPr>
          <a:xfrm>
            <a:off x="5797296" y="19145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A69B0457-5D51-39E3-2AC9-1FF5983EBE57}"/>
              </a:ext>
            </a:extLst>
          </p:cNvPr>
          <p:cNvSpPr/>
          <p:nvPr/>
        </p:nvSpPr>
        <p:spPr>
          <a:xfrm>
            <a:off x="5797296" y="207917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2 800 zl</a:t>
            </a:r>
            <a:endParaRPr lang="en-US" sz="800" dirty="0"/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487962FB-1DCD-7D01-B485-90D1F9938349}"/>
              </a:ext>
            </a:extLst>
          </p:cNvPr>
          <p:cNvSpPr/>
          <p:nvPr/>
        </p:nvSpPr>
        <p:spPr>
          <a:xfrm>
            <a:off x="7187184" y="19145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2FDDC960-6AA0-4019-343C-00461B867C8D}"/>
              </a:ext>
            </a:extLst>
          </p:cNvPr>
          <p:cNvSpPr/>
          <p:nvPr/>
        </p:nvSpPr>
        <p:spPr>
          <a:xfrm>
            <a:off x="7187184" y="2079176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 km 42 (klucz)</a:t>
            </a:r>
            <a:endParaRPr lang="en-US" sz="800" dirty="0"/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C49DE149-98FA-FBB6-4BD0-44C57C115EC7}"/>
              </a:ext>
            </a:extLst>
          </p:cNvPr>
          <p:cNvSpPr/>
          <p:nvPr/>
        </p:nvSpPr>
        <p:spPr>
          <a:xfrm>
            <a:off x="256032" y="2335208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Text 64">
            <a:extLst>
              <a:ext uri="{FF2B5EF4-FFF2-40B4-BE49-F238E27FC236}">
                <a16:creationId xmlns:a16="http://schemas.microsoft.com/office/drawing/2014/main" id="{7A0C4221-BA42-D4E6-5203-A21B21780524}"/>
              </a:ext>
            </a:extLst>
          </p:cNvPr>
          <p:cNvSpPr/>
          <p:nvPr/>
        </p:nvSpPr>
        <p:spPr>
          <a:xfrm>
            <a:off x="347472" y="23900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Marathon</a:t>
            </a:r>
            <a:endParaRPr lang="en-US" sz="900" dirty="0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758D83F-43E3-5C3C-58EE-87DDBA5263D3}"/>
              </a:ext>
            </a:extLst>
          </p:cNvPr>
          <p:cNvSpPr/>
          <p:nvPr/>
        </p:nvSpPr>
        <p:spPr>
          <a:xfrm>
            <a:off x="347472" y="259124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| Maraton</a:t>
            </a:r>
            <a:endParaRPr lang="en-US" sz="750" dirty="0"/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F1BFB747-F4D3-5FEC-44FA-AFDDF7EC7B47}"/>
              </a:ext>
            </a:extLst>
          </p:cNvPr>
          <p:cNvSpPr/>
          <p:nvPr/>
        </p:nvSpPr>
        <p:spPr>
          <a:xfrm>
            <a:off x="3017520" y="23900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498E2AB6-1A34-F92B-58A9-F3C7CA52CA9E}"/>
              </a:ext>
            </a:extLst>
          </p:cNvPr>
          <p:cNvSpPr/>
          <p:nvPr/>
        </p:nvSpPr>
        <p:spPr>
          <a:xfrm>
            <a:off x="3017520" y="255466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~5 000</a:t>
            </a:r>
            <a:endParaRPr lang="en-US" sz="800" dirty="0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9A13639C-342C-3AFF-E9A1-47189EC0F16D}"/>
              </a:ext>
            </a:extLst>
          </p:cNvPr>
          <p:cNvSpPr/>
          <p:nvPr/>
        </p:nvSpPr>
        <p:spPr>
          <a:xfrm>
            <a:off x="4407408" y="23900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80E44907-ECEC-860D-8470-3169F88CB432}"/>
              </a:ext>
            </a:extLst>
          </p:cNvPr>
          <p:cNvSpPr/>
          <p:nvPr/>
        </p:nvSpPr>
        <p:spPr>
          <a:xfrm>
            <a:off x="4407408" y="255466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szt</a:t>
            </a:r>
            <a:endParaRPr lang="en-US" sz="800" dirty="0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960BC084-E152-5C10-4C89-6F949B7DAE74}"/>
              </a:ext>
            </a:extLst>
          </p:cNvPr>
          <p:cNvSpPr/>
          <p:nvPr/>
        </p:nvSpPr>
        <p:spPr>
          <a:xfrm>
            <a:off x="5797296" y="23900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D18B46B4-B533-1602-7E10-B8EFA466FE63}"/>
              </a:ext>
            </a:extLst>
          </p:cNvPr>
          <p:cNvSpPr/>
          <p:nvPr/>
        </p:nvSpPr>
        <p:spPr>
          <a:xfrm>
            <a:off x="5797296" y="255466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1 400 zl</a:t>
            </a:r>
            <a:endParaRPr lang="en-US" sz="800" dirty="0"/>
          </a:p>
        </p:txBody>
      </p:sp>
      <p:sp>
        <p:nvSpPr>
          <p:cNvPr id="74" name="Text 72">
            <a:extLst>
              <a:ext uri="{FF2B5EF4-FFF2-40B4-BE49-F238E27FC236}">
                <a16:creationId xmlns:a16="http://schemas.microsoft.com/office/drawing/2014/main" id="{0DDA8376-AC34-3A78-F441-5EF15E26C407}"/>
              </a:ext>
            </a:extLst>
          </p:cNvPr>
          <p:cNvSpPr/>
          <p:nvPr/>
        </p:nvSpPr>
        <p:spPr>
          <a:xfrm>
            <a:off x="7187184" y="23900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5266163E-2D3A-5E49-8F28-F48EF336E415}"/>
              </a:ext>
            </a:extLst>
          </p:cNvPr>
          <p:cNvSpPr/>
          <p:nvPr/>
        </p:nvSpPr>
        <p:spPr>
          <a:xfrm>
            <a:off x="7187184" y="255466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na mecie</a:t>
            </a:r>
            <a:endParaRPr lang="en-US" sz="8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D9E605A8-C14E-B5BB-F15F-F9842738FCCE}"/>
              </a:ext>
            </a:extLst>
          </p:cNvPr>
          <p:cNvSpPr/>
          <p:nvPr/>
        </p:nvSpPr>
        <p:spPr>
          <a:xfrm>
            <a:off x="256032" y="2865560"/>
            <a:ext cx="8631936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65F798B8-A602-804A-7C1C-25E098139733}"/>
              </a:ext>
            </a:extLst>
          </p:cNvPr>
          <p:cNvSpPr/>
          <p:nvPr/>
        </p:nvSpPr>
        <p:spPr>
          <a:xfrm>
            <a:off x="347472" y="286556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SIERPIEN-WRZESIEN</a:t>
            </a:r>
            <a:endParaRPr lang="en-US" sz="8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8162C7B4-B378-59EE-5AD5-BB9C503FE4D6}"/>
              </a:ext>
            </a:extLst>
          </p:cNvPr>
          <p:cNvSpPr/>
          <p:nvPr/>
        </p:nvSpPr>
        <p:spPr>
          <a:xfrm>
            <a:off x="256032" y="3066728"/>
            <a:ext cx="8631936" cy="457200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16C89CD5-FED6-7185-8850-7340D552EB5E}"/>
              </a:ext>
            </a:extLst>
          </p:cNvPr>
          <p:cNvSpPr/>
          <p:nvPr/>
        </p:nvSpPr>
        <p:spPr>
          <a:xfrm>
            <a:off x="347472" y="31215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Silesia Marathon / Katowice Bike</a:t>
            </a:r>
            <a:endParaRPr lang="en-US" sz="900" dirty="0"/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9FB9F736-49D5-230F-4773-AEB179D1D338}"/>
              </a:ext>
            </a:extLst>
          </p:cNvPr>
          <p:cNvSpPr/>
          <p:nvPr/>
        </p:nvSpPr>
        <p:spPr>
          <a:xfrm>
            <a:off x="347472" y="3322760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Katowice | Sport multi</a:t>
            </a:r>
            <a:endParaRPr lang="en-US" sz="750" dirty="0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C7203AE5-A53C-C3A5-2607-4D5522FA230A}"/>
              </a:ext>
            </a:extLst>
          </p:cNvPr>
          <p:cNvSpPr/>
          <p:nvPr/>
        </p:nvSpPr>
        <p:spPr>
          <a:xfrm>
            <a:off x="3017520" y="31215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20A196C6-30B1-10ED-9C66-EBD5126B91FE}"/>
              </a:ext>
            </a:extLst>
          </p:cNvPr>
          <p:cNvSpPr/>
          <p:nvPr/>
        </p:nvSpPr>
        <p:spPr>
          <a:xfrm>
            <a:off x="3017520" y="32861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~3 000</a:t>
            </a:r>
            <a:endParaRPr lang="en-US" sz="800" dirty="0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9374DABA-AC1F-791E-F973-50A22FE9EBD1}"/>
              </a:ext>
            </a:extLst>
          </p:cNvPr>
          <p:cNvSpPr/>
          <p:nvPr/>
        </p:nvSpPr>
        <p:spPr>
          <a:xfrm>
            <a:off x="4407408" y="31215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84" name="Text 82">
            <a:extLst>
              <a:ext uri="{FF2B5EF4-FFF2-40B4-BE49-F238E27FC236}">
                <a16:creationId xmlns:a16="http://schemas.microsoft.com/office/drawing/2014/main" id="{54DA3CE8-DB5F-875D-4208-0611FB6A081F}"/>
              </a:ext>
            </a:extLst>
          </p:cNvPr>
          <p:cNvSpPr/>
          <p:nvPr/>
        </p:nvSpPr>
        <p:spPr>
          <a:xfrm>
            <a:off x="4407408" y="32861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szt</a:t>
            </a:r>
            <a:endParaRPr lang="en-US" sz="800" dirty="0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2E3254BB-7A89-5A32-A486-8A1294C9592A}"/>
              </a:ext>
            </a:extLst>
          </p:cNvPr>
          <p:cNvSpPr/>
          <p:nvPr/>
        </p:nvSpPr>
        <p:spPr>
          <a:xfrm>
            <a:off x="5797296" y="31215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86" name="Text 84">
            <a:extLst>
              <a:ext uri="{FF2B5EF4-FFF2-40B4-BE49-F238E27FC236}">
                <a16:creationId xmlns:a16="http://schemas.microsoft.com/office/drawing/2014/main" id="{9EAB04DA-22CC-F2F7-CA51-32DF519F62B6}"/>
              </a:ext>
            </a:extLst>
          </p:cNvPr>
          <p:cNvSpPr/>
          <p:nvPr/>
        </p:nvSpPr>
        <p:spPr>
          <a:xfrm>
            <a:off x="5797296" y="32861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zl</a:t>
            </a:r>
            <a:endParaRPr lang="en-US" sz="800" dirty="0"/>
          </a:p>
        </p:txBody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C60841C2-3616-B069-5D61-4DCF17A3278B}"/>
              </a:ext>
            </a:extLst>
          </p:cNvPr>
          <p:cNvSpPr/>
          <p:nvPr/>
        </p:nvSpPr>
        <p:spPr>
          <a:xfrm>
            <a:off x="7187184" y="312159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3E07AD7D-5A29-E4FE-CA48-37DEC5AB58AF}"/>
              </a:ext>
            </a:extLst>
          </p:cNvPr>
          <p:cNvSpPr/>
          <p:nvPr/>
        </p:nvSpPr>
        <p:spPr>
          <a:xfrm>
            <a:off x="7187184" y="3286184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startowy lub meta</a:t>
            </a:r>
            <a:endParaRPr lang="en-US" sz="800" dirty="0"/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409E520F-1D36-E212-210B-6D8AF9099AAC}"/>
              </a:ext>
            </a:extLst>
          </p:cNvPr>
          <p:cNvSpPr/>
          <p:nvPr/>
        </p:nvSpPr>
        <p:spPr>
          <a:xfrm>
            <a:off x="256032" y="3542216"/>
            <a:ext cx="8631936" cy="457200"/>
          </a:xfrm>
          <a:prstGeom prst="rect">
            <a:avLst/>
          </a:prstGeom>
          <a:solidFill>
            <a:srgbClr val="1A1A1A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4411A888-530C-64EA-3FB2-59A4219544FB}"/>
              </a:ext>
            </a:extLst>
          </p:cNvPr>
          <p:cNvSpPr/>
          <p:nvPr/>
        </p:nvSpPr>
        <p:spPr>
          <a:xfrm>
            <a:off x="347472" y="35970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Eventy open day silowni</a:t>
            </a:r>
            <a:endParaRPr lang="en-US" sz="900" dirty="0"/>
          </a:p>
        </p:txBody>
      </p:sp>
      <p:sp>
        <p:nvSpPr>
          <p:cNvPr id="91" name="Text 89">
            <a:extLst>
              <a:ext uri="{FF2B5EF4-FFF2-40B4-BE49-F238E27FC236}">
                <a16:creationId xmlns:a16="http://schemas.microsoft.com/office/drawing/2014/main" id="{CACA7B76-CEA1-5972-2C0E-03E351F8DA8A}"/>
              </a:ext>
            </a:extLst>
          </p:cNvPr>
          <p:cNvSpPr/>
          <p:nvPr/>
        </p:nvSpPr>
        <p:spPr>
          <a:xfrm>
            <a:off x="347472" y="37982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miast | Open day</a:t>
            </a:r>
            <a:endParaRPr lang="en-US" sz="750" dirty="0"/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D5A74DED-7459-7836-9645-22348ECCF0A7}"/>
              </a:ext>
            </a:extLst>
          </p:cNvPr>
          <p:cNvSpPr/>
          <p:nvPr/>
        </p:nvSpPr>
        <p:spPr>
          <a:xfrm>
            <a:off x="3017520" y="35970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Uczest.</a:t>
            </a:r>
            <a:endParaRPr lang="en-US" sz="700" dirty="0"/>
          </a:p>
        </p:txBody>
      </p:sp>
      <p:sp>
        <p:nvSpPr>
          <p:cNvPr id="93" name="Text 91">
            <a:extLst>
              <a:ext uri="{FF2B5EF4-FFF2-40B4-BE49-F238E27FC236}">
                <a16:creationId xmlns:a16="http://schemas.microsoft.com/office/drawing/2014/main" id="{DAD81E27-DA28-9187-D69D-C17827943966}"/>
              </a:ext>
            </a:extLst>
          </p:cNvPr>
          <p:cNvSpPr/>
          <p:nvPr/>
        </p:nvSpPr>
        <p:spPr>
          <a:xfrm>
            <a:off x="3017520" y="37616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200-500/event</a:t>
            </a:r>
            <a:endParaRPr lang="en-US" sz="800" dirty="0"/>
          </a:p>
        </p:txBody>
      </p:sp>
      <p:sp>
        <p:nvSpPr>
          <p:cNvPr id="94" name="Text 92">
            <a:extLst>
              <a:ext uri="{FF2B5EF4-FFF2-40B4-BE49-F238E27FC236}">
                <a16:creationId xmlns:a16="http://schemas.microsoft.com/office/drawing/2014/main" id="{B322B251-06A2-5C92-5655-A5A3CEC56374}"/>
              </a:ext>
            </a:extLst>
          </p:cNvPr>
          <p:cNvSpPr/>
          <p:nvPr/>
        </p:nvSpPr>
        <p:spPr>
          <a:xfrm>
            <a:off x="4407408" y="35970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</a:t>
            </a:r>
            <a:endParaRPr lang="en-US" sz="700" dirty="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8D6174BB-87EC-619E-1CCC-05D174A31E69}"/>
              </a:ext>
            </a:extLst>
          </p:cNvPr>
          <p:cNvSpPr/>
          <p:nvPr/>
        </p:nvSpPr>
        <p:spPr>
          <a:xfrm>
            <a:off x="4407408" y="37616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szt/event × 5</a:t>
            </a:r>
            <a:endParaRPr lang="en-US" sz="800" dirty="0"/>
          </a:p>
        </p:txBody>
      </p:sp>
      <p:sp>
        <p:nvSpPr>
          <p:cNvPr id="96" name="Text 94">
            <a:extLst>
              <a:ext uri="{FF2B5EF4-FFF2-40B4-BE49-F238E27FC236}">
                <a16:creationId xmlns:a16="http://schemas.microsoft.com/office/drawing/2014/main" id="{69EDAA7F-BB38-7ED5-4424-70746ECD5A26}"/>
              </a:ext>
            </a:extLst>
          </p:cNvPr>
          <p:cNvSpPr/>
          <p:nvPr/>
        </p:nvSpPr>
        <p:spPr>
          <a:xfrm>
            <a:off x="5797296" y="35970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</a:t>
            </a:r>
            <a:endParaRPr lang="en-US" sz="700" dirty="0"/>
          </a:p>
        </p:txBody>
      </p:sp>
      <p:sp>
        <p:nvSpPr>
          <p:cNvPr id="97" name="Text 95">
            <a:extLst>
              <a:ext uri="{FF2B5EF4-FFF2-40B4-BE49-F238E27FC236}">
                <a16:creationId xmlns:a16="http://schemas.microsoft.com/office/drawing/2014/main" id="{3A98DEBD-AA9E-F3C7-7D19-CFC68A6A2FA1}"/>
              </a:ext>
            </a:extLst>
          </p:cNvPr>
          <p:cNvSpPr/>
          <p:nvPr/>
        </p:nvSpPr>
        <p:spPr>
          <a:xfrm>
            <a:off x="5797296" y="37616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 zl × 5 = 1 750 zl</a:t>
            </a:r>
            <a:endParaRPr lang="en-US" sz="800" dirty="0"/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CF9042E2-988A-0E93-AFB3-F89BC8DD60F6}"/>
              </a:ext>
            </a:extLst>
          </p:cNvPr>
          <p:cNvSpPr/>
          <p:nvPr/>
        </p:nvSpPr>
        <p:spPr>
          <a:xfrm>
            <a:off x="7187184" y="359708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</a:t>
            </a:r>
            <a:endParaRPr lang="en-US" sz="700" dirty="0"/>
          </a:p>
        </p:txBody>
      </p:sp>
      <p:sp>
        <p:nvSpPr>
          <p:cNvPr id="99" name="Text 97">
            <a:extLst>
              <a:ext uri="{FF2B5EF4-FFF2-40B4-BE49-F238E27FC236}">
                <a16:creationId xmlns:a16="http://schemas.microsoft.com/office/drawing/2014/main" id="{232333ED-CA78-A48F-10FF-F2AFFC335DFB}"/>
              </a:ext>
            </a:extLst>
          </p:cNvPr>
          <p:cNvSpPr/>
          <p:nvPr/>
        </p:nvSpPr>
        <p:spPr>
          <a:xfrm>
            <a:off x="7187184" y="3761672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Wewnatrz clubs</a:t>
            </a:r>
            <a:endParaRPr lang="en-US" sz="800" dirty="0"/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BBC11560-7A06-9505-B46A-B358328423B0}"/>
              </a:ext>
            </a:extLst>
          </p:cNvPr>
          <p:cNvSpPr/>
          <p:nvPr/>
        </p:nvSpPr>
        <p:spPr>
          <a:xfrm>
            <a:off x="256032" y="4109144"/>
            <a:ext cx="8631936" cy="256032"/>
          </a:xfrm>
          <a:prstGeom prst="rect">
            <a:avLst/>
          </a:prstGeom>
          <a:solidFill>
            <a:srgbClr val="111111"/>
          </a:solidFill>
          <a:ln w="63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847C2AF5-B676-219E-59B9-6FE05E073D4F}"/>
              </a:ext>
            </a:extLst>
          </p:cNvPr>
          <p:cNvSpPr/>
          <p:nvPr/>
        </p:nvSpPr>
        <p:spPr>
          <a:xfrm>
            <a:off x="347472" y="414572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LACZNIE: ~3 100 probek | ~12 000-15 000 zl (probki + stoiska + logistyka) | Est. konwersja: 20-25% = ~700 nowych klientow z eventow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771898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STANDARD STOISKA I SAMPLING PACK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wyglada nasze stoisko. Co bierze ambasador.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5029200" cy="3895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5029200" cy="310896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384048" y="1298448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STOISKO PELNE (Targi fitness, duze eventy)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" y="1627632"/>
            <a:ext cx="491947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KONSTRUKCJA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17904" y="1682496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Roll-up 85×200cm × 2 szt. | Stol 1m z obrusem black | Lodowka lub skrzynia z lodem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0896" y="2194560"/>
            <a:ext cx="491947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17904" y="2249424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100-200 puszek na session | Mix smaków 60/40 Lemon-Lime/Grapefruit | Stan uzupelniany co 2h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10896" y="2761488"/>
            <a:ext cx="491947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MATERIALY POS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17904" y="2816352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Wobbler × 4 | Kolaner A4 × 20 | Kartki z kodem QR (wydruk) × 200 | Kubeczki do degustacji (mniejszy format)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10896" y="3328416"/>
            <a:ext cx="491947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384048" y="338328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17904" y="3383280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ambasadorow Volte (przeszkoleni 2h) + 1 foto/video creator | Stroj: czarne tshirty Volte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10896" y="3895344"/>
            <a:ext cx="491947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384048" y="3950208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17904" y="3950208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 z formularzem zapisu (email) lub kod QR na Typeform | Kod -15% waznie 48h po evencie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0896" y="4462272"/>
            <a:ext cx="491947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84048" y="4517136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517904" y="4517136"/>
            <a:ext cx="3621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Ambasador nagrywa reactions + unboxing + stoisko | Hashtag #VoltujSieZNami | Tagowanie eventu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13248" y="1261872"/>
            <a:ext cx="3493008" cy="3895344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Shape 24"/>
          <p:cNvSpPr/>
          <p:nvPr/>
        </p:nvSpPr>
        <p:spPr>
          <a:xfrm>
            <a:off x="5413248" y="1261872"/>
            <a:ext cx="3493008" cy="31089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5522976" y="1298448"/>
            <a:ext cx="33284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SAMPLING (Biegi, mety)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68112" y="1627632"/>
            <a:ext cx="33649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5522976" y="168249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PLECAK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65392" y="168249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Termiczna torba/plecak z lodem | 30-50 puszek na ambasadora | Wymiana co 1,5h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68112" y="2194560"/>
            <a:ext cx="336499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Text 30"/>
          <p:cNvSpPr/>
          <p:nvPr/>
        </p:nvSpPr>
        <p:spPr>
          <a:xfrm>
            <a:off x="5522976" y="2249424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STROJ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65392" y="224942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Koszulka Volte + czapka / kamizelka brandowana | Rozpoznawalnosc w tlumie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68112" y="2761488"/>
            <a:ext cx="33649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5522976" y="2816352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ROZDAWANIE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565392" y="281635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Aktywne wychodzenie do biegaczy/uczestnikow | Miec: 'Hej – naturalne bialko po biegu?'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112" y="3328416"/>
            <a:ext cx="336499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8" name="Text 36"/>
          <p:cNvSpPr/>
          <p:nvPr/>
        </p:nvSpPr>
        <p:spPr>
          <a:xfrm>
            <a:off x="5522976" y="338328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565392" y="3383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Kartka z kodem QR przy kazdej puszce (gumka) | Formularz na telefonie – email zbierany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68112" y="3895344"/>
            <a:ext cx="336499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5522976" y="3950208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CZAS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65392" y="395020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Ustawienie przy mecie lub 500m za meta | Okno 30-60 min po biegu – szczyt otwarcia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68112" y="4462272"/>
            <a:ext cx="3364992" cy="512064"/>
          </a:xfrm>
          <a:prstGeom prst="rect">
            <a:avLst/>
          </a:prstGeom>
          <a:solidFill>
            <a:srgbClr val="E8E8E8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4" name="Text 42"/>
          <p:cNvSpPr/>
          <p:nvPr/>
        </p:nvSpPr>
        <p:spPr>
          <a:xfrm>
            <a:off x="5522976" y="4517136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565392" y="45171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biegacze z puszka (zgoda ustna) | Krotkie 15-sek. reactions do Stories</a:t>
            </a:r>
            <a:endParaRPr lang="en-US" sz="8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SZKOLENIE AMBASADORA VOLTE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wie ambasador. Jak mowi. Jak reaguje na pytania.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92608" y="1219683"/>
            <a:ext cx="8631936" cy="171027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384048" y="1256259"/>
            <a:ext cx="8321040" cy="128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Szkolenie: 2 godziny online lub osobiscie przed pierwszym eventem. Material: PDF + video z probnym dialogiem. Test koncowy.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92608" y="1494003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292608" y="1494003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402336" y="1548867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'Co to jest Volte?'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84048" y="1841475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420624" y="1878051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'To lekki napoj bialkowy – 10 gram bialka w puszce. Zero cukru, naturalne slodziki. Klarowny jak woda, nie smakuje mlekiem – stąd nazwa clear whey.'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18304" y="1608263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10"/>
          <p:cNvSpPr/>
          <p:nvPr/>
        </p:nvSpPr>
        <p:spPr>
          <a:xfrm>
            <a:off x="4718304" y="1494003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4828032" y="1548867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'Ile kalorii?'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9744" y="1841475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4846320" y="1878051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'Okolo 50-55 kcal na puszkę 330ml. Nic więcej nie ma – tylko białko, woda, aromat, stewia.'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" y="2688336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5"/>
          <p:cNvSpPr/>
          <p:nvPr/>
        </p:nvSpPr>
        <p:spPr>
          <a:xfrm>
            <a:off x="292608" y="2688336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402336" y="2743200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'Czemu nie smakuje mlekiem?'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3035808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Text 18"/>
          <p:cNvSpPr/>
          <p:nvPr/>
        </p:nvSpPr>
        <p:spPr>
          <a:xfrm>
            <a:off x="420624" y="3072384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'Zwykłe białkowe shaki to koncentrat serwatki – ma lactose i tłuszcz mleczny. Volte to izolat – prawie zero laktozy. Stąd jest klarowne i lekkie.'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18304" y="2688336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2" name="Shape 20"/>
          <p:cNvSpPr/>
          <p:nvPr/>
        </p:nvSpPr>
        <p:spPr>
          <a:xfrm>
            <a:off x="4718304" y="2688336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4828032" y="2743200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'Czy to dobre po biegu?'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9744" y="3035808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846320" y="3072384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'Idealnie. Masz okno anaboliczne po wysilku. 10g bialka przy niskiej kalorycznosci – uzupelniasz bialko bez ladownia zelazkaz.'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2608" y="3882669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Shape 25"/>
          <p:cNvSpPr/>
          <p:nvPr/>
        </p:nvSpPr>
        <p:spPr>
          <a:xfrm>
            <a:off x="292608" y="3882669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Text 26"/>
          <p:cNvSpPr/>
          <p:nvPr/>
        </p:nvSpPr>
        <p:spPr>
          <a:xfrm>
            <a:off x="402336" y="3937533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'Gdzie kupic?'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4230141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Text 28"/>
          <p:cNvSpPr/>
          <p:nvPr/>
        </p:nvSpPr>
        <p:spPr>
          <a:xfrm>
            <a:off x="420624" y="4266717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'Na naszej stronie volte.pl lub na Allegro. Mam tu kod -15% wazny 48 godzin. I wkrotce bedzmy tez w Zabce.'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18304" y="3882669"/>
            <a:ext cx="4242816" cy="98340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2" name="Shape 30"/>
          <p:cNvSpPr/>
          <p:nvPr/>
        </p:nvSpPr>
        <p:spPr>
          <a:xfrm>
            <a:off x="4718304" y="3882669"/>
            <a:ext cx="4242816" cy="22803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4828032" y="3937533"/>
            <a:ext cx="4005072" cy="156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PYTANIE: 'Czy to zdrowe? Co to izolat?'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9744" y="4230141"/>
            <a:ext cx="4059936" cy="655603"/>
          </a:xfrm>
          <a:prstGeom prst="rect">
            <a:avLst/>
          </a:prstGeom>
          <a:solidFill>
            <a:srgbClr val="222222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4846320" y="4266717"/>
            <a:ext cx="3913632" cy="598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ODPOWIEDZ: 'Izolat bialka serwatkowego z UE, z mleka grass-fed. Naturalne slodziki: stewia i erytrol – bez aspartamu, bez sukralozy. Suplement diety. Magnez i witamina C w skladzie.'</a:t>
            </a:r>
            <a:endParaRPr lang="en-US" sz="8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BUDZET I KPI – SAMPLING EVENTOWY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Ile kosztuje. Ile zarabia. Jak mierzymy.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56032" y="1261872"/>
            <a:ext cx="254203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256032" y="126187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RODZAJ SAMPLINGU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816352" y="1261872"/>
            <a:ext cx="8046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2816352" y="1261872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EVENTOW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639312" y="1261872"/>
            <a:ext cx="786384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/>
          <p:cNvSpPr/>
          <p:nvPr/>
        </p:nvSpPr>
        <p:spPr>
          <a:xfrm>
            <a:off x="3639312" y="1261872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L. PROBEK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443984" y="1261872"/>
            <a:ext cx="859536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4443984" y="126187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KOSZT PROBEK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321808" y="1261872"/>
            <a:ext cx="98755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5321808" y="1261872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STOISKOAKREDYT.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327648" y="1261872"/>
            <a:ext cx="859536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6327648" y="1261872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205472" y="1261872"/>
            <a:ext cx="969264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7205472" y="1261872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KONWERSJA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56032" y="1591056"/>
            <a:ext cx="254203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/>
          <p:cNvSpPr/>
          <p:nvPr/>
        </p:nvSpPr>
        <p:spPr>
          <a:xfrm>
            <a:off x="329184" y="15910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Biegi masowe (polmaratony, maratony)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16352" y="1591056"/>
            <a:ext cx="80467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2816352" y="1591056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39312" y="1591056"/>
            <a:ext cx="786384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/>
          <p:cNvSpPr/>
          <p:nvPr/>
        </p:nvSpPr>
        <p:spPr>
          <a:xfrm>
            <a:off x="3639312" y="159105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szt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443984" y="1591056"/>
            <a:ext cx="85953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Text 23"/>
          <p:cNvSpPr/>
          <p:nvPr/>
        </p:nvSpPr>
        <p:spPr>
          <a:xfrm>
            <a:off x="4443984" y="1591056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7 000 zl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21808" y="1591056"/>
            <a:ext cx="98755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Text 25"/>
          <p:cNvSpPr/>
          <p:nvPr/>
        </p:nvSpPr>
        <p:spPr>
          <a:xfrm>
            <a:off x="5321808" y="1591056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4 000 zl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327648" y="1591056"/>
            <a:ext cx="85953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/>
          <p:cNvSpPr/>
          <p:nvPr/>
        </p:nvSpPr>
        <p:spPr>
          <a:xfrm>
            <a:off x="6327648" y="1591056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11 000 zl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205472" y="1591056"/>
            <a:ext cx="969264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7205472" y="1591056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~400 klientow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56032" y="1847088"/>
            <a:ext cx="2542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Text 31"/>
          <p:cNvSpPr/>
          <p:nvPr/>
        </p:nvSpPr>
        <p:spPr>
          <a:xfrm>
            <a:off x="329184" y="18470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Targi fitness (FitFest, BodyChallenge itp.)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16352" y="1847088"/>
            <a:ext cx="80467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Text 33"/>
          <p:cNvSpPr/>
          <p:nvPr/>
        </p:nvSpPr>
        <p:spPr>
          <a:xfrm>
            <a:off x="2816352" y="1847088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39312" y="1847088"/>
            <a:ext cx="7863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/>
          <p:cNvSpPr/>
          <p:nvPr/>
        </p:nvSpPr>
        <p:spPr>
          <a:xfrm>
            <a:off x="3639312" y="1847088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1 200 szt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443984" y="1847088"/>
            <a:ext cx="8595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Text 37"/>
          <p:cNvSpPr/>
          <p:nvPr/>
        </p:nvSpPr>
        <p:spPr>
          <a:xfrm>
            <a:off x="4443984" y="184708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4 200 zl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21808" y="1847088"/>
            <a:ext cx="9875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1" name="Text 39"/>
          <p:cNvSpPr/>
          <p:nvPr/>
        </p:nvSpPr>
        <p:spPr>
          <a:xfrm>
            <a:off x="5321808" y="1847088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6 000 zl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27648" y="1847088"/>
            <a:ext cx="8595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/>
          <p:cNvSpPr/>
          <p:nvPr/>
        </p:nvSpPr>
        <p:spPr>
          <a:xfrm>
            <a:off x="6327648" y="1847088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10 200 zl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05472" y="1847088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/>
          <p:cNvSpPr/>
          <p:nvPr/>
        </p:nvSpPr>
        <p:spPr>
          <a:xfrm>
            <a:off x="7205472" y="1847088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~240 klientow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6032" y="2103120"/>
            <a:ext cx="254203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Text 45"/>
          <p:cNvSpPr/>
          <p:nvPr/>
        </p:nvSpPr>
        <p:spPr>
          <a:xfrm>
            <a:off x="329184" y="21031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Eventy jogi i pilatesu (festiwale)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816352" y="2103120"/>
            <a:ext cx="80467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47"/>
          <p:cNvSpPr/>
          <p:nvPr/>
        </p:nvSpPr>
        <p:spPr>
          <a:xfrm>
            <a:off x="2816352" y="2103120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39312" y="2103120"/>
            <a:ext cx="786384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/>
          <p:cNvSpPr/>
          <p:nvPr/>
        </p:nvSpPr>
        <p:spPr>
          <a:xfrm>
            <a:off x="3639312" y="2103120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szt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443984" y="2103120"/>
            <a:ext cx="85953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/>
          <p:cNvSpPr/>
          <p:nvPr/>
        </p:nvSpPr>
        <p:spPr>
          <a:xfrm>
            <a:off x="4443984" y="210312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2 800 zl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321808" y="2103120"/>
            <a:ext cx="987552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Text 53"/>
          <p:cNvSpPr/>
          <p:nvPr/>
        </p:nvSpPr>
        <p:spPr>
          <a:xfrm>
            <a:off x="5321808" y="2103120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2 000 zl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327648" y="2103120"/>
            <a:ext cx="859536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7" name="Text 55"/>
          <p:cNvSpPr/>
          <p:nvPr/>
        </p:nvSpPr>
        <p:spPr>
          <a:xfrm>
            <a:off x="6327648" y="2103120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4 800 zl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205472" y="2103120"/>
            <a:ext cx="969264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/>
          <p:cNvSpPr/>
          <p:nvPr/>
        </p:nvSpPr>
        <p:spPr>
          <a:xfrm>
            <a:off x="7205472" y="2103120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klientow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56032" y="2359152"/>
            <a:ext cx="254203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Text 59"/>
          <p:cNvSpPr/>
          <p:nvPr/>
        </p:nvSpPr>
        <p:spPr>
          <a:xfrm>
            <a:off x="329184" y="235915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day silowni (Zdrofit, lokalne)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2816352" y="2359152"/>
            <a:ext cx="80467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3" name="Text 61"/>
          <p:cNvSpPr/>
          <p:nvPr/>
        </p:nvSpPr>
        <p:spPr>
          <a:xfrm>
            <a:off x="2816352" y="2359152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39312" y="2359152"/>
            <a:ext cx="78638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5" name="Text 63"/>
          <p:cNvSpPr/>
          <p:nvPr/>
        </p:nvSpPr>
        <p:spPr>
          <a:xfrm>
            <a:off x="3639312" y="2359152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szt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443984" y="2359152"/>
            <a:ext cx="8595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/>
          <p:cNvSpPr/>
          <p:nvPr/>
        </p:nvSpPr>
        <p:spPr>
          <a:xfrm>
            <a:off x="4443984" y="2359152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3 500 zl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321808" y="2359152"/>
            <a:ext cx="9875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Text 67"/>
          <p:cNvSpPr/>
          <p:nvPr/>
        </p:nvSpPr>
        <p:spPr>
          <a:xfrm>
            <a:off x="5321808" y="235915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zl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327648" y="2359152"/>
            <a:ext cx="85953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69"/>
          <p:cNvSpPr/>
          <p:nvPr/>
        </p:nvSpPr>
        <p:spPr>
          <a:xfrm>
            <a:off x="6327648" y="2359152"/>
            <a:ext cx="859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4 500 zl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05472" y="2359152"/>
            <a:ext cx="9692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3" name="Text 71"/>
          <p:cNvSpPr/>
          <p:nvPr/>
        </p:nvSpPr>
        <p:spPr>
          <a:xfrm>
            <a:off x="7205472" y="2359152"/>
            <a:ext cx="9692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klientow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256032" y="2615184"/>
            <a:ext cx="254203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/>
          <p:cNvSpPr/>
          <p:nvPr/>
        </p:nvSpPr>
        <p:spPr>
          <a:xfrm>
            <a:off x="329184" y="26151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RAZEM 9 MIESIECY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816352" y="2615184"/>
            <a:ext cx="80467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Text 75"/>
          <p:cNvSpPr/>
          <p:nvPr/>
        </p:nvSpPr>
        <p:spPr>
          <a:xfrm>
            <a:off x="2816352" y="2615184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639312" y="2615184"/>
            <a:ext cx="786384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9" name="Text 77"/>
          <p:cNvSpPr/>
          <p:nvPr/>
        </p:nvSpPr>
        <p:spPr>
          <a:xfrm>
            <a:off x="3639312" y="2615184"/>
            <a:ext cx="786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szt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443984" y="2615184"/>
            <a:ext cx="859536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/>
          <p:cNvSpPr/>
          <p:nvPr/>
        </p:nvSpPr>
        <p:spPr>
          <a:xfrm>
            <a:off x="4443984" y="261518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17 500 zl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321808" y="2615184"/>
            <a:ext cx="987552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/>
          <p:cNvSpPr/>
          <p:nvPr/>
        </p:nvSpPr>
        <p:spPr>
          <a:xfrm>
            <a:off x="5321808" y="2615184"/>
            <a:ext cx="987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13 000 zl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327648" y="2615184"/>
            <a:ext cx="859536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/>
          <p:cNvSpPr/>
          <p:nvPr/>
        </p:nvSpPr>
        <p:spPr>
          <a:xfrm>
            <a:off x="6327648" y="2615184"/>
            <a:ext cx="859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30 500 zl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205472" y="2615184"/>
            <a:ext cx="969264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7" name="Text 85"/>
          <p:cNvSpPr/>
          <p:nvPr/>
        </p:nvSpPr>
        <p:spPr>
          <a:xfrm>
            <a:off x="7205472" y="2615184"/>
            <a:ext cx="9692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~1 040 klientow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56032" y="3511296"/>
            <a:ext cx="27432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9" name="Text 87"/>
          <p:cNvSpPr/>
          <p:nvPr/>
        </p:nvSpPr>
        <p:spPr>
          <a:xfrm>
            <a:off x="365760" y="356616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Probki rozdane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65760" y="37490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szt</a:t>
            </a:r>
            <a:endParaRPr lang="en-US" sz="2200" dirty="0"/>
          </a:p>
        </p:txBody>
      </p:sp>
      <p:sp>
        <p:nvSpPr>
          <p:cNvPr id="91" name="Text 89"/>
          <p:cNvSpPr/>
          <p:nvPr/>
        </p:nvSpPr>
        <p:spPr>
          <a:xfrm>
            <a:off x="365760" y="398678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miesiecy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3136392" y="3511296"/>
            <a:ext cx="27432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3" name="Text 91"/>
          <p:cNvSpPr/>
          <p:nvPr/>
        </p:nvSpPr>
        <p:spPr>
          <a:xfrm>
            <a:off x="3246120" y="356616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Konwersja probka→zakup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3246120" y="374904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&gt;20%</a:t>
            </a:r>
            <a:endParaRPr lang="en-US" sz="2200" dirty="0"/>
          </a:p>
        </p:txBody>
      </p:sp>
      <p:sp>
        <p:nvSpPr>
          <p:cNvPr id="95" name="Text 93"/>
          <p:cNvSpPr/>
          <p:nvPr/>
        </p:nvSpPr>
        <p:spPr>
          <a:xfrm>
            <a:off x="3246120" y="398678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1 040 klientow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016752" y="3534156"/>
            <a:ext cx="27432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7" name="Text 95"/>
          <p:cNvSpPr/>
          <p:nvPr/>
        </p:nvSpPr>
        <p:spPr>
          <a:xfrm>
            <a:off x="6126480" y="358902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 klienta po probce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126480" y="377190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51,96 zl</a:t>
            </a:r>
            <a:endParaRPr lang="en-US" sz="2200" dirty="0"/>
          </a:p>
        </p:txBody>
      </p:sp>
      <p:sp>
        <p:nvSpPr>
          <p:cNvPr id="99" name="Text 97"/>
          <p:cNvSpPr/>
          <p:nvPr/>
        </p:nvSpPr>
        <p:spPr>
          <a:xfrm>
            <a:off x="6126480" y="400964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zakupy × 12,99 zl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256032" y="4242816"/>
            <a:ext cx="27432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1" name="Text 99"/>
          <p:cNvSpPr/>
          <p:nvPr/>
        </p:nvSpPr>
        <p:spPr>
          <a:xfrm>
            <a:off x="365760" y="429768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samplingu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365760" y="448056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&gt;14x</a:t>
            </a:r>
            <a:endParaRPr lang="en-US" sz="1800" dirty="0"/>
          </a:p>
        </p:txBody>
      </p:sp>
      <p:sp>
        <p:nvSpPr>
          <p:cNvPr id="103" name="Text 101"/>
          <p:cNvSpPr/>
          <p:nvPr/>
        </p:nvSpPr>
        <p:spPr>
          <a:xfrm>
            <a:off x="365760" y="471830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 20% konwersji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3136392" y="4265676"/>
            <a:ext cx="27432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5" name="Text 103"/>
          <p:cNvSpPr/>
          <p:nvPr/>
        </p:nvSpPr>
        <p:spPr>
          <a:xfrm>
            <a:off x="3246120" y="432054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leads z eventow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3246120" y="450342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&gt;1 000</a:t>
            </a:r>
            <a:endParaRPr lang="en-US" sz="2200" dirty="0"/>
          </a:p>
        </p:txBody>
      </p:sp>
      <p:sp>
        <p:nvSpPr>
          <p:cNvPr id="107" name="Text 105"/>
          <p:cNvSpPr/>
          <p:nvPr/>
        </p:nvSpPr>
        <p:spPr>
          <a:xfrm>
            <a:off x="3246120" y="474116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CRM / email flow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016752" y="4265676"/>
            <a:ext cx="27432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9" name="Text 107"/>
          <p:cNvSpPr/>
          <p:nvPr/>
        </p:nvSpPr>
        <p:spPr>
          <a:xfrm>
            <a:off x="6126480" y="4320540"/>
            <a:ext cx="25237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z eventow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126480" y="4503420"/>
            <a:ext cx="25237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&gt;200</a:t>
            </a:r>
            <a:endParaRPr lang="en-US" sz="2200" dirty="0"/>
          </a:p>
        </p:txBody>
      </p:sp>
      <p:sp>
        <p:nvSpPr>
          <p:cNvPr id="111" name="Text 109"/>
          <p:cNvSpPr/>
          <p:nvPr/>
        </p:nvSpPr>
        <p:spPr>
          <a:xfrm>
            <a:off x="6126480" y="4741164"/>
            <a:ext cx="252374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zdjecia + reactions</a:t>
            </a:r>
            <a:endParaRPr lang="en-US" sz="7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4EA173-8756-CDCD-2CE2-D4DEA7A77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844BDD-F25B-0913-909D-62964C4B50A1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HARMONOGRAM EVENTOW – SAMPLING PLAN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1E43F9-5F12-50BD-A778-4EF5F193491E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jestesmy na jakim evencie.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EF6E394-F12E-D981-FDD8-7E464AC9E031}"/>
              </a:ext>
            </a:extLst>
          </p:cNvPr>
          <p:cNvSpPr/>
          <p:nvPr/>
        </p:nvSpPr>
        <p:spPr>
          <a:xfrm>
            <a:off x="1150686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06FDD7-01B8-2F32-1640-F3EE702C4260}"/>
              </a:ext>
            </a:extLst>
          </p:cNvPr>
          <p:cNvSpPr/>
          <p:nvPr/>
        </p:nvSpPr>
        <p:spPr>
          <a:xfrm>
            <a:off x="1150686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6E9713A-645E-615D-E7B6-0C07D6DFEA89}"/>
              </a:ext>
            </a:extLst>
          </p:cNvPr>
          <p:cNvSpPr/>
          <p:nvPr/>
        </p:nvSpPr>
        <p:spPr>
          <a:xfrm>
            <a:off x="1955358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A3F68BC-07E9-FCF9-BCCE-030EC8935028}"/>
              </a:ext>
            </a:extLst>
          </p:cNvPr>
          <p:cNvSpPr/>
          <p:nvPr/>
        </p:nvSpPr>
        <p:spPr>
          <a:xfrm>
            <a:off x="1955358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929588-9B1F-264F-B5BD-1197BB58708C}"/>
              </a:ext>
            </a:extLst>
          </p:cNvPr>
          <p:cNvSpPr/>
          <p:nvPr/>
        </p:nvSpPr>
        <p:spPr>
          <a:xfrm>
            <a:off x="2760030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A2FA789-0AD7-C448-99AD-5C3C46488F5E}"/>
              </a:ext>
            </a:extLst>
          </p:cNvPr>
          <p:cNvSpPr/>
          <p:nvPr/>
        </p:nvSpPr>
        <p:spPr>
          <a:xfrm>
            <a:off x="2760030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2D05FC9-6587-F801-0CBC-59B071F43C4F}"/>
              </a:ext>
            </a:extLst>
          </p:cNvPr>
          <p:cNvSpPr/>
          <p:nvPr/>
        </p:nvSpPr>
        <p:spPr>
          <a:xfrm>
            <a:off x="3564702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62F985F-7DED-FABA-8191-44047F11083C}"/>
              </a:ext>
            </a:extLst>
          </p:cNvPr>
          <p:cNvSpPr/>
          <p:nvPr/>
        </p:nvSpPr>
        <p:spPr>
          <a:xfrm>
            <a:off x="3564702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CD57782-B15E-E4E3-1ABD-776175DF6AD4}"/>
              </a:ext>
            </a:extLst>
          </p:cNvPr>
          <p:cNvSpPr/>
          <p:nvPr/>
        </p:nvSpPr>
        <p:spPr>
          <a:xfrm>
            <a:off x="4369374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CF754CB-B8F1-CAA1-675D-A07F6DBF23E8}"/>
              </a:ext>
            </a:extLst>
          </p:cNvPr>
          <p:cNvSpPr/>
          <p:nvPr/>
        </p:nvSpPr>
        <p:spPr>
          <a:xfrm>
            <a:off x="4369374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DC9263C3-21FE-8A71-08BA-6606F4269254}"/>
              </a:ext>
            </a:extLst>
          </p:cNvPr>
          <p:cNvSpPr/>
          <p:nvPr/>
        </p:nvSpPr>
        <p:spPr>
          <a:xfrm>
            <a:off x="5174046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115F218-16F9-A21E-367C-F8A161C603A9}"/>
              </a:ext>
            </a:extLst>
          </p:cNvPr>
          <p:cNvSpPr/>
          <p:nvPr/>
        </p:nvSpPr>
        <p:spPr>
          <a:xfrm>
            <a:off x="5174046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7B8BCB1-30C9-9EAF-F5D8-88AC5F4CAE19}"/>
              </a:ext>
            </a:extLst>
          </p:cNvPr>
          <p:cNvSpPr/>
          <p:nvPr/>
        </p:nvSpPr>
        <p:spPr>
          <a:xfrm>
            <a:off x="5978718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9ADE1D-BE1E-C0DB-0B55-6A275F9D4565}"/>
              </a:ext>
            </a:extLst>
          </p:cNvPr>
          <p:cNvSpPr/>
          <p:nvPr/>
        </p:nvSpPr>
        <p:spPr>
          <a:xfrm>
            <a:off x="5978718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20ADFFF-D48C-F542-FD1A-0F7BFE902D9D}"/>
              </a:ext>
            </a:extLst>
          </p:cNvPr>
          <p:cNvSpPr/>
          <p:nvPr/>
        </p:nvSpPr>
        <p:spPr>
          <a:xfrm>
            <a:off x="6783390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432420-DD65-E1AC-2E9E-7B4AAD5326BE}"/>
              </a:ext>
            </a:extLst>
          </p:cNvPr>
          <p:cNvSpPr/>
          <p:nvPr/>
        </p:nvSpPr>
        <p:spPr>
          <a:xfrm>
            <a:off x="6783390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0811D0A-9F32-5356-EAE2-DE1E288346CA}"/>
              </a:ext>
            </a:extLst>
          </p:cNvPr>
          <p:cNvSpPr/>
          <p:nvPr/>
        </p:nvSpPr>
        <p:spPr>
          <a:xfrm>
            <a:off x="7588062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14CD916-2B99-0BA8-4B6B-0722C8BE8140}"/>
              </a:ext>
            </a:extLst>
          </p:cNvPr>
          <p:cNvSpPr/>
          <p:nvPr/>
        </p:nvSpPr>
        <p:spPr>
          <a:xfrm>
            <a:off x="7588062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97DC1F-C6D1-CB7A-536A-78E6BC36F30E}"/>
              </a:ext>
            </a:extLst>
          </p:cNvPr>
          <p:cNvSpPr/>
          <p:nvPr/>
        </p:nvSpPr>
        <p:spPr>
          <a:xfrm>
            <a:off x="256032" y="1380744"/>
            <a:ext cx="830646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E7B2D22-7F4D-6B3F-D7FC-901DD9481C35}"/>
              </a:ext>
            </a:extLst>
          </p:cNvPr>
          <p:cNvSpPr/>
          <p:nvPr/>
        </p:nvSpPr>
        <p:spPr>
          <a:xfrm>
            <a:off x="320040" y="15819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PRZYGOT.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3BCBE07-CA3B-AFEF-1FC3-87BA7FC9629A}"/>
              </a:ext>
            </a:extLst>
          </p:cNvPr>
          <p:cNvSpPr/>
          <p:nvPr/>
        </p:nvSpPr>
        <p:spPr>
          <a:xfrm>
            <a:off x="1150686" y="139903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F85E2EE-5D0A-D553-E576-2C95F2C0F899}"/>
              </a:ext>
            </a:extLst>
          </p:cNvPr>
          <p:cNvSpPr/>
          <p:nvPr/>
        </p:nvSpPr>
        <p:spPr>
          <a:xfrm>
            <a:off x="1150686" y="1417320"/>
            <a:ext cx="1554480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E4444A8-9AAA-F978-31FA-FED796B68D0C}"/>
              </a:ext>
            </a:extLst>
          </p:cNvPr>
          <p:cNvSpPr/>
          <p:nvPr/>
        </p:nvSpPr>
        <p:spPr>
          <a:xfrm>
            <a:off x="1187262" y="1417320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Szkolenie ambasadorow + materialy POS</a:t>
            </a:r>
            <a:endParaRPr lang="en-US" sz="6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38D173D-3E27-1BC9-A755-D56B8509D3BB}"/>
              </a:ext>
            </a:extLst>
          </p:cNvPr>
          <p:cNvSpPr/>
          <p:nvPr/>
        </p:nvSpPr>
        <p:spPr>
          <a:xfrm>
            <a:off x="1150686" y="169164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7E931A8-1890-A754-B0D4-D31382D26CED}"/>
              </a:ext>
            </a:extLst>
          </p:cNvPr>
          <p:cNvSpPr/>
          <p:nvPr/>
        </p:nvSpPr>
        <p:spPr>
          <a:xfrm>
            <a:off x="1150686" y="1709928"/>
            <a:ext cx="1554480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7E037C6-C753-9DF6-5830-01E0C7DC91E6}"/>
              </a:ext>
            </a:extLst>
          </p:cNvPr>
          <p:cNvSpPr/>
          <p:nvPr/>
        </p:nvSpPr>
        <p:spPr>
          <a:xfrm>
            <a:off x="1187262" y="170992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Produkcja kartek QR + stroje</a:t>
            </a:r>
            <a:endParaRPr lang="en-US" sz="65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19B53EF-08FE-BE9C-77CF-080E58CB3510}"/>
              </a:ext>
            </a:extLst>
          </p:cNvPr>
          <p:cNvSpPr/>
          <p:nvPr/>
        </p:nvSpPr>
        <p:spPr>
          <a:xfrm>
            <a:off x="256032" y="2039112"/>
            <a:ext cx="830646" cy="1207008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75F0B55-D7CE-1D1B-0034-72AA4C0DFDD7}"/>
              </a:ext>
            </a:extLst>
          </p:cNvPr>
          <p:cNvSpPr/>
          <p:nvPr/>
        </p:nvSpPr>
        <p:spPr>
          <a:xfrm>
            <a:off x="320040" y="25328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BIEGI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MESOWE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B665151-789D-98A1-C07C-404B4E8E00B5}"/>
              </a:ext>
            </a:extLst>
          </p:cNvPr>
          <p:cNvSpPr/>
          <p:nvPr/>
        </p:nvSpPr>
        <p:spPr>
          <a:xfrm>
            <a:off x="1150686" y="205740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54C5E567-9BEC-334B-0788-9C92FE5E3FCA}"/>
              </a:ext>
            </a:extLst>
          </p:cNvPr>
          <p:cNvSpPr/>
          <p:nvPr/>
        </p:nvSpPr>
        <p:spPr>
          <a:xfrm>
            <a:off x="1955358" y="2075688"/>
            <a:ext cx="749808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6CE05D45-3E8E-9ECC-A999-602997E45B5C}"/>
              </a:ext>
            </a:extLst>
          </p:cNvPr>
          <p:cNvSpPr/>
          <p:nvPr/>
        </p:nvSpPr>
        <p:spPr>
          <a:xfrm>
            <a:off x="1991934" y="2075688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Polmaraton Warszawski (WAW)</a:t>
            </a:r>
            <a:endParaRPr lang="en-US" sz="6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A6D9A20-D3A3-C385-D467-4EC3A424E59E}"/>
              </a:ext>
            </a:extLst>
          </p:cNvPr>
          <p:cNvSpPr/>
          <p:nvPr/>
        </p:nvSpPr>
        <p:spPr>
          <a:xfrm>
            <a:off x="1150686" y="235000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867EE78-0130-3037-4795-5807240F9DFD}"/>
              </a:ext>
            </a:extLst>
          </p:cNvPr>
          <p:cNvSpPr/>
          <p:nvPr/>
        </p:nvSpPr>
        <p:spPr>
          <a:xfrm>
            <a:off x="2760030" y="2368296"/>
            <a:ext cx="749808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16099270-0768-089D-E8B9-262273D90F43}"/>
              </a:ext>
            </a:extLst>
          </p:cNvPr>
          <p:cNvSpPr/>
          <p:nvPr/>
        </p:nvSpPr>
        <p:spPr>
          <a:xfrm>
            <a:off x="2796606" y="236829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Krakow Half Marathon</a:t>
            </a:r>
            <a:endParaRPr lang="en-US" sz="65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ED87DC8C-C7DC-7BFA-8361-F84D43C1DE86}"/>
              </a:ext>
            </a:extLst>
          </p:cNvPr>
          <p:cNvSpPr/>
          <p:nvPr/>
        </p:nvSpPr>
        <p:spPr>
          <a:xfrm>
            <a:off x="1150686" y="2642616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4101C09-1EB2-0BD4-B556-6BBC24ADF490}"/>
              </a:ext>
            </a:extLst>
          </p:cNvPr>
          <p:cNvSpPr/>
          <p:nvPr/>
        </p:nvSpPr>
        <p:spPr>
          <a:xfrm>
            <a:off x="4369374" y="2660904"/>
            <a:ext cx="749808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D38F94CD-8EF0-5E61-3051-C66A91354861}"/>
              </a:ext>
            </a:extLst>
          </p:cNvPr>
          <p:cNvSpPr/>
          <p:nvPr/>
        </p:nvSpPr>
        <p:spPr>
          <a:xfrm>
            <a:off x="4405950" y="2660904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PKO BP Maraton Warszawski</a:t>
            </a:r>
            <a:endParaRPr lang="en-US" sz="6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2426192-5FF5-817F-B139-982866CDBD5B}"/>
              </a:ext>
            </a:extLst>
          </p:cNvPr>
          <p:cNvSpPr/>
          <p:nvPr/>
        </p:nvSpPr>
        <p:spPr>
          <a:xfrm>
            <a:off x="1150686" y="293522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F648F560-D76D-FD75-D759-D7835FEB037E}"/>
              </a:ext>
            </a:extLst>
          </p:cNvPr>
          <p:cNvSpPr/>
          <p:nvPr/>
        </p:nvSpPr>
        <p:spPr>
          <a:xfrm>
            <a:off x="5174046" y="2953512"/>
            <a:ext cx="749808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FEFDC8C5-CFE4-985B-AF4B-7D0DA7E778F8}"/>
              </a:ext>
            </a:extLst>
          </p:cNvPr>
          <p:cNvSpPr/>
          <p:nvPr/>
        </p:nvSpPr>
        <p:spPr>
          <a:xfrm>
            <a:off x="5210622" y="295351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Wroclaw Marathon</a:t>
            </a:r>
            <a:endParaRPr lang="en-US" sz="65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D0A493F0-B7AB-6E2E-057E-5C61A3B99A2A}"/>
              </a:ext>
            </a:extLst>
          </p:cNvPr>
          <p:cNvSpPr/>
          <p:nvPr/>
        </p:nvSpPr>
        <p:spPr>
          <a:xfrm>
            <a:off x="256032" y="3282696"/>
            <a:ext cx="830646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C3690D36-41D7-EDEC-5CE4-BBB9B92D0D59}"/>
              </a:ext>
            </a:extLst>
          </p:cNvPr>
          <p:cNvSpPr/>
          <p:nvPr/>
        </p:nvSpPr>
        <p:spPr>
          <a:xfrm>
            <a:off x="320040" y="348386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TARGI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988265D9-D872-0128-282F-861CCD769FEE}"/>
              </a:ext>
            </a:extLst>
          </p:cNvPr>
          <p:cNvSpPr/>
          <p:nvPr/>
        </p:nvSpPr>
        <p:spPr>
          <a:xfrm>
            <a:off x="1150686" y="3300984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E8BB41DA-B2F5-60E8-7346-90D08BFC5B73}"/>
              </a:ext>
            </a:extLst>
          </p:cNvPr>
          <p:cNvSpPr/>
          <p:nvPr/>
        </p:nvSpPr>
        <p:spPr>
          <a:xfrm>
            <a:off x="3564702" y="3319272"/>
            <a:ext cx="749808" cy="201168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99670FE-9A58-5872-F073-6B7DA6667DB8}"/>
              </a:ext>
            </a:extLst>
          </p:cNvPr>
          <p:cNvSpPr/>
          <p:nvPr/>
        </p:nvSpPr>
        <p:spPr>
          <a:xfrm>
            <a:off x="3601278" y="3319272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FitFest / Body Challenge (EXPO WAW)</a:t>
            </a:r>
            <a:endParaRPr lang="en-US" sz="650" dirty="0"/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5AAE10F-FA46-D5F7-6049-3905D1E0613D}"/>
              </a:ext>
            </a:extLst>
          </p:cNvPr>
          <p:cNvSpPr/>
          <p:nvPr/>
        </p:nvSpPr>
        <p:spPr>
          <a:xfrm>
            <a:off x="1150686" y="359359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1225647-CCB6-37DB-59D8-1705E0898E1D}"/>
              </a:ext>
            </a:extLst>
          </p:cNvPr>
          <p:cNvSpPr/>
          <p:nvPr/>
        </p:nvSpPr>
        <p:spPr>
          <a:xfrm>
            <a:off x="5978718" y="3611880"/>
            <a:ext cx="749808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39B3B55A-EE8E-C42B-3A21-001F12FD7191}"/>
              </a:ext>
            </a:extLst>
          </p:cNvPr>
          <p:cNvSpPr/>
          <p:nvPr/>
        </p:nvSpPr>
        <p:spPr>
          <a:xfrm>
            <a:off x="6015294" y="361188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Lokalne targi fitness (KRK/WRO)</a:t>
            </a:r>
            <a:endParaRPr lang="en-US" sz="65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79457FE-96E2-5C43-1FB1-0EB7FD2141E1}"/>
              </a:ext>
            </a:extLst>
          </p:cNvPr>
          <p:cNvSpPr/>
          <p:nvPr/>
        </p:nvSpPr>
        <p:spPr>
          <a:xfrm>
            <a:off x="256032" y="3941064"/>
            <a:ext cx="830646" cy="841248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F831D5C-51BB-30E2-08E6-DA90F9EAE00B}"/>
              </a:ext>
            </a:extLst>
          </p:cNvPr>
          <p:cNvSpPr/>
          <p:nvPr/>
        </p:nvSpPr>
        <p:spPr>
          <a:xfrm>
            <a:off x="320040" y="42885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EVENTY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JOGI+PIL.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DFDB5DC0-DCA6-ACBF-E58F-7787985B89C4}"/>
              </a:ext>
            </a:extLst>
          </p:cNvPr>
          <p:cNvSpPr/>
          <p:nvPr/>
        </p:nvSpPr>
        <p:spPr>
          <a:xfrm>
            <a:off x="1150686" y="3959352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E2BA701C-3D01-D49F-C32F-E04DF76AEE52}"/>
              </a:ext>
            </a:extLst>
          </p:cNvPr>
          <p:cNvSpPr/>
          <p:nvPr/>
        </p:nvSpPr>
        <p:spPr>
          <a:xfrm>
            <a:off x="3564702" y="3977640"/>
            <a:ext cx="749808" cy="201168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DF42C7F-558E-EB8E-FC8D-B914D3C77F07}"/>
              </a:ext>
            </a:extLst>
          </p:cNvPr>
          <p:cNvSpPr/>
          <p:nvPr/>
        </p:nvSpPr>
        <p:spPr>
          <a:xfrm>
            <a:off x="3601278" y="3977640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Fest PL (WAW/KRK)</a:t>
            </a:r>
            <a:endParaRPr lang="en-US" sz="65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DA0E29F1-3E35-0C82-05F7-AD5E65F85969}"/>
              </a:ext>
            </a:extLst>
          </p:cNvPr>
          <p:cNvSpPr/>
          <p:nvPr/>
        </p:nvSpPr>
        <p:spPr>
          <a:xfrm>
            <a:off x="1150686" y="4251960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20BEC40-0D7D-D4A1-C3A6-89F585FD8C52}"/>
              </a:ext>
            </a:extLst>
          </p:cNvPr>
          <p:cNvSpPr/>
          <p:nvPr/>
        </p:nvSpPr>
        <p:spPr>
          <a:xfrm>
            <a:off x="4369374" y="4270248"/>
            <a:ext cx="1554480" cy="201168"/>
          </a:xfrm>
          <a:prstGeom prst="rect">
            <a:avLst/>
          </a:prstGeom>
          <a:solidFill>
            <a:srgbClr val="E1306C"/>
          </a:solidFill>
          <a:ln w="6350">
            <a:solidFill>
              <a:srgbClr val="E1306C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99D322F5-E5BD-DBDF-4E87-4A0C2D66DBEC}"/>
              </a:ext>
            </a:extLst>
          </p:cNvPr>
          <p:cNvSpPr/>
          <p:nvPr/>
        </p:nvSpPr>
        <p:spPr>
          <a:xfrm>
            <a:off x="4405950" y="4270248"/>
            <a:ext cx="1517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Pilates Open Day partnerskie</a:t>
            </a:r>
            <a:endParaRPr lang="en-US" sz="65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188C8938-C9BE-D969-52F3-8862ABFFCEF9}"/>
              </a:ext>
            </a:extLst>
          </p:cNvPr>
          <p:cNvSpPr/>
          <p:nvPr/>
        </p:nvSpPr>
        <p:spPr>
          <a:xfrm>
            <a:off x="1150686" y="4544568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2C8CA618-42A5-D573-06E1-69C9E4392679}"/>
              </a:ext>
            </a:extLst>
          </p:cNvPr>
          <p:cNvSpPr/>
          <p:nvPr/>
        </p:nvSpPr>
        <p:spPr>
          <a:xfrm>
            <a:off x="6783390" y="4562856"/>
            <a:ext cx="749808" cy="201168"/>
          </a:xfrm>
          <a:prstGeom prst="rect">
            <a:avLst/>
          </a:prstGeom>
          <a:solidFill>
            <a:srgbClr val="9C27B0"/>
          </a:solidFill>
          <a:ln w="635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FDAD0029-C63D-B954-E453-4A7101976C8D}"/>
              </a:ext>
            </a:extLst>
          </p:cNvPr>
          <p:cNvSpPr/>
          <p:nvPr/>
        </p:nvSpPr>
        <p:spPr>
          <a:xfrm>
            <a:off x="6819966" y="4562856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Jesienny Yoga Festival</a:t>
            </a:r>
            <a:endParaRPr lang="en-US" sz="650" dirty="0"/>
          </a:p>
        </p:txBody>
      </p:sp>
    </p:spTree>
    <p:extLst>
      <p:ext uri="{BB962C8B-B14F-4D97-AF65-F5344CB8AC3E}">
        <p14:creationId xmlns:p14="http://schemas.microsoft.com/office/powerpoint/2010/main" val="17020131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4403C-386F-7677-8C2B-23A085312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B2F265-3E57-D8FC-FDB9-B210C71BB4F6}"/>
              </a:ext>
            </a:extLst>
          </p:cNvPr>
          <p:cNvSpPr/>
          <p:nvPr/>
        </p:nvSpPr>
        <p:spPr>
          <a:xfrm>
            <a:off x="438912" y="237744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HARMONOGRAM EVENTOW – SAMPLING PLAN</a:t>
            </a:r>
            <a:endParaRPr lang="en-US" sz="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50CC84-D5C7-909E-D4BA-98E281F44FD2}"/>
              </a:ext>
            </a:extLst>
          </p:cNvPr>
          <p:cNvSpPr/>
          <p:nvPr/>
        </p:nvSpPr>
        <p:spPr>
          <a:xfrm>
            <a:off x="438912" y="512064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Kiedy jestesmy na jakim evencie.</a:t>
            </a:r>
            <a:endParaRPr lang="en-US" sz="2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D595A7E-F3F8-4EBE-44A9-F8F65F0F8AE8}"/>
              </a:ext>
            </a:extLst>
          </p:cNvPr>
          <p:cNvSpPr/>
          <p:nvPr/>
        </p:nvSpPr>
        <p:spPr>
          <a:xfrm>
            <a:off x="1150686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613C788-35E9-42A8-770E-1422FBF81796}"/>
              </a:ext>
            </a:extLst>
          </p:cNvPr>
          <p:cNvSpPr/>
          <p:nvPr/>
        </p:nvSpPr>
        <p:spPr>
          <a:xfrm>
            <a:off x="1150686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8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8BDC0A2-4721-63DE-3553-0AC572D12B0D}"/>
              </a:ext>
            </a:extLst>
          </p:cNvPr>
          <p:cNvSpPr/>
          <p:nvPr/>
        </p:nvSpPr>
        <p:spPr>
          <a:xfrm>
            <a:off x="1955358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71D742-F82F-1480-27BD-FF330EBA13AE}"/>
              </a:ext>
            </a:extLst>
          </p:cNvPr>
          <p:cNvSpPr/>
          <p:nvPr/>
        </p:nvSpPr>
        <p:spPr>
          <a:xfrm>
            <a:off x="1955358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A784246-4C96-D1E7-FD25-EE9539340190}"/>
              </a:ext>
            </a:extLst>
          </p:cNvPr>
          <p:cNvSpPr/>
          <p:nvPr/>
        </p:nvSpPr>
        <p:spPr>
          <a:xfrm>
            <a:off x="2760030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79EC067-E23A-D258-7959-68FB36CA4010}"/>
              </a:ext>
            </a:extLst>
          </p:cNvPr>
          <p:cNvSpPr/>
          <p:nvPr/>
        </p:nvSpPr>
        <p:spPr>
          <a:xfrm>
            <a:off x="2760030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8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42564B0-B22F-081F-F34B-FC0C84A8BE9E}"/>
              </a:ext>
            </a:extLst>
          </p:cNvPr>
          <p:cNvSpPr/>
          <p:nvPr/>
        </p:nvSpPr>
        <p:spPr>
          <a:xfrm>
            <a:off x="3564702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9B9CCBB-06D7-002B-2E49-BDCCB5A30F62}"/>
              </a:ext>
            </a:extLst>
          </p:cNvPr>
          <p:cNvSpPr/>
          <p:nvPr/>
        </p:nvSpPr>
        <p:spPr>
          <a:xfrm>
            <a:off x="3564702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FC8B738-4997-6BF4-87AF-8401DD0C6E9C}"/>
              </a:ext>
            </a:extLst>
          </p:cNvPr>
          <p:cNvSpPr/>
          <p:nvPr/>
        </p:nvSpPr>
        <p:spPr>
          <a:xfrm>
            <a:off x="4369374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85AD888-9188-5583-2A38-CDF2B5FFED11}"/>
              </a:ext>
            </a:extLst>
          </p:cNvPr>
          <p:cNvSpPr/>
          <p:nvPr/>
        </p:nvSpPr>
        <p:spPr>
          <a:xfrm>
            <a:off x="4369374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8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5830288-33DB-1266-21A4-B63AD84E0696}"/>
              </a:ext>
            </a:extLst>
          </p:cNvPr>
          <p:cNvSpPr/>
          <p:nvPr/>
        </p:nvSpPr>
        <p:spPr>
          <a:xfrm>
            <a:off x="5174046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60A7FF7-B570-F0F9-DCA9-408230AC6DA3}"/>
              </a:ext>
            </a:extLst>
          </p:cNvPr>
          <p:cNvSpPr/>
          <p:nvPr/>
        </p:nvSpPr>
        <p:spPr>
          <a:xfrm>
            <a:off x="5174046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2CBC0CE-E89E-1954-AFD4-3985935681AC}"/>
              </a:ext>
            </a:extLst>
          </p:cNvPr>
          <p:cNvSpPr/>
          <p:nvPr/>
        </p:nvSpPr>
        <p:spPr>
          <a:xfrm>
            <a:off x="5978718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6F4EE6C-6F90-C82F-A0CC-9750C8F9D6E2}"/>
              </a:ext>
            </a:extLst>
          </p:cNvPr>
          <p:cNvSpPr/>
          <p:nvPr/>
        </p:nvSpPr>
        <p:spPr>
          <a:xfrm>
            <a:off x="5978718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8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07343D1-C92E-C7F2-4601-95DAE1828155}"/>
              </a:ext>
            </a:extLst>
          </p:cNvPr>
          <p:cNvSpPr/>
          <p:nvPr/>
        </p:nvSpPr>
        <p:spPr>
          <a:xfrm>
            <a:off x="6783390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E50D2A0-C987-9ECE-639D-CB6D17821126}"/>
              </a:ext>
            </a:extLst>
          </p:cNvPr>
          <p:cNvSpPr/>
          <p:nvPr/>
        </p:nvSpPr>
        <p:spPr>
          <a:xfrm>
            <a:off x="6783390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8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66F637E-CF79-62EA-847A-89E18C2851F6}"/>
              </a:ext>
            </a:extLst>
          </p:cNvPr>
          <p:cNvSpPr/>
          <p:nvPr/>
        </p:nvSpPr>
        <p:spPr>
          <a:xfrm>
            <a:off x="7588062" y="1088136"/>
            <a:ext cx="786384" cy="256032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02DE25C-0DDD-6DB9-BAF1-496596E164D0}"/>
              </a:ext>
            </a:extLst>
          </p:cNvPr>
          <p:cNvSpPr/>
          <p:nvPr/>
        </p:nvSpPr>
        <p:spPr>
          <a:xfrm>
            <a:off x="7588062" y="1088136"/>
            <a:ext cx="786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850" dirty="0"/>
          </a:p>
        </p:txBody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C0403B81-3FE0-01B2-63B0-0977CF624077}"/>
              </a:ext>
            </a:extLst>
          </p:cNvPr>
          <p:cNvSpPr/>
          <p:nvPr/>
        </p:nvSpPr>
        <p:spPr>
          <a:xfrm>
            <a:off x="256032" y="1487689"/>
            <a:ext cx="830646" cy="621792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B607A98A-6376-4FF0-1251-1A100477B297}"/>
              </a:ext>
            </a:extLst>
          </p:cNvPr>
          <p:cNvSpPr/>
          <p:nvPr/>
        </p:nvSpPr>
        <p:spPr>
          <a:xfrm>
            <a:off x="320040" y="1688857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DAY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SILOWNIE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CC112B2F-AA2C-F68F-CF4A-2722659E1311}"/>
              </a:ext>
            </a:extLst>
          </p:cNvPr>
          <p:cNvSpPr/>
          <p:nvPr/>
        </p:nvSpPr>
        <p:spPr>
          <a:xfrm>
            <a:off x="1150686" y="1505977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AAFB4A01-F6DA-FF7C-35BE-4EBD23ACF4B6}"/>
              </a:ext>
            </a:extLst>
          </p:cNvPr>
          <p:cNvSpPr/>
          <p:nvPr/>
        </p:nvSpPr>
        <p:spPr>
          <a:xfrm>
            <a:off x="2760030" y="1524265"/>
            <a:ext cx="749808" cy="20116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6E618EE0-6CE3-66D4-08B6-DA89DBA71AA0}"/>
              </a:ext>
            </a:extLst>
          </p:cNvPr>
          <p:cNvSpPr/>
          <p:nvPr/>
        </p:nvSpPr>
        <p:spPr>
          <a:xfrm>
            <a:off x="2796606" y="1524265"/>
            <a:ext cx="7132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Day Zdrofit (pilotaz Warszawa)</a:t>
            </a:r>
            <a:endParaRPr lang="en-US" sz="65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6475E36-F0FA-C8FC-3A52-22B305DB58AD}"/>
              </a:ext>
            </a:extLst>
          </p:cNvPr>
          <p:cNvSpPr/>
          <p:nvPr/>
        </p:nvSpPr>
        <p:spPr>
          <a:xfrm>
            <a:off x="1150686" y="1798585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4B2029FD-C057-5C1D-733C-32BE735CCBC3}"/>
              </a:ext>
            </a:extLst>
          </p:cNvPr>
          <p:cNvSpPr/>
          <p:nvPr/>
        </p:nvSpPr>
        <p:spPr>
          <a:xfrm>
            <a:off x="5174046" y="1816873"/>
            <a:ext cx="3163824" cy="201168"/>
          </a:xfrm>
          <a:prstGeom prst="rect">
            <a:avLst/>
          </a:prstGeom>
          <a:solidFill>
            <a:srgbClr val="FF6B00"/>
          </a:solidFill>
          <a:ln w="6350">
            <a:solidFill>
              <a:srgbClr val="FF6B00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DB6A8017-8DF5-594E-349B-F2F4AD831491}"/>
              </a:ext>
            </a:extLst>
          </p:cNvPr>
          <p:cNvSpPr/>
          <p:nvPr/>
        </p:nvSpPr>
        <p:spPr>
          <a:xfrm>
            <a:off x="5210622" y="1816873"/>
            <a:ext cx="3127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Day partnerskie sieci</a:t>
            </a:r>
            <a:endParaRPr lang="en-US" sz="650" dirty="0"/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2B38D03-82B7-887E-A1E6-0660FFBDB806}"/>
              </a:ext>
            </a:extLst>
          </p:cNvPr>
          <p:cNvSpPr/>
          <p:nvPr/>
        </p:nvSpPr>
        <p:spPr>
          <a:xfrm>
            <a:off x="256032" y="2146057"/>
            <a:ext cx="830646" cy="914400"/>
          </a:xfrm>
          <a:prstGeom prst="rect">
            <a:avLst/>
          </a:prstGeom>
          <a:solidFill>
            <a:srgbClr val="111111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A0DE241C-8438-078D-C1C7-98D058B498E3}"/>
              </a:ext>
            </a:extLst>
          </p:cNvPr>
          <p:cNvSpPr/>
          <p:nvPr/>
        </p:nvSpPr>
        <p:spPr>
          <a:xfrm>
            <a:off x="320040" y="2493529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750" dirty="0">
              <a:solidFill>
                <a:schemeClr val="bg1"/>
              </a:solidFill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7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CRM</a:t>
            </a:r>
            <a:endParaRPr lang="en-US" sz="750" dirty="0">
              <a:solidFill>
                <a:schemeClr val="bg1"/>
              </a:solidFill>
            </a:endParaRPr>
          </a:p>
        </p:txBody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163C3FA8-8AE9-BE54-ED11-62F803CA1B09}"/>
              </a:ext>
            </a:extLst>
          </p:cNvPr>
          <p:cNvSpPr/>
          <p:nvPr/>
        </p:nvSpPr>
        <p:spPr>
          <a:xfrm>
            <a:off x="1150686" y="2164345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933E13F2-1EE9-B96D-FB44-EF1EE955D585}"/>
              </a:ext>
            </a:extLst>
          </p:cNvPr>
          <p:cNvSpPr/>
          <p:nvPr/>
        </p:nvSpPr>
        <p:spPr>
          <a:xfrm>
            <a:off x="1955358" y="2182633"/>
            <a:ext cx="6382512" cy="201168"/>
          </a:xfrm>
          <a:prstGeom prst="rect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15BD8EB9-F9EE-254B-B5E3-4809E66F1223}"/>
              </a:ext>
            </a:extLst>
          </p:cNvPr>
          <p:cNvSpPr/>
          <p:nvPr/>
        </p:nvSpPr>
        <p:spPr>
          <a:xfrm>
            <a:off x="1991934" y="2182633"/>
            <a:ext cx="634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Zbieranie emaili + CRM upload</a:t>
            </a:r>
            <a:endParaRPr lang="en-US" sz="65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86C3DBC-1789-CD3C-F860-884739CBFBBD}"/>
              </a:ext>
            </a:extLst>
          </p:cNvPr>
          <p:cNvSpPr/>
          <p:nvPr/>
        </p:nvSpPr>
        <p:spPr>
          <a:xfrm>
            <a:off x="1150686" y="2456953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01623E24-3D41-9DA4-202B-9A118E9B54EE}"/>
              </a:ext>
            </a:extLst>
          </p:cNvPr>
          <p:cNvSpPr/>
          <p:nvPr/>
        </p:nvSpPr>
        <p:spPr>
          <a:xfrm>
            <a:off x="1955358" y="2475241"/>
            <a:ext cx="6382512" cy="201168"/>
          </a:xfrm>
          <a:prstGeom prst="rect">
            <a:avLst/>
          </a:prstGeom>
          <a:solidFill>
            <a:srgbClr val="555555"/>
          </a:solidFill>
          <a:ln w="635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B369A0FF-EB1C-44BB-6D98-4A7C8EA99CEA}"/>
              </a:ext>
            </a:extLst>
          </p:cNvPr>
          <p:cNvSpPr/>
          <p:nvPr/>
        </p:nvSpPr>
        <p:spPr>
          <a:xfrm>
            <a:off x="1991934" y="2475241"/>
            <a:ext cx="6345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Repost UGC z eventow</a:t>
            </a:r>
            <a:endParaRPr lang="en-US" sz="650" dirty="0"/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23973B4C-985F-279C-EB55-F20F6D295BA8}"/>
              </a:ext>
            </a:extLst>
          </p:cNvPr>
          <p:cNvSpPr/>
          <p:nvPr/>
        </p:nvSpPr>
        <p:spPr>
          <a:xfrm>
            <a:off x="1150686" y="2749561"/>
            <a:ext cx="7223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8DD099B9-A252-4C1B-1A6A-6441D19CA64C}"/>
              </a:ext>
            </a:extLst>
          </p:cNvPr>
          <p:cNvSpPr/>
          <p:nvPr/>
        </p:nvSpPr>
        <p:spPr>
          <a:xfrm>
            <a:off x="2760030" y="2767849"/>
            <a:ext cx="5577840" cy="201168"/>
          </a:xfrm>
          <a:prstGeom prst="rect">
            <a:avLst/>
          </a:prstGeom>
          <a:solidFill>
            <a:srgbClr val="888888"/>
          </a:solidFill>
          <a:ln w="635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428DB358-1337-64E2-8FC4-356AAACC1840}"/>
              </a:ext>
            </a:extLst>
          </p:cNvPr>
          <p:cNvSpPr/>
          <p:nvPr/>
        </p:nvSpPr>
        <p:spPr>
          <a:xfrm>
            <a:off x="2796606" y="2767849"/>
            <a:ext cx="55412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flow do leadow z eventow</a:t>
            </a:r>
            <a:endParaRPr lang="en-US" sz="65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4553BC0E-23E8-BA9F-3432-D715E6DBC138}"/>
              </a:ext>
            </a:extLst>
          </p:cNvPr>
          <p:cNvSpPr/>
          <p:nvPr/>
        </p:nvSpPr>
        <p:spPr>
          <a:xfrm>
            <a:off x="256032" y="3188473"/>
            <a:ext cx="8118414" cy="182880"/>
          </a:xfrm>
          <a:prstGeom prst="rect">
            <a:avLst/>
          </a:prstGeom>
          <a:solidFill>
            <a:srgbClr val="222222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F31C27FB-6152-F1B1-1C70-57D1CDE565B2}"/>
              </a:ext>
            </a:extLst>
          </p:cNvPr>
          <p:cNvSpPr/>
          <p:nvPr/>
        </p:nvSpPr>
        <p:spPr>
          <a:xfrm>
            <a:off x="347472" y="3206761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LACZNIE: 20+ eventow | 5 000 probek | ~30 500 zl budzetu | Est. 1 000+ nowych klientow | 1 000+ emaili do CRM</a:t>
            </a:r>
            <a:endParaRPr lang="en-US" sz="75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563F61D7-1480-D14A-BEF4-68A945EB6279}"/>
              </a:ext>
            </a:extLst>
          </p:cNvPr>
          <p:cNvSpPr/>
          <p:nvPr/>
        </p:nvSpPr>
        <p:spPr>
          <a:xfrm>
            <a:off x="256032" y="3407929"/>
            <a:ext cx="8118414" cy="182880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40B849BB-10C6-C0B6-A130-577A231E22D2}"/>
              </a:ext>
            </a:extLst>
          </p:cNvPr>
          <p:cNvSpPr/>
          <p:nvPr/>
        </p:nvSpPr>
        <p:spPr>
          <a:xfrm>
            <a:off x="347472" y="3426217"/>
            <a:ext cx="8321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KLUCZOWE: Sampling z eventem = NAJSZYBSZA droga do pierwszego zakupu. Klient probuje, lubi, ma kod -15% wazny 48h – kupuje jeszcze tego samego dnia.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634068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68680"/>
            <a:ext cx="8321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0" b="1" kern="0" spc="5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VOLTE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02920" y="2395728"/>
            <a:ext cx="4389120" cy="36576"/>
          </a:xfrm>
          <a:prstGeom prst="rect">
            <a:avLst/>
          </a:prstGeom>
          <a:solidFill>
            <a:srgbClr val="7B1FA2"/>
          </a:solidFill>
          <a:ln w="63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502920" y="2560320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to najszybsza droga do pierwszego zakupu.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312724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 PROBEK  |  20+ EVENTOW  |  9 MIESIECY  |  ROI &gt;14x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3991356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640080" y="40827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6131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probek rozdanych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3991356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3474720" y="40827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~1 040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74720" y="46131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nowych klientow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3991356"/>
            <a:ext cx="2633472" cy="1152144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3" name="Text 11"/>
          <p:cNvSpPr/>
          <p:nvPr/>
        </p:nvSpPr>
        <p:spPr>
          <a:xfrm>
            <a:off x="6309360" y="408279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30 500 zl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09360" y="46131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budzet samplingu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13614</Words>
  <Application>Microsoft Macintosh PowerPoint</Application>
  <PresentationFormat>Pokaz na ekranie (16:9)</PresentationFormat>
  <Paragraphs>2398</Paragraphs>
  <Slides>70</Slides>
  <Notes>70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70</vt:i4>
      </vt:variant>
    </vt:vector>
  </HeadingPairs>
  <TitlesOfParts>
    <vt:vector size="73" baseType="lpstr">
      <vt:lpstr>Arial</vt:lpstr>
      <vt:lpstr>Arial Black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Volte – Lejek Allegro</dc:title>
  <dc:subject>PptxGenJS Presentation</dc:subject>
  <dc:creator>PptxGenJS</dc:creator>
  <cp:lastModifiedBy>Tadeusz Cymer</cp:lastModifiedBy>
  <cp:revision>4</cp:revision>
  <dcterms:created xsi:type="dcterms:W3CDTF">2026-04-25T00:18:00Z</dcterms:created>
  <dcterms:modified xsi:type="dcterms:W3CDTF">2026-04-25T13:48:44Z</dcterms:modified>
</cp:coreProperties>
</file>