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321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502920" y="2359152"/>
            <a:ext cx="4937760" cy="36576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48716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PROTEIN WATER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9443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 MARKETINGOWA &amp; KOMUNIKACYJNA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  /  NATURALNY SKŁAD  /  ZERO CUKRU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4279392"/>
            <a:ext cx="260604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2793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4279392"/>
            <a:ext cx="260604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2793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NATURALNY SKŁAD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4279392"/>
            <a:ext cx="260604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42793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CUKRU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ZAWARTOŚĆ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9436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 Marki Volté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1417320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47218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618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SWOT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1728" y="1417320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8888" y="147218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618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 Komunikacji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" y="2139696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1945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3408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Pozycjonowanie &amp; USP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1728" y="2139696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21945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23408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Kanały &amp; Dystrybucja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" y="2862072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1693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Grupy Docelowe &amp; Persony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862072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91693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0632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Harmonogram &amp; KPI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2608" y="3584448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6393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7856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Estymacja Budżetowa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81728" y="3584448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6393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37856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 Żabka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92608" y="4306824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436168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5840" y="450799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Konkurencji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81728" y="4306824"/>
            <a:ext cx="42062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436168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94960" y="450799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Źródła &amp; Metodologia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ANALIZA SWOT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stoi Volté?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206240" cy="1810512"/>
          </a:xfrm>
          <a:prstGeom prst="rect">
            <a:avLst/>
          </a:prstGeom>
          <a:solidFill>
            <a:srgbClr val="E8F5E9"/>
          </a:solidFill>
          <a:ln w="6350">
            <a:solidFill>
              <a:srgbClr val="E8F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98448"/>
            <a:ext cx="4206240" cy="274320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3502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/ MOCNE STRONY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Whey – brak posmaku mlecznego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cukru + stewia + erytrytol (100% naturalne)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Izolat białka z UE (grass-fed)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Magnez + Wit. C – unikalne wśród konkurentów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Lekki gaz – percepcja świeżości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Puszka 330ml – wygoda i system kaucyjny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26864" y="1298448"/>
            <a:ext cx="4206240" cy="1810512"/>
          </a:xfrm>
          <a:prstGeom prst="rect">
            <a:avLst/>
          </a:prstGeom>
          <a:solidFill>
            <a:srgbClr val="FFEBEE"/>
          </a:solidFill>
          <a:ln w="6350">
            <a:solidFill>
              <a:srgbClr val="FFEB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298448"/>
            <a:ext cx="4206240" cy="274320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33502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 / SŁABE STRONY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36592" y="1627632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suplementu diety (wymogi prawne)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 białka vs. 20g u konkurencji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Wyższa cena niż Freeway w Lidlu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Nowa marka – niska świadomość rynkowa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Zmienna cena izolatu białkowego (marża)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3200400"/>
            <a:ext cx="4206240" cy="1810512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3200400"/>
            <a:ext cx="4206240" cy="274320"/>
          </a:xfrm>
          <a:prstGeom prst="rect">
            <a:avLst/>
          </a:prstGeom>
          <a:solidFill>
            <a:srgbClr val="0D47A1"/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3697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/ SZANSE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3529584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Clean Label – naturalne składniki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Kultura sportu i zdrowego trybu życia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Żabka, e-commerce (q-commerce)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podatku cukrowego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Polityka prozdrowotna i walka z otyłością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Kategoria 'affordable luxury' rośnie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3200400"/>
            <a:ext cx="4206240" cy="1810512"/>
          </a:xfrm>
          <a:prstGeom prst="rect">
            <a:avLst/>
          </a:prstGeom>
          <a:solidFill>
            <a:srgbClr val="FFFDE7"/>
          </a:solidFill>
          <a:ln w="6350">
            <a:solidFill>
              <a:srgbClr val="FFFD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3200400"/>
            <a:ext cx="4206240" cy="274320"/>
          </a:xfrm>
          <a:prstGeom prst="rect">
            <a:avLst/>
          </a:prstGeom>
          <a:solidFill>
            <a:srgbClr val="7B5E00"/>
          </a:solidFill>
          <a:ln w="6350">
            <a:solidFill>
              <a:srgbClr val="7B5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323697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/ ZAGROŻENIA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36592" y="3529584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Freeway w Lidlu – masowa dystrybucja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MyProtein – silna marka globalna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 wejścia w segmencie clear whey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Regulacje prawne suplementów diety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Wrażliwość cenowa konsumentów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POZYCJONOWANIE &amp; USP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 to jest Volté?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8449056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533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PROPOZYCJA WARTOŚCI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aktywnych konsumentów, którzy szukają naturalnego i lekkiego sposobu na dostarczenie białka – Volté to lekki napój białkowy, który nie smakuje mlekiem i nie zawiera cukru.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2423160"/>
            <a:ext cx="2743200" cy="246888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487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28529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NATURALNOŚĆ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312724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naturalnych aromatów, stewia + erytrytol zamiast sztucznych słodzików. Clean Label bez kompromisów.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2743200" cy="246888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87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8529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LEKKOŚĆ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312724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Whey – klarowny napój bez posmaku mlecznego. Lekki gaz dla odczucia świeżości i lepszego trawienia.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2423160"/>
            <a:ext cx="2743200" cy="246888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2487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90488" y="28529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FUNKCJONALNOŚĆ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312724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Izolat białka serwatkowego z UE + Magnez + Wit. C. Zero cukru, zero podatku cukrowego.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4983480"/>
            <a:ext cx="844905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109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Lekkosc wody, sila bialka.     Twoj naturalny ruch.     Naturalne orzeźwienie. Szybka regeneracja.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GRUPY DOCELOWE &amp; PERSONY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kogo mówimy?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2816352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98448"/>
            <a:ext cx="2816352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44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  Lifestylowy Fitness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25–40 lat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K / 30% 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852928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Chcę dbać o ciało bez kompromisów z naturalnym składem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419856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36027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cukru, clean label, lekki napój na jogę / pilates / taniec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98678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KANAŁY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4169664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Instagram, TikTok, sklepy food e-commerce, siłownia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4828032"/>
            <a:ext cx="2651760" cy="274320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463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chcę pić gęstego shake'a. Chcę coś lekkiego, co mi smakuje."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1298448"/>
            <a:ext cx="2816352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298448"/>
            <a:ext cx="2816352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344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  Urban Achievers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71907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10128" y="1901952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28–45 lat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2286000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10128" y="246888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K / 50% 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2852928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10128" y="303580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 mało czasu – potrzebuję białka w biegu, bez mlecznego posmaku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3419856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10128" y="36027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Wygoda puszki, on-the-go, Żabka, szybka dostawa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398678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KANAŁY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10128" y="4169664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LinkedIn, Instagram, Żabka, q-commerce (Glovo, Bolt)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4828032"/>
            <a:ext cx="2651760" cy="274320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48463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Biegnę z pracy na siłownię – potrzebuję białka teraz, nie po powrocie."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44768" y="1298448"/>
            <a:ext cx="2816352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4768" y="1298448"/>
            <a:ext cx="2816352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344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  Healthy Lifestyle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54496" y="171907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54496" y="1901952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20–45 lat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54496" y="2286000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54496" y="246888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K / 50% 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54496" y="2852928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54496" y="303580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Szukam zdrowszej alternatywy dla zwykłej sody czy energetyków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54496" y="3419856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CHCE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54496" y="36027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Zdrowy zamiennik napojów gazowanych, bez cukru, z korzyścią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54496" y="398678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KANAŁY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54496" y="4169664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YouTube, TikTok, e-commerce health, drogerie z food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36208" y="4828032"/>
            <a:ext cx="2651760" cy="274320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48463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Chcę pić coś smacznego bez wyrzutów sumienia."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03B / GRUPY DOCELOWE – ŹRÓDŁA DANYCH I METODOLOGIA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wzięliśmy persony. Dane, nie intuicja.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8631936" cy="12618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61872"/>
            <a:ext cx="45720" cy="12618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167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 – LIFESTYLOWY FITNESS (25–40 lat, 70% K)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ILOŚCIOWE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GfK / Kantar: 'Health &amp; Wellness Shopper Poland 2024' – profile nabywców clean label wg płci i aktywności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Euromonitor: 'Sports Nutrition Poland 2024' – segmentacja motywacji zakupowych (lifestyle vs. performance)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CBOS 'Aktywność fizyczna Polaków 2024': joga 18%, pilates 12%, taniec 14% wśród kobiet 25–40 lat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36976" y="15361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LISTENING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36976" y="1719072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Brand24: analiza 50 000+ postów #cleanlabel #zerocukru #napojbialowy IG/TikTok, Q4 2024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Audience Insights: demografia followersów @codziennie_fit – kobiety 25–40 = 68% audytorium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Creative Center PL: kategoria 'protein drinks' – wzrost wyświetleń +180% YoY 2024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89904" y="15361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RESEARCH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089904" y="1719072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Statista 2024: kobiety = 61% nabywców suplementów diety kategorii wellness (nie sport) w Polsce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1 200 recenzji produktów clear whey na Ceneo/Allegro – profil demograficzny i motywacje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2560320"/>
            <a:ext cx="8631936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0320"/>
            <a:ext cx="45720" cy="126187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151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 – URBAN ACHIEVERS (28–45 lat, 50/50)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8346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ILOŚCIOWE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3017520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 'Rynek pracy w miastach 2024': 2,1 mln pracowników korporacyjnych w top 5 miastach PL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Żabka Group Annual Report 2023: peaki 7:00–9:00 i 16:00–19:00 – dominuje on-the-go nutrition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Bolt Food / Glovo: 'Q-commerce Trends PL 2024' – wzrost 'healthy drinks' +47% YoY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36976" y="28346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LISTENING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36976" y="3017520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zawody followersów kont fitness PL – IT 22%, finanse 18%, marketing 15% (próba 5k profili)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Audience Insights kont urban wellness PL: wiek 28–45 = 62% audytorium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Trends PL: 'białko w pracy', 'napój proteinowy sklep' – wzrost +84% YoY 2024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89904" y="28346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RESEARCH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089904" y="3017520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'Warsaw Business District Report 2024': 380k pracowników biurowych Śródmieście + Mokotów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Badanie własne: ankieta 200 pracowników korporacyjnych (W-wa, Kr, Wr) dot. nawyków, styczeń 2025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3858768"/>
            <a:ext cx="8631936" cy="12618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858768"/>
            <a:ext cx="45720" cy="1261872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13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 – HEALTHY LIFESTYLE (20–45 lat, 50/50)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413308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ILOŚCIOWE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4315968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PMR: 'Rynek napojów funkcjonalnych Polska 2024' – 'sugar-free healthy drinks' rośnie +31% YoY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NielsenIQ: penetracja 'zero cukru + funkcja' wśród 20–45 lat = 34% (dane Q4 2024)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CBOS 'Żywienie Polaków 2024': 44% deklaruje ograniczenie cukru w diecie w ost. 12 mies.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36976" y="413308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LISTENING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36976" y="4315968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PL: analiza komentarzy 200 filmów zdrowy styl życia (n=120k) – motywacje zakupowe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TikTok: #zdrowyzamiennik #zerocukru – 240 mln wyświetleń w Polsce 2024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870 opinii Freeway Protein Water Lidl (Google Maps, Ceneo) – profil demograficzny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89904" y="413308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RESEARCH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089904" y="4315968"/>
            <a:ext cx="27797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Euromonitor 'Clean Label Consumer 2024': 61% polskich konsumentów czyta skład przed zakupem napoju</a:t>
            </a:r>
            <a:endParaRPr lang="en-US" sz="7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Kantar dla Żabka Group 2024: zdrowie = motywacja #1 zakupu w convenience (38% wskazań)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56032" y="5102352"/>
            <a:ext cx="8631936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514807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Triangulacja 3 źródeł (dane ilościowe + social listening + desk research) dla każdej TG | Okres: Q3 2023–Q1 2025 | Badanie własne: n=200 respondentów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STRATEGIA KOMUNIKACJI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mówimy do odbiorcy?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261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OF VOICE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8912" y="1508760"/>
            <a:ext cx="1508760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087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Pewny siebie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66544" y="1508760"/>
            <a:ext cx="1508760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6544" y="15087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94176" y="1508760"/>
            <a:ext cx="1508760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15087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Motywujący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21808" y="1508760"/>
            <a:ext cx="1508760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15087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Konkretny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1508760"/>
            <a:ext cx="1508760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5087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Nieagresywny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19933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KOMUNIKATY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2267712"/>
            <a:ext cx="2779776" cy="267004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267712"/>
            <a:ext cx="2779776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2257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 – Lifestylowy Fitness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633472"/>
            <a:ext cx="2578608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Lekkość wody, siła białka.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Joga, pilates, taniec – ruch naturalny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Estetyka: boho, naturalność, beige &amp; grey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779776" cy="267004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267712"/>
            <a:ext cx="2779776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32257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 – Urban Achievers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633472"/>
            <a:ext cx="2578608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 miejska energia.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On-the-go, after-work, przed meetingiem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Estetyka: urban, dynamika, czarno-szara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53328" y="2267712"/>
            <a:ext cx="2779776" cy="267004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2267712"/>
            <a:ext cx="2779776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32257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 – Healthy Lifestyle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63056" y="2633472"/>
            <a:ext cx="2578608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Zdrowy zamiennik dla sody.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Orzeźwienie + białko + brak wyrzutów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Estetyka: owoce, woda, kolory smaku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KANAŁY &amp; DYSTRYBUCJA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i jak docieramy?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1298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1536192"/>
            <a:ext cx="4114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36192"/>
            <a:ext cx="4572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91056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Siłownie &amp; studia fitness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Punkty lodówkowe przy wejściu, darmowa próbka przy zakupie karnetu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2249424"/>
            <a:ext cx="4114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2249424"/>
            <a:ext cx="4572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30428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Żabka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523744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'On-the-go nutrition', lodówka przy kasie – launch Faza 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962656"/>
            <a:ext cx="4114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962656"/>
            <a:ext cx="4572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Sklepy food &amp; sport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236976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Decathlon, sklepy z suplementami, premium deli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129844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536192"/>
            <a:ext cx="4224528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36192"/>
            <a:ext cx="4572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591056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Własny sklep e-commerce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91456" y="1810512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D2C, subskrypcja, darmowa próbka do pierwszego zamówienia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249424"/>
            <a:ext cx="4224528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249424"/>
            <a:ext cx="4572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2304288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/ Amazon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91456" y="2523744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Widoczność w kategorii suplementy &amp; napoje sportowe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962656"/>
            <a:ext cx="4224528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962656"/>
            <a:ext cx="4572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3017520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Q-commerce (Bolt, Glovo)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1456" y="3236976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Dostawa &lt; 30 min – idealny dla Urban Achievers po treningu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6032" y="3776472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&amp; EARNED MEDIA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4005072"/>
            <a:ext cx="201168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5993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(Instagram/FB)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4256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 + TG3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Retargeting, lookalike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32304" y="4005072"/>
            <a:ext cx="201168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405993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(Search + Display)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42032" y="44256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Intent: 'napój białkowy'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'clear whey bez cukru'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08576" y="4005072"/>
            <a:ext cx="201168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405993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18304" y="44256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 + TG3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feel, UGC style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84848" y="4005072"/>
            <a:ext cx="201168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4576" y="405993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94576" y="44256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&amp; micro (5k–100k)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Fitness, wellbeing, food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HARMONOGRAM &amp; KPI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Roadmapa uruchomienia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084832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2984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5179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Przygotowanie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17739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1–2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975104"/>
            <a:ext cx="20848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2996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Kreacje, landing page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plan (siłownie)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tracking &amp; CRM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influencerów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261872"/>
            <a:ext cx="2084832" cy="47548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2984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5179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42032" y="17739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3–4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50592" y="1975104"/>
            <a:ext cx="20848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02996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kampanii Meta + Google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Wejście do siłowni (lodówki)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Pierwsza fala contentu TikTok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testy kreacji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1261872"/>
            <a:ext cx="2084832" cy="47548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2984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5179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Optymalizacja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36592" y="17739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5–6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45152" y="1975104"/>
            <a:ext cx="20848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02996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wyników, skalowanie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Negocjacje z Żabką / e-com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Expand: nowe smaki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Letnia kampania outdoor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39712" y="1261872"/>
            <a:ext cx="2084832" cy="47548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12984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31152" y="15179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&amp; Scale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31152" y="17739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7–9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39712" y="1975104"/>
            <a:ext cx="20848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02996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Pełny raport ROI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sezonu jesień-zima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lojalnościowy D2C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&amp; earned media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" y="376732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KPI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4005072"/>
            <a:ext cx="164592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05993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Świadomość marki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37083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15% unaided w TG po 6 mies.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75104" y="4005072"/>
            <a:ext cx="164592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66544" y="405993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 units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066544" y="437083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MoM w Mies. 4–6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94176" y="4005072"/>
            <a:ext cx="164592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5616" y="405993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(Meta + Google)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85616" y="437083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3,5x w fazie launch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13248" y="4005072"/>
            <a:ext cx="164592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04688" y="405993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Punkty dystrybucji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04688" y="437083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offline do Mies. 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4005072"/>
            <a:ext cx="1645920" cy="11704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405993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&amp; influencer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23760" y="437083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2M wyświetleń łącznie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5840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606040"/>
            <a:ext cx="4389120" cy="3657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614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MARKETINGOWY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MIESIĘCY  |  BUDŻET 250 000–400 000 ZŁ  |  TOP 5 MIAST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251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ŚWIADOMOŚĆ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2606040" cy="274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4251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4535424"/>
            <a:ext cx="2606040" cy="274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4251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LOJALNOŚĆ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4535424"/>
            <a:ext cx="2606040" cy="274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BRIEF KAMPANII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cel. Jedna obietnica. Dziewięć miesięcy.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8449056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533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MINDED PROPOSITION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Sprawić, żeby aktywny konsument w 5 miastach skojarzył Volté z lekkim, naturalnym napojem białkowym i sięgnął po niego zamiast sody lub shake'a mlecznego.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2450592"/>
            <a:ext cx="1627632" cy="239572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50545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8912" y="31089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3328416"/>
            <a:ext cx="146304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Budowanie świadomości Volté wśród TG1+TG2 w 5 miastach (W-wa, Kr, Wr, Tr, Poz)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39112" y="2450592"/>
            <a:ext cx="1627632" cy="239572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250545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130552" y="31089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30552" y="3328416"/>
            <a:ext cx="146304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 &gt;15% w TG | Sell-out Żabka &gt;3 szt/sklep/d | ROAS paid &gt;3,5x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0752" y="2450592"/>
            <a:ext cx="1627632" cy="239572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250545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822192" y="31089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22192" y="3328416"/>
            <a:ext cx="146304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 250–400k zł | Dystrybucja 590–730 lok. | 16 kont influencerskich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22392" y="2450592"/>
            <a:ext cx="1627632" cy="239572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3832" y="250545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513832" y="31089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13832" y="3328416"/>
            <a:ext cx="146304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Rośnie segment clear whey | Trend clean label | Polityka anty-cukrowa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14032" y="2450592"/>
            <a:ext cx="1627632" cy="239572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50545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7205472" y="31089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205472" y="3328416"/>
            <a:ext cx="146304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miesięcy: Faza 1 (M1–2) | Faza 2 (M3–4) | Faza 3 (M5–6) | Faza 4 (M7–9)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LEJEK MARKETINGOWY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pierwszego kontaktu do lojalniego klienta.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2048256" cy="382219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5331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10512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Świadomość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1–4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2231136"/>
            <a:ext cx="19019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Aktywni 20–45 lat, top 5 miast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istnieje. Jest naturalny. Jest lekki."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(broad)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viral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Tier A+B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earned media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371246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&gt;5M | Freq 5–7x | Brand recall &gt;10%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407822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budżetu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50592" y="1298448"/>
            <a:ext cx="2048256" cy="382219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35331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1810512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Rozważanie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2032" y="20116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3–6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23744" y="2231136"/>
            <a:ext cx="19019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22860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Odwiedzający LP, obserwatorzy SM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42032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jest lepszy. Sprawdź."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42032" y="3072384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Meta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Display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po zapisie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Żappka geo-trigger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42032" y="371246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&gt;2% | LP czas &gt;1:20 | Add-to-cart &gt;8%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42032" y="407822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budżetu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26864" y="1298448"/>
            <a:ext cx="2048256" cy="3822192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35331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18304" y="1810512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18304" y="20116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4–9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0016" y="2231136"/>
            <a:ext cx="19019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2860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Gotowi do zakupu, użytkownicy Żappki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18304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 teraz. -10% na start."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18304" y="3072384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intent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retargeting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Żappka kupon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Żabka listing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8304" y="371246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&gt;3,5x | CPO &lt;28 zł | Konwersja &gt;4%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18304" y="407822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budżetu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03136" y="1298448"/>
            <a:ext cx="2048256" cy="3822192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135331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94576" y="1810512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Lojalność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94576" y="20116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6–9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76288" y="2231136"/>
            <a:ext cx="19019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22860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Klienci którzy już kupili Volté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94576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Wróć. Nowy smak. Poleć."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94576" y="3072384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SMS CRM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Żappka retencja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repost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ambasadorski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94576" y="371246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 &gt;35% | NPS &gt;45 | UGC &gt;200/mies.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94576" y="407822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budżetu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KAMPANIE TEMATYCZNE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kampanie. 1 spójna historia marki.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224528" cy="18836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9844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624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 01  |  VOLTÉ YOUR 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12464" y="1353312"/>
            <a:ext cx="69494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1353312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1–3  |  Faza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892808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Pierwsze skojarzenie z marką. Zero sprzedaży – 100% pamięci.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Serie krótkich filmów 6–15 sek.: biuro, siłownia, joga. Na końcu: Volté. Bez nachalnej sprzedaży.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71576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Formaty: Reels 6 sek., TikTok 9 sek., Stories, OOH digital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Reach &gt;2M | Frequency 5x | Brand recall +8pp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0016" y="1298448"/>
            <a:ext cx="4224528" cy="18836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29844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3624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 02  |  PRZETESTUJ VOLTÉ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1353312"/>
            <a:ext cx="694944" cy="21945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1353312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809744" y="170078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3–5  |  Faza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9744" y="1892808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Pierwsza konwersja: próbka lub zakup. Zamiana awareness w kontakt z produktem.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9744" y="2231136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Sampling w 50 siłowniach + kampania 'Odbierz darmową próbkę'. Influencerzy robią blind test.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9744" y="271576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Formaty: Lead ad Meta, landing page próbki, TikTok blind-test, push Żappka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09744" y="290779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5 000+ prób | CTR lead ad &gt;3% | Koszt próby &lt;12 zł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3273552"/>
            <a:ext cx="4224528" cy="18836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273552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375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 03  |  ZNAJDŹ VOLTÉ W ŻABCE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12464" y="3328416"/>
            <a:ext cx="694944" cy="21945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3328416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65760" y="36758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5–6  |  Faza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386791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Napędzenie sell-outu w Żabce. Min. 3 szt./sklep/dzień od pierwszego tygodnia.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20624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Geo-targeting Żappka: push 'Volté jest już w Twojej Żabce' do użytkowników w 200m.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469087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Formaty: Żappka push + kupon, Meta geo-retargeting, shelf talker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" y="488289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Sell-out &gt;3 szt/sklep/d | Redemption kuponu &gt;12% | Zasięg geo &gt;500k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00016" y="3273552"/>
            <a:ext cx="4224528" cy="18836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0016" y="3273552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33375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 04  |  VOLTUJ SIĘ Z NAMI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56448" y="3328416"/>
            <a:ext cx="694944" cy="219456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6448" y="3328416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+ SCALE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809744" y="36758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7–9  |  Faza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9744" y="386791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Utrzymanie kupujących i efekt poleceń. Nowy smak lub SKU.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9744" y="420624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Program 'Ambasador Volté': aktywni klienci D2C dostają ekskluzywne pudło z nowym smakiem.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9744" y="469087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Formaty: Email flow, UGC repost, Żappka retencja, unboxing influencer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09744" y="488289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Repeat rate &gt;35% | UGC &gt;200/mies. | NPS &gt;45 | CPA &lt;22 zł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KALENDARZ KAMPANII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się dzieje kiedy – przez 9 miesięcy.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87168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7168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96512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01184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05856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05856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10528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19872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24544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24544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1572768"/>
            <a:ext cx="159105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1572768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 – Przygotowanie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096512" y="1572768"/>
            <a:ext cx="1591056" cy="21945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1572768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 – Launch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705856" y="1572768"/>
            <a:ext cx="1591056" cy="21945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1572768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 – Skalowanie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315200" y="1572768"/>
            <a:ext cx="2395728" cy="219456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1572768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 – Ekspansja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56032" y="1847088"/>
            <a:ext cx="2176272" cy="13533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4140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87168" y="1865376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87168" y="1883664"/>
            <a:ext cx="7187184" cy="22860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32888" y="1883664"/>
            <a:ext cx="7150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(broad awareness)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87168" y="2194560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96512" y="2212848"/>
            <a:ext cx="5577840" cy="22860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42232" y="2212848"/>
            <a:ext cx="5541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Search+Display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487168" y="2523744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96512" y="2542032"/>
            <a:ext cx="5577840" cy="22860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42232" y="2542032"/>
            <a:ext cx="5541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487168" y="2852928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2871216"/>
            <a:ext cx="6382512" cy="228600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2871216"/>
            <a:ext cx="6345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Żappka sponsored+kupon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6032" y="3255264"/>
            <a:ext cx="2176272" cy="13533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487168" y="3273552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87168" y="3291840"/>
            <a:ext cx="3163824" cy="22860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32888" y="3291840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Tier B – barter launch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487168" y="3602736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3621024"/>
            <a:ext cx="6382512" cy="22860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3621024"/>
            <a:ext cx="6345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Tier A – retainer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487168" y="3931920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96512" y="3950208"/>
            <a:ext cx="1554480" cy="22860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42232" y="3950208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Tier A – jednorazowe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487168" y="4261104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0" y="4279392"/>
            <a:ext cx="2359152" cy="228600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0920" y="4279392"/>
            <a:ext cx="2322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 Rezerwa (Faza 4)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KALENDARZ KAMPANII – TRADE &amp; OWNED MEDIA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się dzieje kiedy – przez 9 miesięcy. cd.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87168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7168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96512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01184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05856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05856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10528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19872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24544" y="1261872"/>
            <a:ext cx="78638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24544" y="126187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1572768"/>
            <a:ext cx="159105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1572768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096512" y="1572768"/>
            <a:ext cx="1591056" cy="21945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1572768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705856" y="1572768"/>
            <a:ext cx="1591056" cy="21945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1572768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315200" y="1572768"/>
            <a:ext cx="2395728" cy="219456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1572768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56032" y="1847088"/>
            <a:ext cx="2176272" cy="168249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&amp; POS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87168" y="1865376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87168" y="1883664"/>
            <a:ext cx="1554480" cy="22860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32888" y="1883664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Master + projekt POS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87168" y="2194560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87168" y="2212848"/>
            <a:ext cx="2359152" cy="22860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32888" y="2212848"/>
            <a:ext cx="2322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sprzedażowy (Żabka+B2B)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487168" y="2523744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87168" y="2542032"/>
            <a:ext cx="4773168" cy="22860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32888" y="2542032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– siłownie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487168" y="2852928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05856" y="2871216"/>
            <a:ext cx="1554480" cy="22860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1576" y="2871216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Druk POS + dostawa Żabka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487168" y="3182112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05856" y="3200400"/>
            <a:ext cx="3968496" cy="228600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51576" y="3200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Żabka top 5 miast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56032" y="3584448"/>
            <a:ext cx="2176272" cy="13533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1513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MEDIA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87168" y="3602736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87168" y="3621024"/>
            <a:ext cx="7187184" cy="22860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32888" y="3621024"/>
            <a:ext cx="7150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Obsługa SM (9 mies.)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487168" y="3931920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87168" y="3950208"/>
            <a:ext cx="1554480" cy="22860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32888" y="3950208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+ D2C setup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487168" y="4261104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91840" y="4279392"/>
            <a:ext cx="6382512" cy="22860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4279392"/>
            <a:ext cx="6345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flow + CRM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487168" y="4590288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91840" y="4608576"/>
            <a:ext cx="6382512" cy="228600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4608576"/>
            <a:ext cx="6345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zbieranie + reposty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ESTYMACJA BUDŻETOWA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idzie każda złotówka.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371600"/>
            <a:ext cx="4125433" cy="32004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371600"/>
            <a:ext cx="41254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83480" y="13898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 (Meta+Google+TikTok)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83480" y="155448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158 000–160 000 zł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1792224"/>
            <a:ext cx="721951" cy="32004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92224"/>
            <a:ext cx="7219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8105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Żappka (kampania sponsored)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83480" y="1975104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28 000 zł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1237630" cy="32004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12848"/>
            <a:ext cx="12376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23113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Marketing (16 kont)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83480" y="2395728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 zł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633472"/>
            <a:ext cx="1031358" cy="32004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33472"/>
            <a:ext cx="10313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6517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Obsługa SM + Kreacje graficzne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81635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39 000 zł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054096"/>
            <a:ext cx="1237630" cy="32004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054096"/>
            <a:ext cx="12376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07238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+ Druk + Sampling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83480" y="3236976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47 500 zł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474720"/>
            <a:ext cx="1031358" cy="320040"/>
          </a:xfrm>
          <a:prstGeom prst="rect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474720"/>
            <a:ext cx="10313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49300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Żabka (opłata handlowa)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83480" y="3657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 zł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895344"/>
            <a:ext cx="206272" cy="320040"/>
          </a:xfrm>
          <a:prstGeom prst="rect">
            <a:avLst/>
          </a:prstGeom>
          <a:solidFill>
            <a:srgbClr val="777777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895344"/>
            <a:ext cx="20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91363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Materiały handlowe &amp; graficzne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83480" y="4078224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9 500 zł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4315968"/>
            <a:ext cx="309407" cy="320040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315968"/>
            <a:ext cx="3094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33425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SEO + Owned Media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83480" y="4498848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11 000 zł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4736592"/>
            <a:ext cx="412543" cy="320040"/>
          </a:xfrm>
          <a:prstGeom prst="rect">
            <a:avLst/>
          </a:prstGeom>
          <a:solidFill>
            <a:srgbClr val="44444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736592"/>
            <a:ext cx="4125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4754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Rezerwa 5%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83480" y="491947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15 900 zł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5193792"/>
            <a:ext cx="8449056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5230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(scenariusz bazowy):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52212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397 400 zł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ESTYMACJA BUDŻETOWA – TABELA ZBIORCZA (wersja finalna, s. 1/2)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złotówka zaraportowana. Matematycznie zamknięte.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816352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261872"/>
            <a:ext cx="281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90672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0672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1–2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69664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9664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3–4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48656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5–6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27648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7–9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06640" y="1261872"/>
            <a:ext cx="1097280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2618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1609344"/>
            <a:ext cx="863193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60934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810512"/>
            <a:ext cx="2816352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856232"/>
            <a:ext cx="2395728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(Instagram/FB)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17520" y="181051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81051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96512" y="181051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181051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18 000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75504" y="181051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181051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22 000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54496" y="181051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81051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20 000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33488" y="1810512"/>
            <a:ext cx="109728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3488" y="1810512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64 000 zł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061972"/>
            <a:ext cx="2816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107692"/>
            <a:ext cx="2395728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(Search + Display)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17520" y="206197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06197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96512" y="206197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96512" y="206197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10 000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75504" y="206197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504" y="206197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14 000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54496" y="206197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06197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12 000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33488" y="2061972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3488" y="2061972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38 000 zł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2313432"/>
            <a:ext cx="2816352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2359152"/>
            <a:ext cx="2395728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017520" y="231343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231343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96512" y="231343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6512" y="231343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175504" y="231343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75504" y="231343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12 000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54496" y="2313432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231343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10 000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33488" y="2313432"/>
            <a:ext cx="109728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2313432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30 000 zł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" y="2564892"/>
            <a:ext cx="2816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2610612"/>
            <a:ext cx="2395728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ŻAPPKA (sponsored)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017520" y="256489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256489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096512" y="256489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96512" y="256489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175504" y="256489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75504" y="256489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12 000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54496" y="2564892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54496" y="2564892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333488" y="2564892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33488" y="2564892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28 000 zł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56032" y="2816352"/>
            <a:ext cx="863193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28163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&amp; CONTENT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56032" y="3017520"/>
            <a:ext cx="2816352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3063240"/>
            <a:ext cx="2395728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Marketing (nano/micro)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017520" y="301752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17520" y="301752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096512" y="301752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96512" y="301752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15 000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175504" y="301752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75504" y="301752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15 000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254496" y="301752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54496" y="301752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13 000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333488" y="3017520"/>
            <a:ext cx="109728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33488" y="3017520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48 000 zł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3268980"/>
            <a:ext cx="2816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" y="3305556"/>
            <a:ext cx="658368" cy="182880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330555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POPRAWIONO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969264" y="3314700"/>
            <a:ext cx="1773936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Obsługa SM (3 000 zł/mies. × 9)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017520" y="326898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17520" y="326898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096512" y="326898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96512" y="326898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175504" y="326898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75504" y="326898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254496" y="326898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54496" y="326898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9000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333488" y="326898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33488" y="3268980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27 000 zł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6032" y="3520440"/>
            <a:ext cx="2816352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7472" y="3566160"/>
            <a:ext cx="2395728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Kreacje graficzne (feed/stories/reels)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017520" y="352044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17520" y="352044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096512" y="352044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96512" y="352044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175504" y="352044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75504" y="352044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254496" y="3520440"/>
            <a:ext cx="1060704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54496" y="352044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333488" y="3520440"/>
            <a:ext cx="109728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33488" y="3520440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12 000 zł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56032" y="3771900"/>
            <a:ext cx="2816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47472" y="3817620"/>
            <a:ext cx="2395728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Foto/video produkcja (sesje)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3017520" y="377190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017520" y="377190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096512" y="377190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096512" y="377190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175504" y="377190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175504" y="377190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254496" y="3771900"/>
            <a:ext cx="1060704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254496" y="3771900"/>
            <a:ext cx="106070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7333488" y="377190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333488" y="3771900"/>
            <a:ext cx="10972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12 000 zł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256032" y="521208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POPRAWIONO = wartość skorygowana vs. wersja poprzednia. Szczegółowe uzasadnienie zmian na slajdzie Audit.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ESTYMACJA BUDŻETOWA – TABELA ZBIORCZA (wersja finalna, s. 2/2)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złotówka zaraportowana. Matematycznie zamknięte.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816352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261872"/>
            <a:ext cx="281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90672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0672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1–2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69664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9664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3–4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48656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5–6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27648" y="1261872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261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7–9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06640" y="1261872"/>
            <a:ext cx="1097280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2618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1609344"/>
            <a:ext cx="863193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60934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&amp; TRADE MARKETING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810512"/>
            <a:ext cx="2816352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847088"/>
            <a:ext cx="658368" cy="182880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4708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POPRAWIONO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960120" y="18470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Master – Key Visual (priorytet F1)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17520" y="181051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81051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96512" y="181051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6512" y="181051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75504" y="181051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5504" y="181051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54496" y="181051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181051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33488" y="1810512"/>
            <a:ext cx="1097280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3488" y="181051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 zł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057400"/>
            <a:ext cx="281635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093976"/>
            <a:ext cx="658368" cy="182880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0939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POPRAWIONO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960120" y="209397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 graficzny POS (bez KV)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17520" y="205740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05740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96512" y="205740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96512" y="205740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75504" y="205740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75504" y="205740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54496" y="205740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205740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33488" y="2057400"/>
            <a:ext cx="10972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33488" y="205740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5500 zł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2304288"/>
            <a:ext cx="2816352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2340864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Druk materiałów POS (Żabka top 5)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017520" y="230428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30428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096512" y="230428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230428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75504" y="230428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75504" y="230428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12 000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54496" y="230428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54496" y="230428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333488" y="2304288"/>
            <a:ext cx="1097280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33488" y="230428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16 000 zł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" y="2551176"/>
            <a:ext cx="281635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2587752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Żabka (opłata handlowa)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17520" y="2551176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0" y="255117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096512" y="2551176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96512" y="255117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175504" y="2551176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75504" y="255117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30 000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54496" y="2551176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54496" y="255117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10 000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33488" y="2551176"/>
            <a:ext cx="10972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33488" y="255117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40 000 zł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56032" y="2798064"/>
            <a:ext cx="2816352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2834640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&amp; aktywacje (siłownie)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017520" y="2798064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17520" y="2798064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096512" y="2798064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96512" y="2798064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10 000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175504" y="2798064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75504" y="2798064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254496" y="2798064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54496" y="2798064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333488" y="2798064"/>
            <a:ext cx="1097280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33488" y="279806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26 000 zł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56032" y="3044952"/>
            <a:ext cx="8631936" cy="201168"/>
          </a:xfrm>
          <a:prstGeom prst="rect">
            <a:avLst/>
          </a:prstGeom>
          <a:solidFill>
            <a:srgbClr val="7B5E00"/>
          </a:solidFill>
          <a:ln w="6350">
            <a:solidFill>
              <a:srgbClr val="7B5E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30449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MATERIAŁY HANDLOWE &amp; GRAFICZNE ★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56032" y="3246120"/>
            <a:ext cx="2816352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3282696"/>
            <a:ext cx="457200" cy="182880"/>
          </a:xfrm>
          <a:prstGeom prst="rect">
            <a:avLst/>
          </a:prstGeom>
          <a:solidFill>
            <a:srgbClr val="FFFDE7"/>
          </a:solidFill>
          <a:ln w="6350">
            <a:solidFill>
              <a:srgbClr val="FFFDE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3282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B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960120" y="328269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7B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sprzedażowy (Żabka + B2B)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017520" y="3246120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0" y="32461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096512" y="3246120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96512" y="32461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175504" y="3246120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75504" y="32461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254496" y="3246120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54496" y="32461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333488" y="3246120"/>
            <a:ext cx="1097280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33488" y="324612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zł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56032" y="3493008"/>
            <a:ext cx="2816352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74320" y="3529584"/>
            <a:ext cx="457200" cy="182880"/>
          </a:xfrm>
          <a:prstGeom prst="rect">
            <a:avLst/>
          </a:prstGeom>
          <a:solidFill>
            <a:srgbClr val="FFFDE7"/>
          </a:solidFill>
          <a:ln w="6350">
            <a:solidFill>
              <a:srgbClr val="FFFDE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" y="3529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B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960120" y="352958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7B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Prezentacja inwestorska / pitch deck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017520" y="3493008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0" y="349300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096512" y="3493008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096512" y="349300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5175504" y="3493008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75504" y="349300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254496" y="3493008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54496" y="349300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333488" y="3493008"/>
            <a:ext cx="1097280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333488" y="349300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 zł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56032" y="3739896"/>
            <a:ext cx="2816352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74320" y="3776472"/>
            <a:ext cx="457200" cy="182880"/>
          </a:xfrm>
          <a:prstGeom prst="rect">
            <a:avLst/>
          </a:prstGeom>
          <a:solidFill>
            <a:srgbClr val="FFFDE7"/>
          </a:solidFill>
          <a:ln w="6350">
            <a:solidFill>
              <a:srgbClr val="FFFDE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4320" y="37764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B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960120" y="377647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7B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PDF + one-pager handlowy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017520" y="3739896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017520" y="373989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4096512" y="3739896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096512" y="373989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5175504" y="3739896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175504" y="373989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254496" y="3739896"/>
            <a:ext cx="1060704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254496" y="3739896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333488" y="3739896"/>
            <a:ext cx="1097280" cy="246888"/>
          </a:xfrm>
          <a:prstGeom prst="rect">
            <a:avLst/>
          </a:prstGeom>
          <a:solidFill>
            <a:srgbClr val="FFFDE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333488" y="373989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56032" y="3986784"/>
            <a:ext cx="863193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47472" y="398678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MEDIA &amp; PR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256032" y="4187952"/>
            <a:ext cx="2816352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47472" y="4224528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/ sklep D2C (dev + UX)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3017520" y="418795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017520" y="418795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4096512" y="418795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096512" y="418795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5175504" y="418795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175504" y="418795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6254496" y="4187952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254496" y="4187952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7333488" y="4187952"/>
            <a:ext cx="1097280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333488" y="41879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zł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256032" y="4434840"/>
            <a:ext cx="281635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47472" y="4471416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+ email marketing + CRM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017520" y="443484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017520" y="443484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4096512" y="443484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096512" y="443484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5175504" y="443484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175504" y="443484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254496" y="4434840"/>
            <a:ext cx="10607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254496" y="443484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7333488" y="4434840"/>
            <a:ext cx="10972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333488" y="443484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 zł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256032" y="4681728"/>
            <a:ext cx="2816352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47472" y="4718304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(artykuły, testy, media health)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3017520" y="468172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017520" y="468172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4096512" y="468172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096512" y="468172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5175504" y="468172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175504" y="468172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6254496" y="4681728"/>
            <a:ext cx="1060704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254496" y="4681728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7333488" y="4681728"/>
            <a:ext cx="1097280" cy="24688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333488" y="468172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9000 zł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256032" y="4928616"/>
            <a:ext cx="2816352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47472" y="49286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PODSTAWA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3017520" y="4928616"/>
            <a:ext cx="1060704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017520" y="4928616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56 500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4096512" y="4928616"/>
            <a:ext cx="1060704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096512" y="4928616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84 000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5175504" y="4928616"/>
            <a:ext cx="1060704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5175504" y="4928616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141 000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6254496" y="4928616"/>
            <a:ext cx="1060704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254496" y="4928616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97 000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7333488" y="4928616"/>
            <a:ext cx="109728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333488" y="492861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378 500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256032" y="5166360"/>
            <a:ext cx="2816352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47472" y="51663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REZERWA 5%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3017520" y="5166360"/>
            <a:ext cx="1060704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017520" y="5166360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2800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4096512" y="5166360"/>
            <a:ext cx="1060704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096512" y="5166360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4200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5175504" y="5166360"/>
            <a:ext cx="1060704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175504" y="5166360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7050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6254496" y="5166360"/>
            <a:ext cx="1060704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254496" y="5166360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4850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7333488" y="5166360"/>
            <a:ext cx="1097280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333488" y="51663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18 900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256032" y="5404104"/>
            <a:ext cx="2816352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347472" y="54041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ŁĄCZNIE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3017520" y="5404104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017520" y="5404104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59 300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4096512" y="5404104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096512" y="5404104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88 200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5175504" y="5404104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175504" y="5404104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148 050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6254496" y="5404104"/>
            <a:ext cx="1060704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254496" y="5404104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101 850</a:t>
            </a:r>
            <a:endParaRPr lang="en-US" sz="1000" dirty="0"/>
          </a:p>
        </p:txBody>
      </p:sp>
      <p:sp>
        <p:nvSpPr>
          <p:cNvPr id="198" name="Shape 196"/>
          <p:cNvSpPr/>
          <p:nvPr/>
        </p:nvSpPr>
        <p:spPr>
          <a:xfrm>
            <a:off x="7333488" y="5404104"/>
            <a:ext cx="1097280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333488" y="54041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397 400 zł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07B / SCENARIUSZE BUDŻETOWE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drogi. Jeden cel.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2816352" cy="358444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MINIMALNY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16824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~210 000 zł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2231136"/>
            <a:ext cx="2615184" cy="18288"/>
          </a:xfrm>
          <a:prstGeom prst="rect">
            <a:avLst/>
          </a:prstGeom>
          <a:solidFill>
            <a:srgbClr val="E8E8E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2340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OBEJMUJE: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3192" y="25420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+ Google Ads, SM manager basic, wobbler, sampling lokalny (W-wa + Kr). Bez Żappki, TikTok i materiałów handlowych premium.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3192" y="3145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/ SZANSA: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3192" y="33467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Wolniejszy wzrost świadomości. Dłuższa droga do sell-out Żabka. Listing Żabka przesuwa się do Fazy 4.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39502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GŁÓWNY KPI: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3192" y="41513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 &gt;8%  |  ROAS &gt;3x  |  Żabka Faza 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2816352" cy="358444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BAZOWY 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6824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397 400 zł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310128" y="2231136"/>
            <a:ext cx="2615184" cy="18288"/>
          </a:xfrm>
          <a:prstGeom prst="rect">
            <a:avLst/>
          </a:prstGeom>
          <a:solidFill>
            <a:srgbClr val="44444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340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OBEJMUJE: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Pełny mix: Żappka od Fazy 2, obsługa SM, komplet POS, listing Żabka top 5 miast w Fazie 3, nano + micro influencerzy, materiały handlowe.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3145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/ SZANSA: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37560" y="33467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Optymalna relacja kosztu do efektu. Realistyczne KPI. Budżet na 2–3 rundy A/B testów kreacji.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39502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GŁÓWNY KPI: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37560" y="41513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 &gt;15%  |  ROAS &gt;3,5x  |  Żabka Faza 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44768" y="1298448"/>
            <a:ext cx="2816352" cy="35844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AGRESYWNY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16824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~445 000 zł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6254496" y="2231136"/>
            <a:ext cx="2615184" cy="18288"/>
          </a:xfrm>
          <a:prstGeom prst="rect">
            <a:avLst/>
          </a:prstGeom>
          <a:solidFill>
            <a:srgbClr val="44444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340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OBEJMUJE: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81928" y="25420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Dodatkowy budżet: TikTok Creator Fund +15k, outdoor digital w 3 miastach +20k, szerszy listing Żabka (800+ lokalizacji), display stand.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81928" y="3145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/ SZANSA: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81928" y="33467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Najszybszy czas do świadomości i sell-outu. Ryzyko: presja na operacje i logistykę.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81928" y="39502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GŁÓWNY KPI: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81928" y="41513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 &gt;22%  |  ROAS &gt;4x  |  Żabka Faza 2–3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4992624"/>
            <a:ext cx="8631936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50383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REKOMENDACJA: Start od scenariusza BAZOWEGO (397 400 zł). Po Fazie 2 – ocena sell-out i ROAS. Decyzja: eskalacja do AGRESYWNEGO lub redukcja do MINIMALNEGO. Cel ROI: ROAS min. 3,5x na paid media od Fazy 2. Break-even: 22 000+ puszek/mies. od Fazy 3.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07C / ESTYMACJA BUDŻETOWA – SZCZEGÓŁY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Żappka &amp; Social Media – jak wydajemy te pieniądze.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224528" cy="360273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98448"/>
            <a:ext cx="4224528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44168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ŻAPPKA  |  28 000 ZŁ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to jest?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86537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reklamowa Żabki z 7M+ aktywnych użytkowników. Targetowanie wg historii zakupów, lokalizacji i zachowań.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18541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Formaty: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36829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product (baner przy kategoriach), Push notification (geo-trigger), Kupon rabatowy (-10% / 2+1).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 – 8 000 zł: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87121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Kampania świadomościowa przed launchem na półce. Brand awareness wśród użytkowników top 5 miast.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19125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 – 12 000 zł: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37413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Główna kampania launchu. Push geo-trigger 200m od sklepów Żabka z Volté. Kupon -10%.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 – 8 000 zł: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87705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Retencja + lojalność. Targeting użytkowników którzy już kupili Volté. Reaktywacja i upsell.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419709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437997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 3,5% | Redemption kuponów &gt; 12% | Koszt pozyskania kupującego &lt; 8 zł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4224528" cy="360273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298448"/>
            <a:ext cx="4224528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344168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OBSŁUGA SOCIAL MEDIA  |  27 000 ZŁ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168249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Zakres (SM Manager):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73168" y="186537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zł/mies. × 9 mies. Planowanie, publikacje, community management, stories, komentarze.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3168" y="218541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(priorytet #1):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73168" y="236829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 postów/tydz. Feed estetyczny. Stories codziennie. Reels 2×/tydz.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3168" y="268833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(priorytet #2):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3168" y="287121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filmy/tydz. Native, autentyczny, UGC-style. Duet/Stitch z influencerami.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3168" y="319125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337413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posty/tydz. Retargetowanie TG2 (35–45 lat). Events, artykuły, social proof.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369417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pillary: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387705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Produkt &amp; składniki  2) Styl życia &amp; aktywność  3) Przepisy &amp; pomysły  4) UGC  5) Edukacja clear whey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419709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SM: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3168" y="437997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&gt; 4% na IG | Wzrost followersów +15%/kwartał | UGC min. 50 mat./mies. od Fazy 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4956048"/>
            <a:ext cx="8631936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50017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Łącznie Żappka + SM = 55 000 zł | Korekta SM: wartości fazowe (F1=6k, F2=6k, F3=6k, F4=9k) zamiast miesięcznych (4×3k=12k). Różnica wyjaśniona w sekcji Audit.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07D / ESTYMACJA BUDŻETOWA – POS &amp; MATERIAŁY HANDLOWE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Obsługa graficzna POS &amp; Materiały BTL &amp; Handlowe.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261872"/>
            <a:ext cx="8558784" cy="310896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1673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łącznie: 24 000 zł (projekt: 8 000 | druk: 16 000)  +  Materiały handlowe: 9 500 zł  =  RAZEM grafika BTL/handlowa: 33 500 zł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737360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737360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773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WOBBLER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066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 zł proj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zł druk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4323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A5/A6, jednostronny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+ hasło + 3 filary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Nakład: 2 500 szt. top 5 miast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31089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05456" y="1737360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1737360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773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TALKER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96896" y="2066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zł projekt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zł druk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96896" y="24323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10×15 cm, zawieszka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'NOWOŚĆ / 10g BIAŁKA / ZERO CUKRU'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Nakład: 1 500 szt.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96896" y="31089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18304" y="1737360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1737360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773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/ STAND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zł proj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6 000 zł prod.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9744" y="24323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Kartonowy display podłogowy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dostosowany do Żabka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Nakład: 150–200 szt. (pilotaż)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09744" y="31089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3–4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31152" y="1737360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737360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1773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OPAK. SAMPLING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22592" y="2066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zł proj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3 500 zł druk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22592" y="24323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Torebka/kartonik na próbkę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QR do sklepu D2C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Nakład: 3 000 szt. (siłownie)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022592" y="31089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1–2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92608" y="3401568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3401568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4381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MASTER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3730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zł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09651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dla wszystkich adaptacji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POS, ads, SM, druk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Priorytet: Miesiąc 1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048" y="477316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 ★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05456" y="3401568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05456" y="3401568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96896" y="34381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ŻABKA/B2B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96896" y="3730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zł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(3,5k F1 + 1,5k F3)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96896" y="409651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20–25 slajdów premium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+ EN wersja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Prerequisit: Krok 1 planu Żabka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596896" y="477316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 ★★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18304" y="3401568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18304" y="3401568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34381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INWEST.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9744" y="3730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zł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09744" y="409651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15–18 slajdów (Sequoia format)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TAM/SAM/SOM, traction, plan 12M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Animowany PPTX + PDF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09744" y="477316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 ★★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931152" y="3401568"/>
            <a:ext cx="2084832" cy="15727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31152" y="3401568"/>
            <a:ext cx="208483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34381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PDF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22592" y="3730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zł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(1,5k F1 + 0,5k F3)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22592" y="409651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One-pager A4 + katalog 8 stron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Wersja Żabka-dedykowana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każdym spotkaniu handlowym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022592" y="477316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1–3 ★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KPI &amp; POMIAR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mierzymy sukces. Co tydzień.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298448"/>
            <a:ext cx="4224528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298448"/>
            <a:ext cx="4224528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3624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ŚWIADOMOŚĆ MARKI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2336" y="168249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 (unaided)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167128" y="1682496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&gt;15% w TG po 6 mies.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02336" y="1847088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Badanie ankietowe co kwartał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02336" y="2029968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łącznie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167128" y="20299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&gt;5 000 000 UU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2336" y="2194560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+ TikTok + Google Analytics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02336" y="2377440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Voice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67128" y="23774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&gt;8% w kategorii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2336" y="2542032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Brand24 (monitoring wzmianek)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02336" y="272491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search Volté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67128" y="2724912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+200% MoM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2336" y="2889504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Console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736592" y="1298448"/>
            <a:ext cx="4224528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1298448"/>
            <a:ext cx="4224528" cy="31089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624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68249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(Meta + Google)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611112" y="1682496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&gt;3,5x od Fazy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46320" y="1847088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Business Suite / GA4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11112" y="20299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&lt;45 zł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2194560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Manager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846320" y="2377440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reklamy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11112" y="23774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&gt;2,0%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46320" y="2542032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/ Google Ads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846320" y="272491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 (koszt zakupu)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611112" y="2724912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&lt;28 zł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46320" y="2889504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+ piksel Meta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92608" y="3264408"/>
            <a:ext cx="4224528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3264408"/>
            <a:ext cx="4224528" cy="31089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332841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 &amp; DYSTRYBUCJA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" y="36484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Sell-out Żabka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167128" y="3648456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 szt/sklep/dzień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02336" y="3813048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sell-out kupca Żabki (tyg.)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02336" y="3995928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Żappka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167128" y="399592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&gt;12%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02336" y="4160520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Żappka Ads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02336" y="4343400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 konwersja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167128" y="4343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02336" y="4507992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e-commerce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02336" y="469087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Aktywne lokalizacje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167128" y="4690872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&gt;600 do M6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02336" y="4855464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/ mapa dystrybucji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736592" y="3264408"/>
            <a:ext cx="4224528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36592" y="3264408"/>
            <a:ext cx="4224528" cy="310896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32841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LOJALNOŚĆ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46320" y="36484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influencerów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611112" y="3648456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&gt;5% nano / &gt;2,5% micro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46320" y="3813048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HypeAuditor / raporty influencerów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846320" y="3995928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(treści użytk.)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611112" y="399592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&gt;200/mies. od M4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846320" y="4160520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monitoring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846320" y="4343400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 rate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611112" y="4343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&gt;35% od M7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46320" y="4507992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/ e-commerce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846320" y="469087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11112" y="4690872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&gt;45 po 9 mies.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46320" y="4855464"/>
            <a:ext cx="4005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Ankieta Typeform post-purchase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RYZYKA &amp; MITYGACJE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może pójść nie tak. I co wtedy.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224528" cy="18105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9844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6245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Żabka nie osiąga sell-out min. (&lt;3 szt/sklep/d)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914400" cy="201168"/>
          </a:xfrm>
          <a:prstGeom prst="rect">
            <a:avLst/>
          </a:prstGeom>
          <a:solidFill>
            <a:srgbClr val="FFEBEE"/>
          </a:solidFill>
          <a:ln w="6350">
            <a:solidFill>
              <a:srgbClr val="FFEB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PRAWD: WYSOKIE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353312" y="1700784"/>
            <a:ext cx="80467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70078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WPŁYW: KRYTYCZNY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65760" y="197510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MITYGACJA: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157984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Zwiększenie geo-targetingu Żappka. Dodatkowy sampling. Negocjacja promocji cenowej -20% przez 2 tygodnie. Monitoring co tydzień od Dnia 1.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0016" y="1298448"/>
            <a:ext cx="4224528" cy="18105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29844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36245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 ROAS paid media w Fazie 2 (poniżej 2x)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9744" y="1700784"/>
            <a:ext cx="914400" cy="201168"/>
          </a:xfrm>
          <a:prstGeom prst="rect">
            <a:avLst/>
          </a:prstGeom>
          <a:solidFill>
            <a:srgbClr val="FFF3E0"/>
          </a:solidFill>
          <a:ln w="6350">
            <a:solidFill>
              <a:srgbClr val="FFF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PRAWD: ŚREDNIE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797296" y="1700784"/>
            <a:ext cx="80467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296" y="170078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WPŁYW: WYSOKI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809744" y="197510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MITYGACJA: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09744" y="2157984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6 wariantów kreacji. Przesunięcie budżetu z Meta na Google Search (intent-based). Wstrzymanie TikTok Ads do M4.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1298448"/>
            <a:ext cx="4224528" cy="18105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129844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36245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publikuje content niezgodny z briefem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1700784"/>
            <a:ext cx="914400" cy="201168"/>
          </a:xfrm>
          <a:prstGeom prst="rect">
            <a:avLst/>
          </a:prstGeom>
          <a:solidFill>
            <a:srgbClr val="FFF3E0"/>
          </a:solidFill>
          <a:ln w="6350">
            <a:solidFill>
              <a:srgbClr val="FFF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PRAWD: ŚREDNIE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353312" y="1700784"/>
            <a:ext cx="80467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3312" y="170078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WPŁYW: ŚREDNI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65760" y="197510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MITYGACJA: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2157984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Obowiązkowa akceptacja contentu 48h przed publikacją. Umowa z klauzulą 2 rund poprawek. Brief z listą zakazanych sformułowań.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0016" y="3218688"/>
            <a:ext cx="4224528" cy="18105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0016" y="321868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28269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Zmiana regulacji prawnych dot. suplementów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3621024"/>
            <a:ext cx="914400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E8F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621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PRAWD: NISKIE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797296" y="3621024"/>
            <a:ext cx="80467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7296" y="362102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WPŁYW: WYSOKI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809744" y="389534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MITYGACJA: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9744" y="4078224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Dziennika Ustaw i komunikatów GIS. Prawnik ds. prawa żywnościowego. Wszystkie kreacje przeglądane przed emisją.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3218688"/>
            <a:ext cx="4224528" cy="18105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321868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8269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Wzrost ceny izolatu białka – presja na marżę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621024"/>
            <a:ext cx="914400" cy="201168"/>
          </a:xfrm>
          <a:prstGeom prst="rect">
            <a:avLst/>
          </a:prstGeom>
          <a:solidFill>
            <a:srgbClr val="FFF3E0"/>
          </a:solidFill>
          <a:ln w="6350">
            <a:solidFill>
              <a:srgbClr val="FFF3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621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PRAWD: ŚREDNIE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1353312" y="3621024"/>
            <a:ext cx="80467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53312" y="362102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WPŁYW: ŚREDNI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65760" y="389534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MITYGACJA: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65760" y="4078224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 6-miesięczny z dostawcą z UE po stałej cenie. Rezerwa budżetowa 5% jako bufor operacyjny.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0016" y="3218688"/>
            <a:ext cx="4224528" cy="18105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0016" y="3218688"/>
            <a:ext cx="4224528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28269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Słaba widoczność organiczna IG / TikTok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09744" y="3621024"/>
            <a:ext cx="914400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E8F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3621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PRAWD: NISKIE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797296" y="3621024"/>
            <a:ext cx="80467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97296" y="362102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WPŁYW: ŚREDNI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809744" y="389534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MITYGACJA: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809744" y="4078224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4 posty/tydz. + daily stories. Boost najlepszych postów organicznych (2 000 zł/mies.). Współpraca z UGC creators.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robimy w następnych 30 dniach.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298448"/>
            <a:ext cx="2029968" cy="36393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298448"/>
            <a:ext cx="2029968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35024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TYDZ.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Decyzje strategiczne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1883664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Zatwierdzenie budżetu i scenariusza (Min/Bazowy/Agresywny)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 agencji / freelancerów: SM manager, grafik, video producent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Zamówienie Key Visual Master i uruchomienie decku sprzedażowego Żabka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Podpisanie umów z @pilates.z.magda i @silownia_lifestyle (Tier B barter)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9736" y="1298448"/>
            <a:ext cx="2029968" cy="36393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9736" y="1298448"/>
            <a:ext cx="2029968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1335024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TYDZ.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51176" y="15087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techniczny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51176" y="1755648"/>
            <a:ext cx="1883664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Piksel Meta + Google Tag Manager na landing page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GA4 (e-commerce tracking, zdarzenia, konwersje)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konta Meta Ads i Google Ads (struktura kampanii, grupy reklam)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Rejestracja w Żappka Ads i złożenie wniosku o kampanię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298448"/>
            <a:ext cx="2029968" cy="36393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298448"/>
            <a:ext cx="2029968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335024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TYDZ. 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18304" y="15087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Kreacje i produkcja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18304" y="1755648"/>
            <a:ext cx="1883664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Sesja foto i video produktowa (KV + 3 formaty reklam)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Produkcja 6 wariantów kreacji A/B (reel 6 sek., stories, banner)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dla influencerów Tier B + wysyłka produktu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 woblera + shelf talkera (druk przed M5)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93992" y="1298448"/>
            <a:ext cx="2029968" cy="36393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298448"/>
            <a:ext cx="2029968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1335024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TYDZ. 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85432" y="15087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launch i testy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85432" y="1755648"/>
            <a:ext cx="1883664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Uruchomienie Meta Ads (broad awareness, budżet testowy 5 000 zł)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Pierwsza publikacja influencerska (@pilates.z.magda)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7 dni: CTR, CPM, ER – decyzja o skalowaniu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z kupcem Żabki – początek negocjacji listingowych (Krok 1)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" y="5010912"/>
            <a:ext cx="8558784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566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kampanii = Tydz. 5  |  Checkpoint KPI = koniec Fazy 1 (M2)  |  Raport kwartalny co 3 miesiące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DYSTRYBUCJA ŻABKA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miast – plan wejścia.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298448"/>
            <a:ext cx="2798064" cy="193852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298448"/>
            <a:ext cx="2798064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5331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WARSZAWA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70078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" y="18928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Najwyższe stężenie TG2 (Urban Achievers). Hub korporacyjny. Najwyższy potencjał on-the-go.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24140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Strefy: Mokotów, Śródmieście, Wola, Żoliborz, Praga Północ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27249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250–300 lokalizacji  |  Faza 3 (Mies. 5)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18688" y="1298448"/>
            <a:ext cx="2798064" cy="193852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298448"/>
            <a:ext cx="2798064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35331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KRAKÓW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0078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10128" y="18928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Duży rynek studencki + segment aktywnych. Silna społeczność fitness.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0128" y="24140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Strefy: Stare Miasto, Kazimierz, Krowodrza, Nowa Huta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0128" y="27249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100–130 lokalizacji  |  Faza 3 (Mies. 5)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44768" y="1298448"/>
            <a:ext cx="2798064" cy="193852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298448"/>
            <a:ext cx="2798064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35331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WROCŁAW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70078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36208" y="18928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Dynamiczny rynek korporacyjny. Silna kultura biegania i sportu amatorskiego.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36208" y="24140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Strefy: Śródmieście, Krzyki, Fabryczna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36208" y="27249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90–110 lokalizacji  |  Faza 3 (Mies. 6)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2608" y="3383280"/>
            <a:ext cx="4224528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3383280"/>
            <a:ext cx="4224528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438144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GDAŃSK / TRÓJMIASTO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78561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4048" y="3977640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Wysoki indeks zdrowotny konsumentów. Kultura outdooru i aktywności nad morzem.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370832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Strefy: Wrzeszcz, Oliwa, Gdynia Śródmieście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4048" y="4681728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 lokalizacji  |  Faza 3 (Mies. 6)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81728" y="3383280"/>
            <a:ext cx="4224528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3383280"/>
            <a:ext cx="4224528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438144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POZNAŃ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378561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#5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73168" y="3977640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Prężny rynek B2B i studencki. Targi i eventy biznesowe sprzyjają on-the-go nutrition.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4370832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Strefy: Środka, Jeżyce, Grunwald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73168" y="4681728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 lokalizacji  |  Faza 4 (Mies. 7)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2608" y="5138928"/>
            <a:ext cx="855878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517550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ŁĄCZNIE: 590–730 lokalizacji  |  Listing: ~40 000 zł  |  Żappka geo-targeting: 28 000 zł  |  POS (druk): 16 000 zł  |  Cel sell-out: 3 szt./sklep/dzień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11B / DYSTRYBUCJA ŻABKA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wejścia krok po kroku.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242816" cy="177393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98448"/>
            <a:ext cx="4242816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62456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1  |  Mies.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Przygotowanie oferty handlowej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sprzedażowy dla kupca Żabki (prerequisit – gotowy w Tydz. 1)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Certyfikaty: suplement diety, GS1 (EAN), karta produktu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 Key Visual + pierwsza wersja materiałów POS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Ustalenie MOQ i warunków logistycznych (EDI, VMI)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18304" y="1298448"/>
            <a:ext cx="4242816" cy="177393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8304" y="1298448"/>
            <a:ext cx="4242816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362456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2  |  Mies. 3–4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28032" y="17190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Negocjacje z centralą Żabki + Żappka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28032" y="1993392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Spotkanie z kupcem kategorii napoje/suplementy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Negocjacja opłaty listingowej (est. 15–25k/rynek)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Uruchomienie kampanii Żappka (świadomość przed launchem)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Zatwierdzenie planogramów i lokalizacji w lodówce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3200400"/>
            <a:ext cx="4242816" cy="177393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200400"/>
            <a:ext cx="4242816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64408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3  |  Mies. 5–6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621024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Pilotaż – Warszawa + Kraków + Wrocław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95344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 350–450 lokalizacjach (okolice siłowni – priorytet)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na półkach: wobbler + shelf talker + display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Żappka geo-trigger 200m od sklepów z Volté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sell-out tygodniowy (min. 3 szt./sklep/dzień)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18304" y="3200400"/>
            <a:ext cx="4242816" cy="177393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8304" y="3200400"/>
            <a:ext cx="4242816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264408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4  |  Mies. 7–9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3621024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Ekspansja – Gdańsk + Poznań + ocena ROI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895344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Wejście w Trójmieście i Poznaniu (150–200 lokalizacji)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sell-out – decyzja o rozszerzeniu SKU / nowe smaki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Negocjacja promocji w Żabce (np. 2+1 lub -20% tydzień)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ROI, plan ogólnopolski na kolejny rok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5138928"/>
            <a:ext cx="8631936" cy="292608"/>
          </a:xfrm>
          <a:prstGeom prst="rect">
            <a:avLst/>
          </a:prstGeom>
          <a:solidFill>
            <a:srgbClr val="FFEBEE"/>
          </a:solidFill>
          <a:ln w="6350">
            <a:solidFill>
              <a:srgbClr val="FFE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5138928"/>
            <a:ext cx="36576" cy="292608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5184648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ryzyko: Żabka wymaga sell-out min. ~3 szt./sklep/dzień żeby utrzymać listing. Żappka geo-targeting + digital ads MUSZĄ poprzedzać wejście na półkę o minimum 3–4 tygodnie.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ANALIZA KONKURENCJI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 gra na tym samym rynku. I jak Volté wygrywa.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103120" cy="39502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61872"/>
            <a:ext cx="2103120" cy="38404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FREEWAY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PROTEIN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 – własna marka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78992" y="1719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6,99 zł / 500 ml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Białko/por.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78992" y="202082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g (500 ml)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322576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Słodzik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232257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Sukraloza + Ace-K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62432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78992" y="26243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 PL (~800 sklepów)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192024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MOCNA STRONA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760" y="31821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Najniższa cena rynkowa. Masowy zasięg 800+ sklepów. Zero kampanii digital – 'leży na półce'.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SŁABA STRONA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371246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Sztuczne słodziki. Plastik PET. Brak Mg/Wit.C. Zero SM i influencer mkt. Brak premium wizerunku.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192024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51376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WYGRYWA →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5760" y="43159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Naturalne słodziki, aluminium, Mg+C, aktywny SM. Volté wygrywa WARTOŚCIĄ, nie ceną.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05456" y="1261872"/>
            <a:ext cx="2103120" cy="39502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05456" y="1261872"/>
            <a:ext cx="2103120" cy="38404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128016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MYPROTEIN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PROTEIN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96896" y="1481328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 globalna (THG UK)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96896" y="1719072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10128" y="1719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~16,50 zł / 500 ml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 6-paku online)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96896" y="2020824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Białko/por.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10128" y="202082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g (500 ml)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96896" y="2322576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Słodzik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10128" y="232257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Sukraloza / Ace-K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96896" y="262432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310128" y="26243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Własny e-com, Amazon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96896" y="2962656"/>
            <a:ext cx="192024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3017520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MOCNA STRONA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96896" y="31821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Silna globalna marka. Zaufanie treningowców. Szeroki wybór smaków (8+). Aktywny influencer mkt.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596896" y="3547872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SŁABA STRONA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96896" y="371246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dystrybucji offline w Polsce. Sztuczne słodziki. Długi czas dostawy. Postrzegana jako 'angielska'.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596896" y="4096512"/>
            <a:ext cx="192024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4151376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WYGRYWA →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596896" y="43159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Dostępny od ręki w Żabce. Polski produkt. Naturalny skład. Lokalność jako przewaga kulturowa.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36592" y="1261872"/>
            <a:ext cx="2103120" cy="39502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6592" y="1261872"/>
            <a:ext cx="2103120" cy="38404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128016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BRAINMAX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WHEY LEMON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28032" y="1481328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 czeska (BrainMax CZ)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28032" y="1719072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41264" y="1719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~12,05 zł / 330 ml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28032" y="2020824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Białko/por.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541264" y="202082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g (330 ml)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28032" y="2322576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Słodzik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541264" y="232257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Stewia (naturalna)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28032" y="262432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541264" y="26243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health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28032" y="2962656"/>
            <a:ext cx="192024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3017520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MOCNA STRONA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28032" y="31821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Naturalna stewia. Białko z UE. Puszka 330 ml. Zbliżony profil produktowy do Volté.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828032" y="3547872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SŁABA STRONA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28032" y="371246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dystrybucji offline PL. Status żywności funkcjonalnej (inna stawka VAT). Zero SM PL.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828032" y="4096512"/>
            <a:ext cx="192024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4151376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WYGRYWA 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828032" y="43159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Lekki gaz, Mg+Wit.C, PL SM+influencerzy, dystrybucja Żabka. Volté = BrainMax z dystrybucją.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967728" y="1261872"/>
            <a:ext cx="2103120" cy="395020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1261872"/>
            <a:ext cx="2103120" cy="38404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59168" y="128016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EATYX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059168" y="1481328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Polska marka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059168" y="1719072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772400" y="171907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 zł / 250 ml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059168" y="2020824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Białko/por.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772400" y="202082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g (250 ml)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059168" y="2322576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Słodzik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772400" y="232257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Nieznane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059168" y="262432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772400" y="262432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Siłownie PL, e-com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059168" y="2962656"/>
            <a:ext cx="192024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59168" y="3017520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MOCNA STRONA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059168" y="31821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 w siłowniach PL. Znana w środowisku treningowym. Status suplementu jak Volté.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059168" y="3547872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SŁABA STRONA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7059168" y="371246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Mała butelka (250 ml). Słaby branding i SM. Brak wpływu na TG1 i TG3. Brak Mg/Wit.C.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7059168" y="4096512"/>
            <a:ext cx="192024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59168" y="4151376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WYGRYWA →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059168" y="43159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Puszka 330 ml, clean label, lekki gaz, profesjonalny SM+influencer plan. Volté wygrywa wizerunkiem.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74320" y="5248656"/>
            <a:ext cx="8631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Źródła: etykiety produktów, strony marek (Q1 2025), Ceneo/Allegro, wizyty tajemniczego klienta Lidl/siłownie WAW/KRK/WRO, GIS/GUS.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12B / ANALIZA KONKURENCJI – MAPA POZYCJONOWANIA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jesteśmy na rynku. Gdzie chcemy być.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4572000" cy="38587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42032" y="1335024"/>
            <a:ext cx="0" cy="3712464"/>
          </a:xfrm>
          <a:prstGeom prst="line">
            <a:avLst/>
          </a:prstGeom>
          <a:noFill/>
          <a:ln w="7620">
            <a:solidFill>
              <a:srgbClr val="CCCCC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29184" y="3172968"/>
            <a:ext cx="4425696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0" y="12984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86000" y="49926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SZTUCZNY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30175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NISKA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06240" y="30175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&amp; Affordable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0" y="13898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&amp; Premium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&amp; Cheap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0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&amp; Expensive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566160" y="1691640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(target)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90672" y="2267712"/>
            <a:ext cx="219456" cy="219456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BrainMax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13632" y="3639312"/>
            <a:ext cx="219456" cy="219456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3675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MyProtein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87552" y="3867912"/>
            <a:ext cx="219456" cy="219456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3904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Freeway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(Lidl)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53312" y="3136392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27632" y="3172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Eatyx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64992" y="1856232"/>
            <a:ext cx="219456" cy="21945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(start)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56048" y="1261872"/>
            <a:ext cx="14630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261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CECHA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37376" y="1261872"/>
            <a:ext cx="768096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1261872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223760" y="1261872"/>
            <a:ext cx="76809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261872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BrainMax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10144" y="1261872"/>
            <a:ext cx="76809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261872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MyProtein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796528" y="1261872"/>
            <a:ext cx="76809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96528" y="1261872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Freeway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582912" y="1261872"/>
            <a:ext cx="76809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82912" y="1261872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Eatyx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956048" y="1572768"/>
            <a:ext cx="14630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1572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Naturalne słodziki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37376" y="1572768"/>
            <a:ext cx="768096" cy="256032"/>
          </a:xfrm>
          <a:prstGeom prst="rect">
            <a:avLst/>
          </a:prstGeom>
          <a:solidFill>
            <a:srgbClr val="EEEEEE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1572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223760" y="157276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1572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010144" y="157276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10144" y="1572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796528" y="157276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96528" y="1572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582912" y="157276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82912" y="1572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956048" y="184708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1847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Magnez + Wit. C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437376" y="1847088"/>
            <a:ext cx="768096" cy="256032"/>
          </a:xfrm>
          <a:prstGeom prst="rect">
            <a:avLst/>
          </a:prstGeom>
          <a:solidFill>
            <a:srgbClr val="E0E0E0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7376" y="18470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223760" y="184708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18470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010144" y="184708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10144" y="18470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796528" y="184708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96528" y="18470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582912" y="184708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82912" y="18470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956048" y="2121408"/>
            <a:ext cx="14630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56048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Lekki gaz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437376" y="2121408"/>
            <a:ext cx="768096" cy="256032"/>
          </a:xfrm>
          <a:prstGeom prst="rect">
            <a:avLst/>
          </a:prstGeom>
          <a:solidFill>
            <a:srgbClr val="EEEEEE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37376" y="21214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223760" y="212140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23760" y="21214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010144" y="212140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10144" y="21214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796528" y="212140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796528" y="21214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582912" y="212140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82912" y="21214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956048" y="239572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56048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 Żabka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437376" y="2395728"/>
            <a:ext cx="768096" cy="256032"/>
          </a:xfrm>
          <a:prstGeom prst="rect">
            <a:avLst/>
          </a:prstGeom>
          <a:solidFill>
            <a:srgbClr val="E0E0E0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37376" y="23957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F3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223760" y="239572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23760" y="23957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010144" y="239572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10144" y="23957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8796528" y="239572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796528" y="23957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582912" y="239572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582912" y="23957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956048" y="2670048"/>
            <a:ext cx="14630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56048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 offline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437376" y="2670048"/>
            <a:ext cx="768096" cy="256032"/>
          </a:xfrm>
          <a:prstGeom prst="rect">
            <a:avLst/>
          </a:prstGeom>
          <a:solidFill>
            <a:srgbClr val="EEEEEE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7376" y="26700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Siłownie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223760" y="267004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23760" y="26700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010144" y="267004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10144" y="26700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796528" y="267004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796528" y="26700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582912" y="267004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582912" y="26700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Siłownie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956048" y="294436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56048" y="2944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Opakowanie aluminium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437376" y="2944368"/>
            <a:ext cx="768096" cy="256032"/>
          </a:xfrm>
          <a:prstGeom prst="rect">
            <a:avLst/>
          </a:prstGeom>
          <a:solidFill>
            <a:srgbClr val="E0E0E0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37376" y="29443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7223760" y="294436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223760" y="29443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8010144" y="294436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010144" y="29443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8796528" y="294436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796528" y="29443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9582912" y="294436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582912" y="29443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956048" y="3218688"/>
            <a:ext cx="14630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56048" y="3218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Aktywny SM+influencer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437376" y="3218688"/>
            <a:ext cx="768096" cy="256032"/>
          </a:xfrm>
          <a:prstGeom prst="rect">
            <a:avLst/>
          </a:prstGeom>
          <a:solidFill>
            <a:srgbClr val="EEEEEE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37376" y="32186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7223760" y="321868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23760" y="32186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8010144" y="321868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10144" y="32186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8796528" y="321868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796528" y="32186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9582912" y="321868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582912" y="321868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4956048" y="349300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956048" y="34930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 z UE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6437376" y="3493008"/>
            <a:ext cx="768096" cy="256032"/>
          </a:xfrm>
          <a:prstGeom prst="rect">
            <a:avLst/>
          </a:prstGeom>
          <a:solidFill>
            <a:srgbClr val="E0E0E0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437376" y="34930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7223760" y="349300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223760" y="34930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8010144" y="349300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010144" y="34930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8796528" y="349300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796528" y="34930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9582912" y="349300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582912" y="34930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4956048" y="3767328"/>
            <a:ext cx="14630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956048" y="3767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PL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6437376" y="3767328"/>
            <a:ext cx="768096" cy="256032"/>
          </a:xfrm>
          <a:prstGeom prst="rect">
            <a:avLst/>
          </a:prstGeom>
          <a:solidFill>
            <a:srgbClr val="EEEEEE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437376" y="37673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7223760" y="376732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223760" y="37673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8010144" y="376732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010144" y="37673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8796528" y="376732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796528" y="37673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9582912" y="3767328"/>
            <a:ext cx="76809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582912" y="37673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4956048" y="404164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956048" y="40416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330ml ekwiwal.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6437376" y="4041648"/>
            <a:ext cx="768096" cy="256032"/>
          </a:xfrm>
          <a:prstGeom prst="rect">
            <a:avLst/>
          </a:prstGeom>
          <a:solidFill>
            <a:srgbClr val="E0E0E0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437376" y="40416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 zł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7223760" y="404164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223760" y="40416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zł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8010144" y="404164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010144" y="40416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zł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8796528" y="404164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796528" y="40416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~4,60 zł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9582912" y="4041648"/>
            <a:ext cx="7680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582912" y="40416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zł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4956048" y="4974336"/>
            <a:ext cx="4005072" cy="310896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29200" y="5020056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Volté: jedyny produkt łączący naturalny skład + Mg+C + gaz + Żabka + SM PL. Brak bezpośredniego substytutu w tej kombinacji cech.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68680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502920" y="2487168"/>
            <a:ext cx="4389120" cy="3657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63347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Lekkość wody, siła białka.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318211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397 400 ZŁ  |  9 MIESIĘCY  |  5 MIAST  |  4 KAMPANIE  |  16 INFLUENCERÓW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4133088"/>
            <a:ext cx="2633472" cy="11430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24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397 400 zł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 bazowy (finalny)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4133088"/>
            <a:ext cx="2633472" cy="11430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224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Horyzont kampanii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4133088"/>
            <a:ext cx="2633472" cy="11430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224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 cel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5840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502920" y="2651760"/>
            <a:ext cx="4754880" cy="3657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816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Lekkość wody, siła białka.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  /  NATURALNY SKŁAD  /  ZERO CUKRU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Dziękujemy.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VOLTE – Strategia Marketingowa &amp; Plan 2026</dc:title>
  <dc:subject>PptxGenJS Presentation</dc:subject>
  <dc:creator>PptxGenJS</dc:creator>
  <cp:lastModifiedBy>PptxGenJS</cp:lastModifiedBy>
  <cp:revision>1</cp:revision>
  <dcterms:created xsi:type="dcterms:W3CDTF">2026-04-24T23:41:42Z</dcterms:created>
  <dcterms:modified xsi:type="dcterms:W3CDTF">2026-04-24T23:41:42Z</dcterms:modified>
</cp:coreProperties>
</file>